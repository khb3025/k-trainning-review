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B553E57-657F-4B9F-A45F-320CF4C13819}">
          <p14:sldIdLst>
            <p14:sldId id="256"/>
            <p14:sldId id="258"/>
          </p14:sldIdLst>
        </p14:section>
        <p14:section name="10강" id="{0082445D-E37D-40DE-A05B-E3CAECD4C588}">
          <p14:sldIdLst>
            <p14:sldId id="259"/>
          </p14:sldIdLst>
        </p14:section>
        <p14:section name="11강" id="{6CA10C6A-647C-461E-9B84-06AA498C5AB5}">
          <p14:sldIdLst>
            <p14:sldId id="260"/>
            <p14:sldId id="261"/>
          </p14:sldIdLst>
        </p14:section>
        <p14:section name="18강" id="{6D469113-157B-4DF4-8AC5-28F9BBD8FB61}">
          <p14:sldIdLst>
            <p14:sldId id="263"/>
            <p14:sldId id="264"/>
          </p14:sldIdLst>
        </p14:section>
        <p14:section name="19강" id="{0E3D8DED-BF6A-4CE4-BEB4-95AB45734BC3}">
          <p14:sldIdLst>
            <p14:sldId id="265"/>
            <p14:sldId id="266"/>
          </p14:sldIdLst>
        </p14:section>
        <p14:section name="27강" id="{D67B78BF-793B-4820-9327-E5A344C8DC66}">
          <p14:sldIdLst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64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99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7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45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27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512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66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078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400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19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57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5A9ABC4-7DD7-4B61-905D-35062A679B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A1E7CE-4980-4774-ADD8-D6474EB7678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21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CBFCD-7060-C5E1-6F71-D18020F53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Eleastic search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3FFA7C-CF2E-FEE8-A026-B7DC1A311B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329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54AC4-807F-C79F-E8B3-3D43C78A2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 Search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2E9C5-489D-2808-1C20-0A3B97857056}"/>
              </a:ext>
            </a:extLst>
          </p:cNvPr>
          <p:cNvSpPr txBox="1"/>
          <p:nvPr/>
        </p:nvSpPr>
        <p:spPr>
          <a:xfrm>
            <a:off x="1106905" y="1944303"/>
            <a:ext cx="1005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검색 속도가 빠르다</a:t>
            </a:r>
            <a:r>
              <a:rPr lang="en-US" altLang="ko-KR"/>
              <a:t>.(</a:t>
            </a:r>
            <a:r>
              <a:rPr lang="ko-KR" altLang="en-US"/>
              <a:t>대용량 검색</a:t>
            </a:r>
            <a:r>
              <a:rPr lang="en-US" altLang="ko-KR"/>
              <a:t>)</a:t>
            </a:r>
          </a:p>
          <a:p>
            <a:pPr marL="342900" indent="-342900">
              <a:buAutoNum type="arabicPeriod"/>
            </a:pPr>
            <a:r>
              <a:rPr lang="ko-KR" altLang="en-US"/>
              <a:t>로깅</a:t>
            </a:r>
            <a:endParaRPr lang="en-US" altLang="ko-KR"/>
          </a:p>
          <a:p>
            <a:pPr marL="342900" indent="-342900"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364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F42D4-BAD3-AF7A-60D4-9DF3F659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</a:t>
            </a:r>
            <a:r>
              <a:rPr lang="ko-KR" altLang="en-US"/>
              <a:t>글</a:t>
            </a:r>
            <a:r>
              <a:rPr lang="en-US" altLang="ko-KR"/>
              <a:t>(POST) </a:t>
            </a:r>
            <a:r>
              <a:rPr lang="ko-KR" altLang="en-US"/>
              <a:t>인덱스</a:t>
            </a:r>
            <a:r>
              <a:rPr lang="en-US" altLang="ko-KR"/>
              <a:t>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24D38-D4CD-1260-F5A0-8BB8FDB8016D}"/>
              </a:ext>
            </a:extLst>
          </p:cNvPr>
          <p:cNvSpPr txBox="1"/>
          <p:nvPr/>
        </p:nvSpPr>
        <p:spPr>
          <a:xfrm>
            <a:off x="555859" y="1870802"/>
            <a:ext cx="3246120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@Document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(indexName = 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"post"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Post {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@Id</a:t>
            </a:r>
            <a:b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String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id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@Field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(type= FieldType.</a:t>
            </a:r>
            <a: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  <a:t>Text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String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title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@Field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(type= FieldType.</a:t>
            </a:r>
            <a: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  <a:t>Text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String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content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@Field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(type= FieldType.</a:t>
            </a:r>
            <a: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  <a:t>Keyword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String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author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@Field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(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        type= FieldType.</a:t>
            </a:r>
            <a: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  <a:t>Date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        format = DateFormat.</a:t>
            </a:r>
            <a: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  <a:t>date_time</a:t>
            </a:r>
            <a:b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</a:br>
            <a: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OffsetDateTime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createdAt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@Field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(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        type= FieldType.</a:t>
            </a:r>
            <a: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  <a:t>Date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        format = DateFormat.</a:t>
            </a:r>
            <a: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  <a:t>date_time</a:t>
            </a:r>
            <a:b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</a:br>
            <a:r>
              <a:rPr lang="en-US" altLang="ko-KR" sz="1200" i="1">
                <a:solidFill>
                  <a:srgbClr val="C77DBB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OffsetDateTime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lastModifiedAt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DD833-39BF-31C9-B5E1-1226AC97A820}"/>
              </a:ext>
            </a:extLst>
          </p:cNvPr>
          <p:cNvSpPr txBox="1"/>
          <p:nvPr/>
        </p:nvSpPr>
        <p:spPr>
          <a:xfrm>
            <a:off x="3898232" y="1870802"/>
            <a:ext cx="756545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하나의 상품 </a:t>
            </a:r>
            <a:r>
              <a:rPr lang="en-US" altLang="ko-KR" sz="1200"/>
              <a:t>/ JPA</a:t>
            </a:r>
            <a:r>
              <a:rPr lang="ko-KR" altLang="en-US" sz="1200"/>
              <a:t>로 따지면 하나의 객체 정보를  작성한다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 </a:t>
            </a:r>
            <a:endParaRPr lang="en-US" altLang="ko-KR" sz="1200"/>
          </a:p>
          <a:p>
            <a:endParaRPr lang="en-US" altLang="ko-KR" sz="1100"/>
          </a:p>
          <a:p>
            <a:r>
              <a:rPr lang="en-US" altLang="ko-KR" sz="1100"/>
              <a:t>@Id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식별자 </a:t>
            </a:r>
            <a:r>
              <a:rPr lang="en-US" altLang="ko-KR" sz="1100">
                <a:sym typeface="Wingdings" panose="05000000000000000000" pitchFamily="2" charset="2"/>
              </a:rPr>
              <a:t>(</a:t>
            </a:r>
            <a:r>
              <a:rPr lang="en-US" altLang="ko-KR" sz="1100"/>
              <a:t>Elasticsearch</a:t>
            </a:r>
            <a:r>
              <a:rPr lang="ko-KR" altLang="en-US" sz="1100"/>
              <a:t>에서는 </a:t>
            </a:r>
            <a:r>
              <a:rPr lang="en-US" altLang="ko-KR" sz="1100"/>
              <a:t>ID</a:t>
            </a:r>
            <a:r>
              <a:rPr lang="ko-KR" altLang="en-US" sz="1100"/>
              <a:t>가 보통 </a:t>
            </a:r>
            <a:r>
              <a:rPr lang="en-US" altLang="ko-KR" sz="1100"/>
              <a:t>String</a:t>
            </a:r>
            <a:r>
              <a:rPr lang="ko-KR" altLang="en-US" sz="1100"/>
              <a:t> 타입입니다</a:t>
            </a:r>
            <a:r>
              <a:rPr lang="en-US" altLang="ko-KR" sz="1100"/>
              <a:t>. </a:t>
            </a:r>
            <a:r>
              <a:rPr lang="ko-KR" altLang="en-US" sz="1100"/>
              <a:t>자동 생성 시 </a:t>
            </a:r>
            <a:r>
              <a:rPr lang="en-US" altLang="ko-KR" sz="1100"/>
              <a:t>UUID </a:t>
            </a:r>
            <a:r>
              <a:rPr lang="ko-KR" altLang="en-US" sz="1100"/>
              <a:t>형태의 문자열이 할당됩니다</a:t>
            </a:r>
            <a:r>
              <a:rPr lang="en-US" altLang="ko-KR" sz="1100"/>
              <a:t>.)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200"/>
              <a:t>@Field(type=FieldType.Text)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유연한 검색 타입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@Field(type=Keyword)  </a:t>
            </a:r>
            <a:r>
              <a:rPr lang="ko-KR" altLang="en-US" sz="1200">
                <a:sym typeface="Wingdings" panose="05000000000000000000" pitchFamily="2" charset="2"/>
              </a:rPr>
              <a:t>정확한 검색 타입</a:t>
            </a:r>
            <a:endParaRPr lang="en-US" altLang="ko-KR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046371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CCAC22-EA74-7219-98E4-5561A6E3D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초기 데이터 생성</a:t>
            </a:r>
            <a:r>
              <a:rPr lang="en-US" altLang="ko-KR"/>
              <a:t>-1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206A3-B278-73FB-974D-B541F7488A0E}"/>
              </a:ext>
            </a:extLst>
          </p:cNvPr>
          <p:cNvSpPr txBox="1"/>
          <p:nvPr/>
        </p:nvSpPr>
        <p:spPr>
          <a:xfrm>
            <a:off x="1222408" y="1857676"/>
            <a:ext cx="45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생성을 위한 서비스 정의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F97371-BB22-41A9-8972-811900D24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47324"/>
            <a:ext cx="5353797" cy="37247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FFCC039-7226-81A1-1337-02F022D15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765" y="2347324"/>
            <a:ext cx="4572638" cy="39820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4B14A7-52F0-BF82-4463-53491264DA02}"/>
              </a:ext>
            </a:extLst>
          </p:cNvPr>
          <p:cNvSpPr txBox="1"/>
          <p:nvPr/>
        </p:nvSpPr>
        <p:spPr>
          <a:xfrm>
            <a:off x="6889765" y="1857676"/>
            <a:ext cx="45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생성자와 </a:t>
            </a:r>
            <a:r>
              <a:rPr lang="en-US" altLang="ko-KR"/>
              <a:t>ToString() </a:t>
            </a:r>
            <a:r>
              <a:rPr lang="ko-KR" altLang="en-US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174690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BF704-9EC7-9E0C-1E24-5A493C43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초기 데이터 생성</a:t>
            </a:r>
            <a:r>
              <a:rPr lang="en-US" altLang="ko-KR"/>
              <a:t>-2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B51AB2-A996-86F2-B0F5-8A003249F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94210"/>
            <a:ext cx="6092792" cy="483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33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467C5-90CF-C5CD-55B3-B7FE0AEE2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Auditing </a:t>
            </a:r>
            <a:r>
              <a:rPr lang="ko-KR" altLang="en-US"/>
              <a:t>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38B513-8870-5D4E-05BA-8B33767AD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9" y="1893593"/>
            <a:ext cx="2314898" cy="18195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4596A0-D0B6-30ED-6716-3747FF6A5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048" y="1900989"/>
            <a:ext cx="4286848" cy="1552792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49A91AEE-D478-B5EB-7825-8D46E2E4964F}"/>
              </a:ext>
            </a:extLst>
          </p:cNvPr>
          <p:cNvGrpSpPr/>
          <p:nvPr/>
        </p:nvGrpSpPr>
        <p:grpSpPr>
          <a:xfrm>
            <a:off x="2913048" y="3617410"/>
            <a:ext cx="7563906" cy="1924319"/>
            <a:chOff x="2913048" y="3617410"/>
            <a:chExt cx="7563906" cy="192431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26DFB05-0337-1A66-A407-4E025EC24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3048" y="3617410"/>
              <a:ext cx="7563906" cy="1924319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08425CA-117C-0E88-6990-1261E6201380}"/>
                </a:ext>
              </a:extLst>
            </p:cNvPr>
            <p:cNvSpPr/>
            <p:nvPr/>
          </p:nvSpPr>
          <p:spPr>
            <a:xfrm>
              <a:off x="2913048" y="4225491"/>
              <a:ext cx="2428973" cy="2117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49913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7C3FD-429C-6BDB-E2D7-0A62C9FF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새로 생성된 객체인지 파악하기 위한 강제 인터페이스 상속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0D15EB0-C5B0-1DFC-E704-79771BEC8076}"/>
              </a:ext>
            </a:extLst>
          </p:cNvPr>
          <p:cNvGrpSpPr/>
          <p:nvPr/>
        </p:nvGrpSpPr>
        <p:grpSpPr>
          <a:xfrm>
            <a:off x="1097280" y="1799519"/>
            <a:ext cx="3867690" cy="5058481"/>
            <a:chOff x="1097280" y="1799519"/>
            <a:chExt cx="3867690" cy="505848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5B0D81F-28A4-5CFA-83C7-5F845C579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799519"/>
              <a:ext cx="3867690" cy="505848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F497566-661F-6B32-1829-049B6C2C0FE5}"/>
                </a:ext>
              </a:extLst>
            </p:cNvPr>
            <p:cNvSpPr/>
            <p:nvPr/>
          </p:nvSpPr>
          <p:spPr>
            <a:xfrm>
              <a:off x="3378467" y="2165684"/>
              <a:ext cx="1511167" cy="3080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7690E26C-0440-0058-8BAC-325E5447F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864" y="1799519"/>
            <a:ext cx="5563376" cy="9050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016ECB8-1350-78E3-313F-7857D0DB8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149" y="2928388"/>
            <a:ext cx="5906324" cy="280074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30E5A2-9B80-9DE4-4848-366DD261A512}"/>
              </a:ext>
            </a:extLst>
          </p:cNvPr>
          <p:cNvSpPr/>
          <p:nvPr/>
        </p:nvSpPr>
        <p:spPr>
          <a:xfrm>
            <a:off x="5573027" y="3895548"/>
            <a:ext cx="5728446" cy="19373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888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BD753-629F-6C50-0D3F-AE413500B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BaseDocument </a:t>
            </a:r>
            <a:r>
              <a:rPr lang="ko-KR" altLang="en-US"/>
              <a:t>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D1D4F-F586-87AB-F56B-38B10E9D8BE6}"/>
              </a:ext>
            </a:extLst>
          </p:cNvPr>
          <p:cNvSpPr txBox="1"/>
          <p:nvPr/>
        </p:nvSpPr>
        <p:spPr>
          <a:xfrm>
            <a:off x="1097280" y="1867301"/>
            <a:ext cx="10154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서로다른 인덱스에서 자주 사용되는 구조에 대해 추상 </a:t>
            </a:r>
            <a:r>
              <a:rPr lang="en-US" altLang="ko-KR" sz="1200"/>
              <a:t>BaseDocument</a:t>
            </a:r>
            <a:r>
              <a:rPr lang="ko-KR" altLang="en-US" sz="1200"/>
              <a:t>를 작성한다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138FE-AFB0-9DC0-02E8-2D6CD87975A9}"/>
              </a:ext>
            </a:extLst>
          </p:cNvPr>
          <p:cNvSpPr txBox="1"/>
          <p:nvPr/>
        </p:nvSpPr>
        <p:spPr>
          <a:xfrm>
            <a:off x="7091413" y="95989"/>
            <a:ext cx="4815038" cy="65248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@Getter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@ToString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BaseDocument&lt;</a:t>
            </a:r>
            <a:r>
              <a:rPr lang="en-US" altLang="ko-KR" sz="1100">
                <a:solidFill>
                  <a:srgbClr val="16BAAC"/>
                </a:solidFill>
                <a:effectLst/>
                <a:latin typeface="JetBrains Mono"/>
              </a:rPr>
              <a:t>ID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&gt;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implements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Persistable&lt;</a:t>
            </a:r>
            <a:r>
              <a:rPr lang="en-US" altLang="ko-KR" sz="1100">
                <a:solidFill>
                  <a:srgbClr val="16BAAC"/>
                </a:solidFill>
                <a:effectLst/>
                <a:latin typeface="JetBrains Mono"/>
              </a:rPr>
              <a:t>ID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&gt; {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@Id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100">
                <a:solidFill>
                  <a:srgbClr val="16BAAC"/>
                </a:solidFill>
                <a:effectLst/>
                <a:latin typeface="JetBrains Mono"/>
              </a:rPr>
              <a:t>ID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id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@Field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    type = FieldType.</a:t>
            </a: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Date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    format = DateFormat.</a:t>
            </a: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date_time</a:t>
            </a:r>
            <a:b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</a:b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@CreatedDate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OffsetDateTime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createdAt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@Field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    type = FieldType.</a:t>
            </a: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Date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    format = DateFormat.</a:t>
            </a: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date_time</a:t>
            </a:r>
            <a:b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</a:b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@LastModifiedDate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OffsetDateTime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lastModifiedAt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@Override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public boolean </a:t>
            </a:r>
            <a:r>
              <a:rPr lang="en-US" altLang="ko-KR" sz="1100">
                <a:solidFill>
                  <a:srgbClr val="56A8F5"/>
                </a:solidFill>
                <a:effectLst/>
                <a:latin typeface="JetBrains Mono"/>
              </a:rPr>
              <a:t>isNew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() {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id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==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null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|| (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createdAt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==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null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&amp;&amp;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lastModifiedAt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==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null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@Override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public boolean </a:t>
            </a:r>
            <a:r>
              <a:rPr lang="en-US" altLang="ko-KR" sz="1100">
                <a:solidFill>
                  <a:srgbClr val="56A8F5"/>
                </a:solidFill>
                <a:effectLst/>
                <a:latin typeface="JetBrains Mono"/>
              </a:rPr>
              <a:t>equals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(Object o) {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(o ==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null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|| getClass() != o.getClass())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return false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BaseDocument&lt;?&gt; that = (BaseDocument&lt;?&gt;) o;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Objects.</a:t>
            </a:r>
            <a:r>
              <a:rPr lang="en-US" altLang="ko-KR" sz="1100" i="1">
                <a:solidFill>
                  <a:srgbClr val="BCBEC4"/>
                </a:solidFill>
                <a:effectLst/>
                <a:latin typeface="JetBrains Mono"/>
              </a:rPr>
              <a:t>equals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id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, that.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id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@Override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public int </a:t>
            </a:r>
            <a:r>
              <a:rPr lang="en-US" altLang="ko-KR" sz="1100">
                <a:solidFill>
                  <a:srgbClr val="56A8F5"/>
                </a:solidFill>
                <a:effectLst/>
                <a:latin typeface="JetBrains Mono"/>
              </a:rPr>
              <a:t>hashCode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() {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Objects.</a:t>
            </a:r>
            <a:r>
              <a:rPr lang="en-US" altLang="ko-KR" sz="1100" i="1">
                <a:solidFill>
                  <a:srgbClr val="BCBEC4"/>
                </a:solidFill>
                <a:effectLst/>
                <a:latin typeface="JetBrains Mono"/>
              </a:rPr>
              <a:t>hashCode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id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CD1E84-258C-68BF-0CFC-30D66959A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56" y="2274241"/>
            <a:ext cx="2305372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A875A-C6C9-88EF-9773-E621931E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Post</a:t>
            </a:r>
            <a:r>
              <a:rPr lang="ko-KR" altLang="en-US"/>
              <a:t> 수정 </a:t>
            </a:r>
            <a:r>
              <a:rPr lang="en-US" altLang="ko-KR"/>
              <a:t>(BaseDocument </a:t>
            </a:r>
            <a:r>
              <a:rPr lang="ko-KR" altLang="en-US"/>
              <a:t>상속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8AE52-DD16-3363-CDA3-DF33CACBFE21}"/>
              </a:ext>
            </a:extLst>
          </p:cNvPr>
          <p:cNvSpPr txBox="1"/>
          <p:nvPr/>
        </p:nvSpPr>
        <p:spPr>
          <a:xfrm>
            <a:off x="862264" y="2115403"/>
            <a:ext cx="3805989" cy="38164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@Document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(indexName = </a:t>
            </a:r>
            <a:r>
              <a:rPr lang="en-US" altLang="ko-KR" sz="1100">
                <a:solidFill>
                  <a:srgbClr val="6AAB73"/>
                </a:solidFill>
                <a:effectLst/>
                <a:latin typeface="JetBrains Mono"/>
              </a:rPr>
              <a:t>"post"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@Data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@ToString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(callSuper =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@EqualsAndHashCode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(callSuper =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Post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extends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BaseDocument&lt;String&gt; {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@Id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String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id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@Field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(type= FieldType.</a:t>
            </a: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Text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String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title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@Field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(type= FieldType.</a:t>
            </a: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Text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String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content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@Field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(type= FieldType.</a:t>
            </a:r>
            <a:r>
              <a:rPr lang="en-US" altLang="ko-KR" sz="1100" i="1">
                <a:solidFill>
                  <a:srgbClr val="C77DBB"/>
                </a:solidFill>
                <a:effectLst/>
                <a:latin typeface="JetBrains Mono"/>
              </a:rPr>
              <a:t>Keyword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String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author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altLang="ko-KR" sz="1100">
                <a:solidFill>
                  <a:srgbClr val="56A8F5"/>
                </a:solidFill>
                <a:effectLst/>
                <a:latin typeface="JetBrains Mono"/>
              </a:rPr>
              <a:t>Post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(String title, String content, String author) {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title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= title;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content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= content;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author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= author;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endParaRPr lang="en-US" altLang="ko-KR" sz="110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ECE81-38AF-0CE1-101C-79520FF53907}"/>
              </a:ext>
            </a:extLst>
          </p:cNvPr>
          <p:cNvSpPr txBox="1"/>
          <p:nvPr/>
        </p:nvSpPr>
        <p:spPr>
          <a:xfrm>
            <a:off x="4831882" y="2115403"/>
            <a:ext cx="66510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BaseDocumnet </a:t>
            </a:r>
            <a:r>
              <a:rPr lang="ko-KR" altLang="en-US" sz="1400"/>
              <a:t>에 포함된 정보들을 삭제한다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	- createdAt , lastModifiedAt </a:t>
            </a:r>
          </a:p>
          <a:p>
            <a:r>
              <a:rPr lang="en-US" altLang="ko-KR" sz="1400"/>
              <a:t>	- toString() , isNew()</a:t>
            </a:r>
          </a:p>
          <a:p>
            <a:r>
              <a:rPr lang="en-US" altLang="ko-KR" sz="1400"/>
              <a:t>2.  @ToString, @EqualAndHashCode </a:t>
            </a:r>
            <a:r>
              <a:rPr lang="ko-KR" altLang="en-US" sz="1400"/>
              <a:t>추가</a:t>
            </a: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56200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05709-BF7B-A1BD-627D-47CE8220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27</a:t>
            </a:r>
            <a:r>
              <a:rPr lang="ko-KR" altLang="en-US" sz="3600"/>
              <a:t>강 테스트 환경 설정</a:t>
            </a:r>
            <a:r>
              <a:rPr lang="en-US" altLang="ko-KR" sz="3600"/>
              <a:t>(ElasticSearch TestContainer)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7FB985-D7D9-08ED-6237-18AB66E00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73" y="1990524"/>
            <a:ext cx="2524477" cy="14384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724404-F9A3-BDE7-4335-250D5BCEC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383" y="1990524"/>
            <a:ext cx="7245868" cy="371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99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6EC2D-9BD5-1579-4C68-4C4FC6F9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27</a:t>
            </a:r>
            <a:r>
              <a:rPr lang="ko-KR" altLang="en-US" sz="3600"/>
              <a:t>강 테스트 환경 설정</a:t>
            </a:r>
            <a:r>
              <a:rPr lang="en-US" altLang="ko-KR" sz="3600"/>
              <a:t>(ElasticSearch TestContainer)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ED5213-BC5C-56DF-E448-E705D768C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1663"/>
            <a:ext cx="5639587" cy="25911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2EBD54-0D2E-0D50-A9ED-CA0DD7C63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950" y="1921663"/>
            <a:ext cx="4221770" cy="171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788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359</TotalTime>
  <Words>671</Words>
  <Application>Microsoft Office PowerPoint</Application>
  <PresentationFormat>와이드스크린</PresentationFormat>
  <Paragraphs>29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JetBrains Mono</vt:lpstr>
      <vt:lpstr>Calibri</vt:lpstr>
      <vt:lpstr>Calibri Light</vt:lpstr>
      <vt:lpstr>Wingdings</vt:lpstr>
      <vt:lpstr>추억</vt:lpstr>
      <vt:lpstr>Eleastic search</vt:lpstr>
      <vt:lpstr>Elastic Search </vt:lpstr>
      <vt:lpstr>ElasticSearch 글(POST) 인덱스 작성</vt:lpstr>
      <vt:lpstr>초기 데이터 생성-1</vt:lpstr>
      <vt:lpstr>초기 데이터 생성-2</vt:lpstr>
      <vt:lpstr>Auditing 설정</vt:lpstr>
      <vt:lpstr>새로 생성된 객체인지 파악하기 위한 강제 인터페이스 상속</vt:lpstr>
      <vt:lpstr>BaseDocument 생성</vt:lpstr>
      <vt:lpstr>Post 수정 (BaseDocument 상속)</vt:lpstr>
      <vt:lpstr>27강 테스트 환경 설정(ElasticSearch TestContainer)</vt:lpstr>
      <vt:lpstr>27강 테스트 환경 설정(ElasticSearch TestContainer)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25</cp:revision>
  <dcterms:created xsi:type="dcterms:W3CDTF">2026-09-29T00:15:07Z</dcterms:created>
  <dcterms:modified xsi:type="dcterms:W3CDTF">2026-09-29T06:14:33Z</dcterms:modified>
</cp:coreProperties>
</file>