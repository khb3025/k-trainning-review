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6ABF09-2B68-4469-96BE-98F23DA9D523}">
          <p14:sldIdLst>
            <p14:sldId id="256"/>
            <p14:sldId id="257"/>
            <p14:sldId id="258"/>
          </p14:sldIdLst>
        </p14:section>
        <p14:section name="Elasticsearch Document 시간 자동주입 설정" id="{2ED89BF8-BEC0-4308-A61E-276046083A7B}">
          <p14:sldIdLst>
            <p14:sldId id="260"/>
          </p14:sldIdLst>
        </p14:section>
        <p14:section name="Elasticsearch 상품Document의 공통 Field 정의" id="{1A137833-979A-4FCD-B354-F935A7478074}">
          <p14:sldIdLst>
            <p14:sldId id="259"/>
          </p14:sldIdLst>
        </p14:section>
        <p14:section name="JPA와 Elasticsearch간의 주의해야할 차이점" id="{D8E560C7-AC40-4C11-842C-2E16FB2D92AA}">
          <p14:sldIdLst>
            <p14:sldId id="261"/>
            <p14:sldId id="262"/>
            <p14:sldId id="263"/>
          </p14:sldIdLst>
        </p14:section>
        <p14:section name="Elasticsearch 프로젝트 Test 환경 구성" id="{47A8592E-06B5-42B3-9E2B-FEF74753BA28}">
          <p14:sldIdLst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1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2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65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77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50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80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6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26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9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45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76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068686-F3FF-40AE-8ED5-FFCBDF2882F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C7FA0A4-0829-4AF1-A460-B9804930D4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77108-E469-6496-B7D0-FD8F7E282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K-Training ElasticSearch</a:t>
            </a:r>
            <a:endParaRPr lang="ko-KR" altLang="en-US" sz="6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FC9E18-BBBC-3A5E-7454-B491A1245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필요한 부분만 압축 정리</a:t>
            </a:r>
          </a:p>
        </p:txBody>
      </p:sp>
    </p:spTree>
    <p:extLst>
      <p:ext uri="{BB962C8B-B14F-4D97-AF65-F5344CB8AC3E}">
        <p14:creationId xmlns:p14="http://schemas.microsoft.com/office/powerpoint/2010/main" val="45068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97431-09C4-0BE4-94CA-3DA2A3EE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Docker </a:t>
            </a:r>
            <a:r>
              <a:rPr lang="ko-KR" altLang="en-US"/>
              <a:t>설치 및 </a:t>
            </a:r>
            <a:r>
              <a:rPr lang="en-US" altLang="ko-KR"/>
              <a:t>APP </a:t>
            </a:r>
            <a:r>
              <a:rPr lang="ko-KR" altLang="en-US"/>
              <a:t>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83256-487A-6262-F667-2A46CB80FF3C}"/>
              </a:ext>
            </a:extLst>
          </p:cNvPr>
          <p:cNvSpPr txBox="1"/>
          <p:nvPr/>
        </p:nvSpPr>
        <p:spPr>
          <a:xfrm>
            <a:off x="6914950" y="1813098"/>
            <a:ext cx="376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DockerFile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369B-802F-A0EA-97E7-5AABEC8DB7A6}"/>
              </a:ext>
            </a:extLst>
          </p:cNvPr>
          <p:cNvSpPr txBox="1"/>
          <p:nvPr/>
        </p:nvSpPr>
        <p:spPr>
          <a:xfrm>
            <a:off x="6914950" y="2258168"/>
            <a:ext cx="4711565" cy="1215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docker.elastic.co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/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elasticsearch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/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elasticsearch:9.4.5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# Nori </a:t>
            </a:r>
            <a: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한글 형태소 분석기 플러그인 설치</a:t>
            </a:r>
            <a:b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# --batch: </a:t>
            </a:r>
            <a: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설치 중 대화형 프롬프트 없이 진행</a:t>
            </a:r>
            <a:r>
              <a:rPr lang="ko-KR" altLang="en-US" sz="120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(CI/</a:t>
            </a:r>
            <a: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빌드 환경 필수</a:t>
            </a: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RUN </a:t>
            </a:r>
            <a:r>
              <a:rPr lang="en-US" altLang="ko-KR" sz="1200">
                <a:solidFill>
                  <a:srgbClr val="C57633"/>
                </a:solidFill>
                <a:effectLst/>
                <a:latin typeface="JetBrains Mono"/>
              </a:rPr>
              <a:t>bin/elasticsearch-plugin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install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--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batch analysis-nori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925B2-3AE8-D192-14DE-FA36C8046067}"/>
              </a:ext>
            </a:extLst>
          </p:cNvPr>
          <p:cNvSpPr txBox="1"/>
          <p:nvPr/>
        </p:nvSpPr>
        <p:spPr>
          <a:xfrm>
            <a:off x="565485" y="2258168"/>
            <a:ext cx="6097604" cy="34778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services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elastic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build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context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.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dockerfile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Dockerfile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Nori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플러그인이 포함된 커스텀 이미지 빌드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ports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- 9200:9200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9200</a:t>
            </a:r>
            <a:b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environment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아래 설정은 개발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/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테스트용 설정으로 실제 운영에서는 설정하면 안되는 옵션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- discovery.type=single-node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단일 노드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- xpack.security.enabled=false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보안 설정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- xpack.security.http.ssl.enabled=false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보안설정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kibana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image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 docker.elastic.co/kibana/kibana:9.4.5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9.4.5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버전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(Elasticsearch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와 동일 버전 유지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)</a:t>
            </a:r>
            <a:b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ports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- 5601:5601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5601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번 포트에서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kibana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실행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environment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- ELASTICSEARCH_HOSTS=http://elastic:9200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# kibana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가 통신할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100" i="1">
                <a:solidFill>
                  <a:srgbClr val="5F826B"/>
                </a:solidFill>
                <a:effectLst/>
                <a:latin typeface="JetBrains Mono"/>
              </a:rPr>
              <a:t>Elasticsearch </a:t>
            </a:r>
            <a: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주소 알려주기</a:t>
            </a:r>
            <a:br>
              <a:rPr lang="ko-KR" altLang="en-US" sz="110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endParaRPr lang="ko-KR" altLang="en-US" sz="11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1D289C-5D38-DEC2-BD47-4D8D07C46A90}"/>
              </a:ext>
            </a:extLst>
          </p:cNvPr>
          <p:cNvSpPr txBox="1"/>
          <p:nvPr/>
        </p:nvSpPr>
        <p:spPr>
          <a:xfrm>
            <a:off x="565485" y="1888836"/>
            <a:ext cx="376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compose.yml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52CA4-939A-F7A6-23E0-06EBDE3E5C7E}"/>
              </a:ext>
            </a:extLst>
          </p:cNvPr>
          <p:cNvSpPr txBox="1"/>
          <p:nvPr/>
        </p:nvSpPr>
        <p:spPr>
          <a:xfrm>
            <a:off x="6824312" y="3638349"/>
            <a:ext cx="513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강의 교안과 인프런 강의 비교</a:t>
            </a:r>
            <a:br>
              <a:rPr lang="en-US" altLang="ko-KR" sz="1400"/>
            </a:br>
            <a:r>
              <a:rPr lang="ko-KR" altLang="en-US" sz="1400"/>
              <a:t>적절하다고 생각하는 설정 정리</a:t>
            </a:r>
          </a:p>
        </p:txBody>
      </p:sp>
    </p:spTree>
    <p:extLst>
      <p:ext uri="{BB962C8B-B14F-4D97-AF65-F5344CB8AC3E}">
        <p14:creationId xmlns:p14="http://schemas.microsoft.com/office/powerpoint/2010/main" val="111888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3B198-F6B9-D06E-F53B-9DBE7B54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Docker </a:t>
            </a:r>
            <a:r>
              <a:rPr lang="ko-KR" altLang="en-US"/>
              <a:t>설치 및 </a:t>
            </a:r>
            <a:r>
              <a:rPr lang="en-US" altLang="ko-KR"/>
              <a:t>APP </a:t>
            </a:r>
            <a:r>
              <a:rPr lang="ko-KR" altLang="en-US"/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2F261-D7EE-7455-F44E-B4F0A2383DF9}"/>
              </a:ext>
            </a:extLst>
          </p:cNvPr>
          <p:cNvSpPr txBox="1"/>
          <p:nvPr/>
        </p:nvSpPr>
        <p:spPr>
          <a:xfrm>
            <a:off x="498107" y="1920587"/>
            <a:ext cx="2581977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>
                <a:solidFill>
                  <a:srgbClr val="CF8E6D"/>
                </a:solidFill>
                <a:effectLst/>
                <a:latin typeface="JetBrains Mono"/>
              </a:rPr>
              <a:t>spring</a:t>
            </a:r>
            <a: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400">
                <a:solidFill>
                  <a:srgbClr val="CF8E6D"/>
                </a:solidFill>
                <a:effectLst/>
                <a:latin typeface="JetBrains Mono"/>
              </a:rPr>
              <a:t>elasticsearch</a:t>
            </a:r>
            <a: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400">
                <a:solidFill>
                  <a:srgbClr val="CF8E6D"/>
                </a:solidFill>
                <a:effectLst/>
                <a:latin typeface="JetBrains Mono"/>
              </a:rPr>
              <a:t>uris</a:t>
            </a:r>
            <a:r>
              <a:rPr lang="en-US" altLang="ko-KR" sz="1400">
                <a:solidFill>
                  <a:srgbClr val="BCBEC4"/>
                </a:solidFill>
                <a:effectLst/>
                <a:latin typeface="JetBrains Mono"/>
              </a:rPr>
              <a:t>: localhost:9200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8E739-DC97-9E17-0E0F-FC54D67A9CB0}"/>
              </a:ext>
            </a:extLst>
          </p:cNvPr>
          <p:cNvSpPr txBox="1"/>
          <p:nvPr/>
        </p:nvSpPr>
        <p:spPr>
          <a:xfrm>
            <a:off x="490888" y="2743200"/>
            <a:ext cx="259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application-dev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9DA7E-02D8-C152-EABF-114D5E4BAAC2}"/>
              </a:ext>
            </a:extLst>
          </p:cNvPr>
          <p:cNvSpPr txBox="1"/>
          <p:nvPr/>
        </p:nvSpPr>
        <p:spPr>
          <a:xfrm>
            <a:off x="3089709" y="1920587"/>
            <a:ext cx="4872790" cy="4939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spring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application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name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back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profiles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active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dev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#spring.output.ansi.enabled: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콘솔 출력 시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ANSI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컬러를 항상 활성화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(ALWAYS)</a:t>
            </a:r>
            <a:b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  #logging.level.com.back: com.back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패키지의 로그 레벨을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JetBrains Mono"/>
              </a:rPr>
              <a:t>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debug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로 설정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output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ansi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enabled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ALWAYS</a:t>
            </a:r>
            <a:b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</a:br>
            <a:b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  </a:t>
            </a:r>
            <a:r>
              <a:rPr lang="en-US" altLang="ko-KR" sz="1050" i="1">
                <a:solidFill>
                  <a:srgbClr val="5F826B"/>
                </a:solidFill>
                <a:effectLst/>
                <a:latin typeface="JetBrains Mono"/>
              </a:rPr>
              <a:t># </a:t>
            </a: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빈 객체 직렬화 시 예외 발생 방지</a:t>
            </a:r>
            <a:b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050" i="1">
                <a:solidFill>
                  <a:srgbClr val="5F826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jackson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serialization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fail-on-empty-beans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b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</a:br>
            <a:b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logging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level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com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back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debug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  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org.elasticsearch.client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DEBUG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co.elastic.clients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TRACE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org.apache.hc.client5.http.wire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TRACE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org.apache.hc.client5.http.headers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TRACE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  <a:t>      </a:t>
            </a:r>
            <a:br>
              <a:rPr lang="en-US" altLang="ko-KR" sz="1050">
                <a:solidFill>
                  <a:srgbClr val="57AAF7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server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port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8080</a:t>
            </a:r>
            <a:endParaRPr lang="en-US" altLang="ko-KR" sz="105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1CEA5D-1D83-6784-AA6E-6EC91C22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79" y="1920587"/>
            <a:ext cx="4022652" cy="220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6E145-C5C8-15AC-D12E-D74E148F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Auditing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61A33-9413-14E0-C6D9-5D7A3C74DAF5}"/>
              </a:ext>
            </a:extLst>
          </p:cNvPr>
          <p:cNvSpPr txBox="1"/>
          <p:nvPr/>
        </p:nvSpPr>
        <p:spPr>
          <a:xfrm>
            <a:off x="488481" y="1843238"/>
            <a:ext cx="3486752" cy="19543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@SpringBootApplication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@EnableElasticsearchRepositories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@EnableElasticsearchAuditing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BackApplication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(String[] args)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SpringApplication.</a:t>
            </a:r>
            <a:r>
              <a:rPr lang="en-US" altLang="ko-KR" sz="1100" i="1">
                <a:solidFill>
                  <a:srgbClr val="BCBEC4"/>
                </a:solidFill>
                <a:effectLst/>
                <a:latin typeface="JetBrains Mono"/>
              </a:rPr>
              <a:t>run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(BackApplication.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class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, args);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ko-KR" sz="11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A680B-B02E-5004-91C5-1310489B9C0A}"/>
              </a:ext>
            </a:extLst>
          </p:cNvPr>
          <p:cNvSpPr txBox="1"/>
          <p:nvPr/>
        </p:nvSpPr>
        <p:spPr>
          <a:xfrm>
            <a:off x="488480" y="3797619"/>
            <a:ext cx="3573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실행  </a:t>
            </a:r>
            <a:r>
              <a:rPr lang="en-US" altLang="ko-KR" sz="1200"/>
              <a:t>APP </a:t>
            </a:r>
            <a:r>
              <a:rPr lang="ko-KR" altLang="en-US" sz="1200"/>
              <a:t>클래스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E5D73-BA6F-B27E-1238-F182983661F9}"/>
              </a:ext>
            </a:extLst>
          </p:cNvPr>
          <p:cNvSpPr txBox="1"/>
          <p:nvPr/>
        </p:nvSpPr>
        <p:spPr>
          <a:xfrm>
            <a:off x="4061860" y="1843238"/>
            <a:ext cx="7093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@EnableElasticsearchRepositories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200">
                <a:sym typeface="Wingdings" panose="05000000000000000000" pitchFamily="2" charset="2"/>
              </a:rPr>
              <a:t>없어도 동작함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없으면 기본 </a:t>
            </a:r>
            <a:r>
              <a:rPr lang="en-US" altLang="ko-KR" sz="1200">
                <a:sym typeface="Wingdings" panose="05000000000000000000" pitchFamily="2" charset="2"/>
              </a:rPr>
              <a:t>src/main/java/</a:t>
            </a:r>
            <a:r>
              <a:rPr lang="ko-KR" altLang="en-US" sz="1200">
                <a:sym typeface="Wingdings" panose="05000000000000000000" pitchFamily="2" charset="2"/>
              </a:rPr>
              <a:t>패키지 하위 폴더 스캔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200">
                <a:sym typeface="Wingdings" panose="05000000000000000000" pitchFamily="2" charset="2"/>
              </a:rPr>
              <a:t>작성이유 </a:t>
            </a:r>
            <a:r>
              <a:rPr lang="en-US" altLang="ko-KR" sz="1200">
                <a:sym typeface="Wingdings" panose="05000000000000000000" pitchFamily="2" charset="2"/>
              </a:rPr>
              <a:t>basePackages</a:t>
            </a:r>
            <a:r>
              <a:rPr lang="ko-KR" altLang="en-US" sz="1200">
                <a:sym typeface="Wingdings" panose="05000000000000000000" pitchFamily="2" charset="2"/>
              </a:rPr>
              <a:t> 지정가능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어느 패키지 부터 </a:t>
            </a:r>
            <a:r>
              <a:rPr lang="en-US" altLang="ko-KR" sz="1200">
                <a:sym typeface="Wingdings" panose="05000000000000000000" pitchFamily="2" charset="2"/>
              </a:rPr>
              <a:t>ElasticSearch </a:t>
            </a:r>
            <a:r>
              <a:rPr lang="ko-KR" altLang="en-US" sz="1200">
                <a:sym typeface="Wingdings" panose="05000000000000000000" pitchFamily="2" charset="2"/>
              </a:rPr>
              <a:t>기능이 적용하는지 범위 지정용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@EnableElasticsearchAuditing  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 Elasticsearch </a:t>
            </a:r>
            <a:r>
              <a:rPr lang="ko-KR" altLang="en-US" sz="1200">
                <a:sym typeface="Wingdings" panose="05000000000000000000" pitchFamily="2" charset="2"/>
              </a:rPr>
              <a:t>인덱스에 애플리케이션에서 생성일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수정일에 대한 </a:t>
            </a:r>
            <a:r>
              <a:rPr lang="en-US" altLang="ko-KR" sz="1200">
                <a:sym typeface="Wingdings" panose="05000000000000000000" pitchFamily="2" charset="2"/>
              </a:rPr>
              <a:t>Auditing </a:t>
            </a:r>
            <a:r>
              <a:rPr lang="ko-KR" altLang="en-US" sz="1200">
                <a:sym typeface="Wingdings" panose="05000000000000000000" pitchFamily="2" charset="2"/>
              </a:rPr>
              <a:t>적용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ko-KR" alt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2D931-61BB-CF70-CBF7-8D8886A54DFB}"/>
              </a:ext>
            </a:extLst>
          </p:cNvPr>
          <p:cNvSpPr txBox="1"/>
          <p:nvPr/>
        </p:nvSpPr>
        <p:spPr>
          <a:xfrm>
            <a:off x="488481" y="4232983"/>
            <a:ext cx="6097604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@Configuration</a:t>
            </a:r>
            <a:b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AuditingConfig {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@Bean</a:t>
            </a:r>
            <a:b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DateTimeProvider </a:t>
            </a:r>
            <a:r>
              <a:rPr lang="en-US" altLang="ko-KR" sz="1200">
                <a:solidFill>
                  <a:srgbClr val="56A8F5"/>
                </a:solidFill>
                <a:effectLst/>
                <a:latin typeface="JetBrains Mono"/>
              </a:rPr>
              <a:t>dateTimeProvider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()-&gt; Optional.</a:t>
            </a:r>
            <a:r>
              <a:rPr lang="en-US" altLang="ko-KR" sz="1200" i="1">
                <a:solidFill>
                  <a:srgbClr val="BCBEC4"/>
                </a:solidFill>
                <a:effectLst/>
                <a:latin typeface="JetBrains Mono"/>
              </a:rPr>
              <a:t>of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(OffsetDateTime.</a:t>
            </a:r>
            <a:r>
              <a:rPr lang="en-US" altLang="ko-KR" sz="1200" i="1">
                <a:solidFill>
                  <a:srgbClr val="BCBEC4"/>
                </a:solidFill>
                <a:effectLst/>
                <a:latin typeface="JetBrains Mono"/>
              </a:rPr>
              <a:t>now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()); </a:t>
            </a: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//LocalDateTime</a:t>
            </a:r>
            <a: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과는 다름</a:t>
            </a:r>
            <a:r>
              <a:rPr lang="ko-KR" altLang="en-US" sz="120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(</a:t>
            </a:r>
            <a:r>
              <a:rPr lang="ko-KR" altLang="en-US" sz="12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표준시간과 얼마만큼의 차이인가를 기준으로함</a:t>
            </a: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)</a:t>
            </a:r>
            <a:b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ko-KR" sz="120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EEB672-0113-282D-E5BD-FADE64105EEB}"/>
              </a:ext>
            </a:extLst>
          </p:cNvPr>
          <p:cNvGrpSpPr/>
          <p:nvPr/>
        </p:nvGrpSpPr>
        <p:grpSpPr>
          <a:xfrm>
            <a:off x="3975233" y="4058136"/>
            <a:ext cx="2606508" cy="2193895"/>
            <a:chOff x="3975233" y="4058136"/>
            <a:chExt cx="2606508" cy="219389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27FAF48-846F-097E-31BE-AC45339AC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233" y="4058136"/>
              <a:ext cx="2606508" cy="219389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041BFD2-4D02-B4B2-407F-24BA678F9BDB}"/>
                </a:ext>
              </a:extLst>
            </p:cNvPr>
            <p:cNvSpPr/>
            <p:nvPr/>
          </p:nvSpPr>
          <p:spPr>
            <a:xfrm>
              <a:off x="5278487" y="5941006"/>
              <a:ext cx="1291368" cy="295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A4B426F-1425-0E9D-9039-B96A9530C94A}"/>
              </a:ext>
            </a:extLst>
          </p:cNvPr>
          <p:cNvGrpSpPr/>
          <p:nvPr/>
        </p:nvGrpSpPr>
        <p:grpSpPr>
          <a:xfrm>
            <a:off x="6755428" y="3019742"/>
            <a:ext cx="4948091" cy="3832222"/>
            <a:chOff x="6755428" y="3019742"/>
            <a:chExt cx="4948091" cy="383222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292A2C2-1600-8F49-4531-A3512A42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5428" y="3019742"/>
              <a:ext cx="4220164" cy="314369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E6FCA10-461E-0C61-127E-BE0C20B60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5428" y="3334111"/>
              <a:ext cx="4948091" cy="35178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073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443A5-052C-87BF-2364-DAEAAADE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Entity</a:t>
            </a:r>
            <a:r>
              <a:rPr lang="ko-KR" altLang="en-US"/>
              <a:t>에 대한 추상 클래스 정의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091816-8147-2552-CE82-1F295BD85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8" y="1764134"/>
            <a:ext cx="5880122" cy="5093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8B686B-D434-A286-AB18-24283196A781}"/>
              </a:ext>
            </a:extLst>
          </p:cNvPr>
          <p:cNvSpPr txBox="1"/>
          <p:nvPr/>
        </p:nvSpPr>
        <p:spPr>
          <a:xfrm>
            <a:off x="6127728" y="1764134"/>
            <a:ext cx="5597091" cy="50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533322-A130-BB90-7E8E-954295D0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60" y="1764134"/>
            <a:ext cx="3199982" cy="36459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5C5F6C-6493-305E-A992-E1357E949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670" y="1765544"/>
            <a:ext cx="2735400" cy="1729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831A7B-8077-73EC-DFE6-5ABC5AFD4882}"/>
              </a:ext>
            </a:extLst>
          </p:cNvPr>
          <p:cNvSpPr txBox="1"/>
          <p:nvPr/>
        </p:nvSpPr>
        <p:spPr>
          <a:xfrm>
            <a:off x="6212910" y="5461348"/>
            <a:ext cx="5880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equals / hasCode </a:t>
            </a:r>
            <a:r>
              <a:rPr lang="ko-KR" altLang="en-US" sz="1200"/>
              <a:t>참고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isNew()</a:t>
            </a:r>
            <a:r>
              <a:rPr lang="ko-KR" altLang="en-US" sz="1200"/>
              <a:t>는 </a:t>
            </a:r>
            <a:r>
              <a:rPr lang="en-US" altLang="ko-KR" sz="1200"/>
              <a:t>Persistable&lt;ID&gt;</a:t>
            </a:r>
            <a:r>
              <a:rPr lang="ko-KR" altLang="en-US" sz="1200"/>
              <a:t>에서 강제 정의 논리는 단순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스킵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81735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1ACDD-58F4-49EF-4504-1D5557F0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JPA</a:t>
            </a:r>
            <a:r>
              <a:rPr lang="ko-KR" altLang="en-US" sz="3600"/>
              <a:t>와 </a:t>
            </a:r>
            <a:r>
              <a:rPr lang="en-US" altLang="ko-KR" sz="3600"/>
              <a:t>ElasticSearch </a:t>
            </a:r>
            <a:r>
              <a:rPr lang="ko-KR" altLang="en-US" sz="3600"/>
              <a:t>간 차이에 의한 주의점 정리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18AF594-6672-6C60-9CC5-94E907E40756}"/>
              </a:ext>
            </a:extLst>
          </p:cNvPr>
          <p:cNvGrpSpPr/>
          <p:nvPr/>
        </p:nvGrpSpPr>
        <p:grpSpPr>
          <a:xfrm>
            <a:off x="93071" y="1953928"/>
            <a:ext cx="7568142" cy="481264"/>
            <a:chOff x="93071" y="1953928"/>
            <a:chExt cx="7568142" cy="4812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A4FEEFF-20C4-B1C1-0E88-3A195444C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4155" b="60596"/>
            <a:stretch>
              <a:fillRect/>
            </a:stretch>
          </p:blipFill>
          <p:spPr>
            <a:xfrm>
              <a:off x="93071" y="1953928"/>
              <a:ext cx="7568142" cy="48126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771EEA-9A78-D325-D97B-FCB7FDA578EA}"/>
                </a:ext>
              </a:extLst>
            </p:cNvPr>
            <p:cNvSpPr/>
            <p:nvPr/>
          </p:nvSpPr>
          <p:spPr>
            <a:xfrm>
              <a:off x="4841507" y="2194560"/>
              <a:ext cx="1925053" cy="2406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025F428-E766-3EBB-A291-D2C02D53A798}"/>
              </a:ext>
            </a:extLst>
          </p:cNvPr>
          <p:cNvGrpSpPr/>
          <p:nvPr/>
        </p:nvGrpSpPr>
        <p:grpSpPr>
          <a:xfrm>
            <a:off x="557698" y="2613501"/>
            <a:ext cx="5756475" cy="2328831"/>
            <a:chOff x="557698" y="2613501"/>
            <a:chExt cx="5756475" cy="232883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FEDBFE7-C053-6C3D-ACB8-CED99B8D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698" y="2613501"/>
              <a:ext cx="5756475" cy="232883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A6F2001-4F6C-E24C-1385-CDD197CE1B53}"/>
                </a:ext>
              </a:extLst>
            </p:cNvPr>
            <p:cNvSpPr/>
            <p:nvPr/>
          </p:nvSpPr>
          <p:spPr>
            <a:xfrm>
              <a:off x="1761423" y="2685448"/>
              <a:ext cx="2772076" cy="2406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9E47C95-6E3C-2FFB-F88E-D29F7BA89AB7}"/>
                </a:ext>
              </a:extLst>
            </p:cNvPr>
            <p:cNvSpPr/>
            <p:nvPr/>
          </p:nvSpPr>
          <p:spPr>
            <a:xfrm>
              <a:off x="1386038" y="3176337"/>
              <a:ext cx="741145" cy="37538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F10049-4A2A-9DC0-1A05-FD67BE316473}"/>
              </a:ext>
            </a:extLst>
          </p:cNvPr>
          <p:cNvGrpSpPr/>
          <p:nvPr/>
        </p:nvGrpSpPr>
        <p:grpSpPr>
          <a:xfrm>
            <a:off x="557698" y="5120641"/>
            <a:ext cx="7887801" cy="1019317"/>
            <a:chOff x="557698" y="5120641"/>
            <a:chExt cx="7887801" cy="101931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46D2008-8A7C-AA0A-5233-EE1672D0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698" y="5120641"/>
              <a:ext cx="7887801" cy="101931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2DCDECC-F145-EFDB-4B7E-686C5EAEA5BA}"/>
                </a:ext>
              </a:extLst>
            </p:cNvPr>
            <p:cNvSpPr/>
            <p:nvPr/>
          </p:nvSpPr>
          <p:spPr>
            <a:xfrm>
              <a:off x="2011680" y="5852160"/>
              <a:ext cx="3330341" cy="28779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841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CA77B-375D-0983-12F5-7DEF9C98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JPA</a:t>
            </a:r>
            <a:r>
              <a:rPr lang="ko-KR" altLang="en-US" sz="3600"/>
              <a:t>와 </a:t>
            </a:r>
            <a:r>
              <a:rPr lang="en-US" altLang="ko-KR" sz="3600"/>
              <a:t>ElasticSearch </a:t>
            </a:r>
            <a:r>
              <a:rPr lang="ko-KR" altLang="en-US" sz="3600"/>
              <a:t>간 차이에 의한 주의점 정리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3ED87D5-922B-CB85-6207-7AC6DA0A2D30}"/>
              </a:ext>
            </a:extLst>
          </p:cNvPr>
          <p:cNvGrpSpPr/>
          <p:nvPr/>
        </p:nvGrpSpPr>
        <p:grpSpPr>
          <a:xfrm>
            <a:off x="346509" y="1835798"/>
            <a:ext cx="4479237" cy="3871191"/>
            <a:chOff x="346509" y="1835798"/>
            <a:chExt cx="4479237" cy="387119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AEE8F62-4961-DB91-903D-8EE6E10BB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334" y="1835798"/>
              <a:ext cx="4464412" cy="344847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540908-6AF4-BC8E-0620-3C26C85316D4}"/>
                </a:ext>
              </a:extLst>
            </p:cNvPr>
            <p:cNvSpPr txBox="1"/>
            <p:nvPr/>
          </p:nvSpPr>
          <p:spPr>
            <a:xfrm>
              <a:off x="346509" y="5337657"/>
              <a:ext cx="4437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사진 요약 </a:t>
              </a:r>
              <a:r>
                <a:rPr lang="en-US" altLang="ko-KR"/>
                <a:t>: BaseDocument</a:t>
              </a:r>
              <a:r>
                <a:rPr lang="ko-KR" altLang="en-US"/>
                <a:t>를 사용하자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F4B17F8-CEFD-F8D3-13AF-EFBDB12F9593}"/>
              </a:ext>
            </a:extLst>
          </p:cNvPr>
          <p:cNvGrpSpPr/>
          <p:nvPr/>
        </p:nvGrpSpPr>
        <p:grpSpPr>
          <a:xfrm>
            <a:off x="5428648" y="1889185"/>
            <a:ext cx="5361697" cy="3501859"/>
            <a:chOff x="5419023" y="1835798"/>
            <a:chExt cx="5361697" cy="350185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D90E57A-253A-1668-E1A6-125D76557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9023" y="1835798"/>
              <a:ext cx="5361697" cy="350185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C31F315-75CE-0AA1-C9C2-398E5CFC438D}"/>
                </a:ext>
              </a:extLst>
            </p:cNvPr>
            <p:cNvSpPr/>
            <p:nvPr/>
          </p:nvSpPr>
          <p:spPr>
            <a:xfrm>
              <a:off x="5582653" y="4841507"/>
              <a:ext cx="3888606" cy="31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4264B23-8E18-BF39-97FB-D0C33EBAB567}"/>
                </a:ext>
              </a:extLst>
            </p:cNvPr>
            <p:cNvSpPr/>
            <p:nvPr/>
          </p:nvSpPr>
          <p:spPr>
            <a:xfrm>
              <a:off x="5582653" y="3586727"/>
              <a:ext cx="2974206" cy="31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650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6F32A-20C5-E8C3-416F-5D431656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JPA</a:t>
            </a:r>
            <a:r>
              <a:rPr lang="ko-KR" altLang="en-US" sz="3600"/>
              <a:t>와 </a:t>
            </a:r>
            <a:r>
              <a:rPr lang="en-US" altLang="ko-KR" sz="3600"/>
              <a:t>ElasticSearch </a:t>
            </a:r>
            <a:r>
              <a:rPr lang="ko-KR" altLang="en-US" sz="3600"/>
              <a:t>간 차이에 의한 주의점 정리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3DA4B37-B4A4-6821-F633-7DD1B797097B}"/>
              </a:ext>
            </a:extLst>
          </p:cNvPr>
          <p:cNvGrpSpPr/>
          <p:nvPr/>
        </p:nvGrpSpPr>
        <p:grpSpPr>
          <a:xfrm>
            <a:off x="1097280" y="1876872"/>
            <a:ext cx="7960165" cy="4526867"/>
            <a:chOff x="1097280" y="1876872"/>
            <a:chExt cx="7960165" cy="4526867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78CC21C-1D91-6762-8CB8-8BAF8AC28DBD}"/>
                </a:ext>
              </a:extLst>
            </p:cNvPr>
            <p:cNvGrpSpPr/>
            <p:nvPr/>
          </p:nvGrpSpPr>
          <p:grpSpPr>
            <a:xfrm>
              <a:off x="1097280" y="1876872"/>
              <a:ext cx="7960165" cy="4526867"/>
              <a:chOff x="1097280" y="1876872"/>
              <a:chExt cx="7960165" cy="4526867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AC88A9F-BA74-110B-D2DB-E9EE9CA9D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1876872"/>
                <a:ext cx="7960165" cy="4526867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3020E54-D28C-959D-56BC-DA159EDC89D4}"/>
                  </a:ext>
                </a:extLst>
              </p:cNvPr>
              <p:cNvSpPr/>
              <p:nvPr/>
            </p:nvSpPr>
            <p:spPr>
              <a:xfrm>
                <a:off x="1337912" y="3773103"/>
                <a:ext cx="7642459" cy="48126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DE7247-0D73-F2A4-C645-8A4C1408F5F0}"/>
                </a:ext>
              </a:extLst>
            </p:cNvPr>
            <p:cNvSpPr txBox="1"/>
            <p:nvPr/>
          </p:nvSpPr>
          <p:spPr>
            <a:xfrm>
              <a:off x="5255394" y="4417996"/>
              <a:ext cx="3724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요약</a:t>
              </a:r>
              <a:r>
                <a:rPr lang="en-US" altLang="ko-KR" sz="1200"/>
                <a:t>: </a:t>
              </a:r>
              <a:r>
                <a:rPr lang="ko-KR" altLang="en-US" sz="1200"/>
                <a:t>부모 엔티티 삭제시 자식 엔티티 수동 삭제 필요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223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E3BEE-7434-BE10-31C9-718DCB5A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TDD</a:t>
            </a:r>
            <a:r>
              <a:rPr lang="ko-KR" altLang="en-US"/>
              <a:t>를 위한 환경 구축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CF036-D30C-257C-FD25-3F4DBCED5363}"/>
              </a:ext>
            </a:extLst>
          </p:cNvPr>
          <p:cNvSpPr txBox="1"/>
          <p:nvPr/>
        </p:nvSpPr>
        <p:spPr>
          <a:xfrm>
            <a:off x="356135" y="1914996"/>
            <a:ext cx="5739865" cy="218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</a:pPr>
            <a:r>
              <a:rPr lang="ko-KR" altLang="en-US" b="1"/>
              <a:t>작업 </a:t>
            </a:r>
            <a:r>
              <a:rPr lang="en-US" altLang="ko-KR" b="1"/>
              <a:t>1: Testcontainers </a:t>
            </a:r>
            <a:r>
              <a:rPr lang="ko-KR" altLang="en-US" b="1"/>
              <a:t>의존성 추가</a:t>
            </a:r>
            <a:endParaRPr lang="en-US" altLang="ko-KR" b="1"/>
          </a:p>
          <a:p>
            <a:pPr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</a:pPr>
            <a:r>
              <a:rPr lang="en-US" altLang="ko-KR" sz="1050" i="0">
                <a:effectLst/>
                <a:sym typeface="Wingdings" panose="05000000000000000000" pitchFamily="2" charset="2"/>
              </a:rPr>
              <a:t> elasticsearch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는 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test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용 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docker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컨테이너를 제공한다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. Junit 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테스트 실행할때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, </a:t>
            </a:r>
            <a:br>
              <a:rPr lang="en-US" altLang="ko-KR" sz="1050" i="0">
                <a:effectLst/>
                <a:sym typeface="Wingdings" panose="05000000000000000000" pitchFamily="2" charset="2"/>
              </a:rPr>
            </a:br>
            <a:r>
              <a:rPr lang="en-US" altLang="ko-KR" sz="1050" i="0">
                <a:effectLst/>
                <a:sym typeface="Wingdings" panose="05000000000000000000" pitchFamily="2" charset="2"/>
              </a:rPr>
              <a:t>      Testcontainers 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가 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Docker 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데몬에 직접 요청해서 컨테이너 생성 </a:t>
            </a:r>
            <a:br>
              <a:rPr lang="en-US" altLang="ko-KR" sz="1050" i="0">
                <a:effectLst/>
                <a:sym typeface="Wingdings" panose="05000000000000000000" pitchFamily="2" charset="2"/>
              </a:rPr>
            </a:br>
            <a:r>
              <a:rPr lang="en-US" altLang="ko-KR" sz="1050" i="0">
                <a:effectLst/>
                <a:sym typeface="Wingdings" panose="05000000000000000000" pitchFamily="2" charset="2"/>
              </a:rPr>
              <a:t>      </a:t>
            </a:r>
            <a:r>
              <a:rPr lang="ko-KR" altLang="en-US" sz="1050" i="0">
                <a:effectLst/>
                <a:sym typeface="Wingdings" panose="05000000000000000000" pitchFamily="2" charset="2"/>
              </a:rPr>
              <a:t>테스트 종료시 컨테이너 정리</a:t>
            </a:r>
            <a:r>
              <a:rPr lang="en-US" altLang="ko-KR" sz="1050" i="0">
                <a:effectLst/>
                <a:sym typeface="Wingdings" panose="05000000000000000000" pitchFamily="2" charset="2"/>
              </a:rPr>
              <a:t>.</a:t>
            </a:r>
            <a:endParaRPr lang="en-US" altLang="ko-KR" sz="1050" i="0">
              <a:effectLst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"org.testcontainers:testcontainers-bom:1.19.8"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"org.testcontainers:junit-jupiter"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050" b="0" i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i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"org.testcontainers:testcontainers-elasticsearch"</a:t>
            </a:r>
            <a:r>
              <a:rPr lang="en-US" altLang="ko-KR" sz="105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050" b="0" i="0"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9B6AB4-ADD5-F554-90C4-66CFC19E1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158" y="4274640"/>
            <a:ext cx="2181529" cy="1200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CF0A18-F063-9209-31A5-FEE493096C1A}"/>
              </a:ext>
            </a:extLst>
          </p:cNvPr>
          <p:cNvSpPr txBox="1"/>
          <p:nvPr/>
        </p:nvSpPr>
        <p:spPr>
          <a:xfrm>
            <a:off x="7407472" y="3288126"/>
            <a:ext cx="4717615" cy="34855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BaseTest {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  <a:t>@Container</a:t>
            </a:r>
            <a:b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public static final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ElasticsearchContainer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elasticsearchContainer</a:t>
            </a:r>
            <a:b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</a:b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           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ElasticsearchContainer(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    DockerImageName.</a:t>
            </a:r>
            <a:r>
              <a:rPr lang="en-US" altLang="ko-KR" sz="1050" i="1">
                <a:solidFill>
                  <a:srgbClr val="BCBEC4"/>
                </a:solidFill>
                <a:effectLst/>
                <a:latin typeface="JetBrains Mono"/>
              </a:rPr>
              <a:t>parse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"elasticsearch:nori"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.withEnv(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"discovery.type"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"single-node"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.withEnv(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"xpack.security.enabled"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"false"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.withExposedPorts(</a:t>
            </a: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9200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.waitingFor(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        Wait.</a:t>
            </a:r>
            <a:r>
              <a:rPr lang="en-US" altLang="ko-KR" sz="1050" i="1">
                <a:solidFill>
                  <a:srgbClr val="BCBEC4"/>
                </a:solidFill>
                <a:effectLst/>
                <a:latin typeface="JetBrains Mono"/>
              </a:rPr>
              <a:t>forHttp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"/"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                .forPort(</a:t>
            </a: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9200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                .forStatusCode(</a:t>
            </a:r>
            <a:r>
              <a:rPr lang="en-US" altLang="ko-KR" sz="1050">
                <a:solidFill>
                  <a:srgbClr val="2AACB8"/>
                </a:solidFill>
                <a:effectLst/>
                <a:latin typeface="JetBrains Mono"/>
              </a:rPr>
              <a:t>200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    );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  <a:t>@DynamicPropertySource</a:t>
            </a:r>
            <a:b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altLang="ko-KR" sz="1050"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lang="en-US" altLang="ko-KR" sz="1050">
                <a:solidFill>
                  <a:srgbClr val="56A8F5"/>
                </a:solidFill>
                <a:effectLst/>
                <a:latin typeface="JetBrains Mono"/>
              </a:rPr>
              <a:t>setElasticsearchProperties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(DynamicPropertyRegistry registry) {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    registry.add(</a:t>
            </a:r>
            <a:r>
              <a:rPr lang="en-US" altLang="ko-KR" sz="1050">
                <a:solidFill>
                  <a:srgbClr val="6AAB73"/>
                </a:solidFill>
                <a:effectLst/>
                <a:latin typeface="JetBrains Mono"/>
              </a:rPr>
              <a:t>"spring.elasticsearch.uris"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, () -&gt; </a:t>
            </a:r>
            <a:r>
              <a:rPr lang="en-US" altLang="ko-KR" sz="1050" i="1">
                <a:solidFill>
                  <a:srgbClr val="C77DBB"/>
                </a:solidFill>
                <a:effectLst/>
                <a:latin typeface="JetBrains Mono"/>
              </a:rPr>
              <a:t>elasticsearchContainer</a:t>
            </a: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.getHttpHostAddress());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5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701AF-7637-B969-DA2B-E20431BEB63F}"/>
              </a:ext>
            </a:extLst>
          </p:cNvPr>
          <p:cNvSpPr txBox="1"/>
          <p:nvPr/>
        </p:nvSpPr>
        <p:spPr>
          <a:xfrm>
            <a:off x="6604000" y="2863172"/>
            <a:ext cx="3405739" cy="28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b="1" i="0">
                <a:solidFill>
                  <a:srgbClr val="222222"/>
                </a:solidFill>
                <a:effectLst/>
                <a:latin typeface="Pretendard Variable"/>
              </a:rPr>
              <a:t>2: BaseTest </a:t>
            </a:r>
            <a:r>
              <a:rPr lang="ko-KR" altLang="en-US" b="1" i="0">
                <a:solidFill>
                  <a:srgbClr val="222222"/>
                </a:solidFill>
                <a:effectLst/>
                <a:latin typeface="Pretendard Variable"/>
              </a:rPr>
              <a:t>클래스 생성</a:t>
            </a:r>
          </a:p>
        </p:txBody>
      </p:sp>
    </p:spTree>
    <p:extLst>
      <p:ext uri="{BB962C8B-B14F-4D97-AF65-F5344CB8AC3E}">
        <p14:creationId xmlns:p14="http://schemas.microsoft.com/office/powerpoint/2010/main" val="119113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CFFCE-0A57-861C-0130-0107E474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TDD</a:t>
            </a:r>
            <a:r>
              <a:rPr lang="ko-KR" altLang="en-US"/>
              <a:t>를 위한 환경 구축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725A3-CDEE-F290-EB4D-A78C9795B29A}"/>
              </a:ext>
            </a:extLst>
          </p:cNvPr>
          <p:cNvSpPr txBox="1"/>
          <p:nvPr/>
        </p:nvSpPr>
        <p:spPr>
          <a:xfrm>
            <a:off x="547077" y="1881693"/>
            <a:ext cx="3290277" cy="1646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1350"/>
              </a:spcBef>
              <a:spcAft>
                <a:spcPts val="150"/>
              </a:spcAft>
              <a:buNone/>
            </a:pPr>
            <a:r>
              <a:rPr lang="ko-KR" altLang="en-US" sz="1400" b="1" i="0">
                <a:solidFill>
                  <a:srgbClr val="222222"/>
                </a:solidFill>
                <a:effectLst/>
                <a:latin typeface="Pretendard Variable"/>
              </a:rPr>
              <a:t>작업 </a:t>
            </a:r>
            <a:r>
              <a:rPr lang="en-US" altLang="ko-KR" sz="1400" b="1" i="0">
                <a:solidFill>
                  <a:srgbClr val="222222"/>
                </a:solidFill>
                <a:effectLst/>
                <a:latin typeface="Pretendard Variable"/>
              </a:rPr>
              <a:t>3: PostControllerTests </a:t>
            </a:r>
            <a:r>
              <a:rPr lang="ko-KR" altLang="en-US" sz="1400" b="1" i="0">
                <a:solidFill>
                  <a:srgbClr val="222222"/>
                </a:solidFill>
                <a:effectLst/>
                <a:latin typeface="Pretendard Variable"/>
              </a:rPr>
              <a:t>클래스 생성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@SpringBootTest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: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스프링 통합 테스트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@Testcontainers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: Testcontainers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활성화</a:t>
            </a:r>
          </a:p>
          <a:p>
            <a:pPr algn="l">
              <a:lnSpc>
                <a:spcPts val="1920"/>
              </a:lnSpc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C1798B"/>
                </a:solidFill>
                <a:effectLst/>
                <a:latin typeface="Consolas" panose="020B0609020204030204" pitchFamily="49" charset="0"/>
              </a:rPr>
              <a:t>@AutoConfigureMockMvc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  <a:t>: MockMvc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</a:rPr>
              <a:t>자동 설정</a:t>
            </a:r>
            <a:b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</a:rPr>
            </a:b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  <a:sym typeface="Wingdings" panose="05000000000000000000" pitchFamily="2" charset="2"/>
              </a:rPr>
              <a:t>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  <a:sym typeface="Wingdings" panose="05000000000000000000" pitchFamily="2" charset="2"/>
              </a:rPr>
              <a:t>없으면 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  <a:sym typeface="Wingdings" panose="05000000000000000000" pitchFamily="2" charset="2"/>
              </a:rPr>
              <a:t>MockMvc Bean </a:t>
            </a:r>
            <a:r>
              <a:rPr lang="ko-KR" altLang="en-US" sz="1100" b="0" i="0">
                <a:solidFill>
                  <a:srgbClr val="222222"/>
                </a:solidFill>
                <a:effectLst/>
                <a:latin typeface="Pretendard Variable"/>
                <a:sym typeface="Wingdings" panose="05000000000000000000" pitchFamily="2" charset="2"/>
              </a:rPr>
              <a:t>생성이 안됨</a:t>
            </a:r>
            <a:r>
              <a:rPr lang="en-US" altLang="ko-KR" sz="1100" b="0" i="0">
                <a:solidFill>
                  <a:srgbClr val="222222"/>
                </a:solidFill>
                <a:effectLst/>
                <a:latin typeface="Pretendard Variable"/>
                <a:sym typeface="Wingdings" panose="05000000000000000000" pitchFamily="2" charset="2"/>
              </a:rPr>
              <a:t>.</a:t>
            </a:r>
            <a:endParaRPr lang="ko-KR" altLang="en-US" sz="1100" b="0" i="0">
              <a:solidFill>
                <a:srgbClr val="222222"/>
              </a:solidFill>
              <a:effectLst/>
              <a:latin typeface="Pretendard Variable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F2DEDE-1285-9ACC-7BE8-F515F6A1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0244"/>
            <a:ext cx="5134692" cy="18576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FCE338-C9E4-986F-7C94-837EC587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354" y="1840662"/>
            <a:ext cx="2183128" cy="14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2210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</TotalTime>
  <Words>881</Words>
  <Application>Microsoft Office PowerPoint</Application>
  <PresentationFormat>와이드스크린</PresentationFormat>
  <Paragraphs>44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JetBrains Mono</vt:lpstr>
      <vt:lpstr>Pretendard Variable</vt:lpstr>
      <vt:lpstr>Arial</vt:lpstr>
      <vt:lpstr>Calibri</vt:lpstr>
      <vt:lpstr>Calibri Light</vt:lpstr>
      <vt:lpstr>Consolas</vt:lpstr>
      <vt:lpstr>Courier New</vt:lpstr>
      <vt:lpstr>Wingdings</vt:lpstr>
      <vt:lpstr>추억</vt:lpstr>
      <vt:lpstr>K-Training ElasticSearch</vt:lpstr>
      <vt:lpstr>ElasticSearch Docker 설치 및 APP 설정</vt:lpstr>
      <vt:lpstr>ElasticSearch Docker 설치 및 APP 설정</vt:lpstr>
      <vt:lpstr>ElasticSearch Auditing</vt:lpstr>
      <vt:lpstr>Entity에 대한 추상 클래스 정의</vt:lpstr>
      <vt:lpstr>JPA와 ElasticSearch 간 차이에 의한 주의점 정리</vt:lpstr>
      <vt:lpstr>JPA와 ElasticSearch 간 차이에 의한 주의점 정리</vt:lpstr>
      <vt:lpstr>JPA와 ElasticSearch 간 차이에 의한 주의점 정리</vt:lpstr>
      <vt:lpstr>TDD를 위한 환경 구축</vt:lpstr>
      <vt:lpstr>TDD를 위한 환경 구축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31</cp:revision>
  <dcterms:created xsi:type="dcterms:W3CDTF">2026-09-29T13:08:51Z</dcterms:created>
  <dcterms:modified xsi:type="dcterms:W3CDTF">2026-09-29T14:48:31Z</dcterms:modified>
</cp:coreProperties>
</file>