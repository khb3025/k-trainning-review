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3" r:id="rId8"/>
    <p:sldId id="264" r:id="rId9"/>
    <p:sldId id="266" r:id="rId10"/>
    <p:sldId id="262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73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0482AF5-7400-4608-BFC7-38B73DD2A125}">
          <p14:sldIdLst>
            <p14:sldId id="256"/>
            <p14:sldId id="257"/>
            <p14:sldId id="258"/>
            <p14:sldId id="259"/>
            <p14:sldId id="265"/>
          </p14:sldIdLst>
        </p14:section>
        <p14:section name="진행방법" id="{1A255227-C076-4071-BC52-C311828B0604}">
          <p14:sldIdLst>
            <p14:sldId id="260"/>
            <p14:sldId id="263"/>
            <p14:sldId id="264"/>
            <p14:sldId id="266"/>
            <p14:sldId id="262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교안 이벤트 스토밍 정리" id="{6406C9DD-2F5A-49A7-B279-0BDC4B8F8994}">
          <p14:sldIdLst>
            <p14:sldId id="274"/>
            <p14:sldId id="275"/>
            <p14:sldId id="276"/>
            <p14:sldId id="277"/>
            <p14:sldId id="278"/>
            <p14:sldId id="279"/>
            <p14:sldId id="273"/>
            <p14:sldId id="280"/>
            <p14:sldId id="28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1163"/>
    <a:srgbClr val="C20AB9"/>
    <a:srgbClr val="FA40D2"/>
    <a:srgbClr val="FFFF66"/>
    <a:srgbClr val="7D03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8" autoAdjust="0"/>
    <p:restoredTop sz="94660"/>
  </p:normalViewPr>
  <p:slideViewPr>
    <p:cSldViewPr snapToGrid="0">
      <p:cViewPr varScale="1">
        <p:scale>
          <a:sx n="99" d="100"/>
          <a:sy n="99" d="100"/>
        </p:scale>
        <p:origin x="102" y="9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780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30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6489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024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535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325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2043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32809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341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415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044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5F0E703-6919-4BD3-ACB1-C4F234D71F27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B6D4C40-95D8-48E9-82AA-4504A6EA9959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558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AC5E5-DB6B-28D9-B4B2-79C002F2D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이벤트 스토밍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52D4BF-276D-2A25-17FC-07C599F1FE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586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CBB96-A5CB-23EF-40AC-74DF297E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이벤트 스토밍의 특징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29D35F-3F3E-AD30-3427-06109CA25E30}"/>
              </a:ext>
            </a:extLst>
          </p:cNvPr>
          <p:cNvSpPr txBox="1"/>
          <p:nvPr/>
        </p:nvSpPr>
        <p:spPr>
          <a:xfrm>
            <a:off x="1174282" y="1953928"/>
            <a:ext cx="1023165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/>
              <a:t>복잡한 비지니스 도메인을 빠르게 탐색하고 학습할 수 있는 워크숍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도메인 전문가와 개발자를 함께 도메인 학습과정에 참여시키기 위함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코드를 없애고 모든 사람을 동일한 수준으로 만드는 시각적 접근방법</a:t>
            </a:r>
          </a:p>
        </p:txBody>
      </p:sp>
    </p:spTree>
    <p:extLst>
      <p:ext uri="{BB962C8B-B14F-4D97-AF65-F5344CB8AC3E}">
        <p14:creationId xmlns:p14="http://schemas.microsoft.com/office/powerpoint/2010/main" val="1460994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162818-8627-0454-3CC0-02DFDA8AB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오프라인 준비물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1CB02E-8AB3-39E0-E6CB-3173B138EDAA}"/>
              </a:ext>
            </a:extLst>
          </p:cNvPr>
          <p:cNvSpPr txBox="1"/>
          <p:nvPr/>
        </p:nvSpPr>
        <p:spPr>
          <a:xfrm>
            <a:off x="1164657" y="1982804"/>
            <a:ext cx="99717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1. </a:t>
            </a:r>
            <a:r>
              <a:rPr lang="ko-KR" altLang="en-US"/>
              <a:t>큰 회의실</a:t>
            </a:r>
            <a:r>
              <a:rPr lang="en-US" altLang="ko-KR"/>
              <a:t>, </a:t>
            </a:r>
            <a:r>
              <a:rPr lang="ko-KR" altLang="en-US"/>
              <a:t>포스트잇을 붙일수 있는 큰 종이나 화이트보드 </a:t>
            </a:r>
            <a:r>
              <a:rPr lang="en-US" altLang="ko-KR"/>
              <a:t>, </a:t>
            </a:r>
            <a:r>
              <a:rPr lang="ko-KR" altLang="en-US"/>
              <a:t>포스트잇과 마커펜</a:t>
            </a:r>
            <a:endParaRPr lang="en-US" altLang="ko-KR"/>
          </a:p>
          <a:p>
            <a:r>
              <a:rPr lang="en-US" altLang="ko-KR"/>
              <a:t>2. </a:t>
            </a:r>
            <a:r>
              <a:rPr lang="ko-KR" altLang="en-US"/>
              <a:t>실제 문제 해결에 관련된 모든 사람</a:t>
            </a:r>
            <a:endParaRPr lang="en-US" altLang="ko-KR"/>
          </a:p>
          <a:p>
            <a:r>
              <a:rPr lang="en-US" altLang="ko-KR"/>
              <a:t>3. </a:t>
            </a:r>
            <a:r>
              <a:rPr lang="ko-KR" altLang="en-US"/>
              <a:t>회의 시간이 긺으로 두뇌 회전에 필요한 간식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134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8B9A79-05A0-E06C-70FA-E974B917B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퍼실리테이터</a:t>
            </a:r>
            <a:r>
              <a:rPr lang="en-US" altLang="ko-KR"/>
              <a:t>(</a:t>
            </a:r>
            <a:r>
              <a:rPr lang="ko-KR" altLang="en-US"/>
              <a:t>회의 진행자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CD3C01-DE2C-8E1B-240E-499B8C1B634B}"/>
              </a:ext>
            </a:extLst>
          </p:cNvPr>
          <p:cNvSpPr txBox="1"/>
          <p:nvPr/>
        </p:nvSpPr>
        <p:spPr>
          <a:xfrm>
            <a:off x="1212783" y="1886552"/>
            <a:ext cx="9942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이해 관계자가 아닌 사람이 좋음</a:t>
            </a:r>
            <a:r>
              <a:rPr lang="en-US" altLang="ko-KR"/>
              <a:t>. </a:t>
            </a:r>
            <a:br>
              <a:rPr lang="en-US" altLang="ko-KR"/>
            </a:br>
            <a:r>
              <a:rPr lang="ko-KR" altLang="en-US"/>
              <a:t>도메인 지식을 무시하거나 생각하지 않고 회의의 진행에만 신경쓴다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2426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EE9EB-C54E-7E89-6A67-0A719934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드라이버와 내비게이터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7A6C03-1577-DF8B-801E-AB8976F2DC8E}"/>
              </a:ext>
            </a:extLst>
          </p:cNvPr>
          <p:cNvSpPr txBox="1"/>
          <p:nvPr/>
        </p:nvSpPr>
        <p:spPr>
          <a:xfrm>
            <a:off x="1241659" y="1973179"/>
            <a:ext cx="991402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2</a:t>
            </a:r>
            <a:r>
              <a:rPr lang="ko-KR" altLang="en-US"/>
              <a:t>단계 타임라인 진행시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상황을 잘 알고 있는 사람이나 배워야할 사람이 드라이버를 맡는다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드라이버는 충분히 기여했다고 판단되면 역할을 유동적으로 교체한다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042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C3AEED-68F9-7D5E-C60C-6537CF93E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진행 방법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DCE762-BE60-2E04-BC29-B4CEAA1818CA}"/>
              </a:ext>
            </a:extLst>
          </p:cNvPr>
          <p:cNvSpPr txBox="1"/>
          <p:nvPr/>
        </p:nvSpPr>
        <p:spPr>
          <a:xfrm>
            <a:off x="830981" y="1799749"/>
            <a:ext cx="105300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ko-KR" altLang="en-US" sz="2400"/>
              <a:t>비지니스 프로세스의 이해에 필요한 기능이나 의문점들을 자유롭게 포스트 잇에 적어 벽에 붙인다</a:t>
            </a:r>
            <a:r>
              <a:rPr lang="en-US" altLang="ko-KR" sz="2400"/>
              <a:t>.</a:t>
            </a:r>
            <a:r>
              <a:rPr lang="ko-KR" altLang="en-US" sz="2400"/>
              <a:t> </a:t>
            </a:r>
            <a:endParaRPr lang="en-US" altLang="ko-KR" sz="2400"/>
          </a:p>
          <a:p>
            <a:pPr marL="342900" indent="-342900">
              <a:buFontTx/>
              <a:buChar char="-"/>
            </a:pPr>
            <a:endParaRPr lang="ko-KR" altLang="en-US" sz="24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31F6E0-958C-A73C-94CB-2857C94F9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07" y="2694202"/>
            <a:ext cx="5512570" cy="22820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C6EE4E-3696-78B1-17CE-BC510C31E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72" y="2682360"/>
            <a:ext cx="5848449" cy="228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558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01E375-3CAD-3CB4-CBA6-FDEE82F8A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</a:t>
            </a:r>
            <a:r>
              <a:rPr lang="ko-KR" altLang="en-US"/>
              <a:t>단계 </a:t>
            </a:r>
            <a:r>
              <a:rPr lang="en-US" altLang="ko-KR"/>
              <a:t>: </a:t>
            </a:r>
            <a:r>
              <a:rPr lang="ko-KR" altLang="en-US"/>
              <a:t>탐험 단계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273E3-29F8-79A1-91FF-234F126490EC}"/>
              </a:ext>
            </a:extLst>
          </p:cNvPr>
          <p:cNvSpPr txBox="1"/>
          <p:nvPr/>
        </p:nvSpPr>
        <p:spPr>
          <a:xfrm>
            <a:off x="1241659" y="1848051"/>
            <a:ext cx="991402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각자가 알고있는 도메인 이벤트를 작성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각자가 작성한 이벤트는 볼 수 있지만</a:t>
            </a:r>
            <a:r>
              <a:rPr lang="en-US" altLang="ko-KR" sz="1600"/>
              <a:t>, </a:t>
            </a:r>
            <a:r>
              <a:rPr lang="ko-KR" altLang="en-US" sz="1600"/>
              <a:t>토론은 절때 시작하지 않는다</a:t>
            </a:r>
            <a:r>
              <a:rPr lang="en-US" altLang="ko-KR" sz="1600"/>
              <a:t>.</a:t>
            </a:r>
          </a:p>
          <a:p>
            <a:endParaRPr lang="en-US" altLang="ko-KR" sz="1600"/>
          </a:p>
          <a:p>
            <a:r>
              <a:rPr lang="ko-KR" altLang="en-US" sz="1600"/>
              <a:t>자신이 옳다고 생각하는 방식으로 기록</a:t>
            </a:r>
            <a:endParaRPr lang="en-US" altLang="ko-KR" sz="1600"/>
          </a:p>
          <a:p>
            <a:endParaRPr lang="en-US" altLang="ko-KR" sz="1600"/>
          </a:p>
          <a:p>
            <a:endParaRPr lang="en-US" altLang="ko-KR" sz="1600"/>
          </a:p>
          <a:p>
            <a:r>
              <a:rPr lang="en-US" altLang="ko-KR" sz="1600" b="1">
                <a:solidFill>
                  <a:srgbClr val="FF0000"/>
                </a:solidFill>
              </a:rPr>
              <a:t>※ </a:t>
            </a:r>
            <a:r>
              <a:rPr lang="ko-KR" altLang="en-US" sz="1600" b="1">
                <a:solidFill>
                  <a:srgbClr val="FF0000"/>
                </a:solidFill>
              </a:rPr>
              <a:t>안티 패턴 </a:t>
            </a:r>
            <a:endParaRPr lang="en-US" altLang="ko-KR" sz="1600" b="1">
              <a:solidFill>
                <a:srgbClr val="FF0000"/>
              </a:solidFill>
            </a:endParaRPr>
          </a:p>
          <a:p>
            <a:endParaRPr lang="en-US" altLang="ko-KR" sz="1600" b="1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sz="1600" b="1">
                <a:solidFill>
                  <a:srgbClr val="FF0000"/>
                </a:solidFill>
              </a:rPr>
              <a:t>위원회 </a:t>
            </a:r>
            <a:r>
              <a:rPr lang="en-US" altLang="ko-KR" sz="1600" b="1">
                <a:solidFill>
                  <a:srgbClr val="FF0000"/>
                </a:solidFill>
              </a:rPr>
              <a:t>: </a:t>
            </a:r>
            <a:r>
              <a:rPr lang="ko-KR" altLang="en-US" sz="1600" b="1">
                <a:solidFill>
                  <a:srgbClr val="FF0000"/>
                </a:solidFill>
              </a:rPr>
              <a:t>포스트 잇을 붙이기 전에</a:t>
            </a:r>
            <a:r>
              <a:rPr lang="en-US" altLang="ko-KR" sz="1600" b="1">
                <a:solidFill>
                  <a:srgbClr val="FF0000"/>
                </a:solidFill>
              </a:rPr>
              <a:t>, </a:t>
            </a:r>
            <a:r>
              <a:rPr lang="ko-KR" altLang="en-US" sz="1600" b="1">
                <a:solidFill>
                  <a:srgbClr val="FF0000"/>
                </a:solidFill>
              </a:rPr>
              <a:t>포스트잇에 적어논 정보가 맞는지 확인하고 토론하려는 행위</a:t>
            </a:r>
            <a:r>
              <a:rPr lang="en-US" altLang="ko-KR" sz="1600" b="1">
                <a:solidFill>
                  <a:srgbClr val="FF0000"/>
                </a:solidFill>
              </a:rPr>
              <a:t>.</a:t>
            </a:r>
            <a:endParaRPr lang="ko-KR" altLang="en-US" sz="1600" b="1">
              <a:solidFill>
                <a:srgbClr val="FF000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150A946-1D39-3325-BB67-486B89887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836" y="4361847"/>
            <a:ext cx="4482164" cy="2496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37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7A5FBC-C80B-D9EA-14DB-B7DEC59F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</a:t>
            </a:r>
            <a:r>
              <a:rPr lang="ko-KR" altLang="en-US"/>
              <a:t>단계</a:t>
            </a:r>
            <a:r>
              <a:rPr lang="en-US" altLang="ko-KR"/>
              <a:t>: </a:t>
            </a:r>
            <a:r>
              <a:rPr lang="ko-KR" altLang="en-US"/>
              <a:t>타임라인 적용</a:t>
            </a:r>
            <a:r>
              <a:rPr lang="en-US" altLang="ko-KR"/>
              <a:t>(</a:t>
            </a:r>
            <a:r>
              <a:rPr lang="ko-KR" altLang="en-US"/>
              <a:t>가장 중요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337205-BFA6-3487-8F22-45F37971F1E7}"/>
              </a:ext>
            </a:extLst>
          </p:cNvPr>
          <p:cNvSpPr txBox="1"/>
          <p:nvPr/>
        </p:nvSpPr>
        <p:spPr>
          <a:xfrm>
            <a:off x="808522" y="1982804"/>
            <a:ext cx="107032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(</a:t>
            </a:r>
            <a:r>
              <a:rPr lang="ko-KR" altLang="en-US"/>
              <a:t>가장 오랜 시간이 걸리는 단계</a:t>
            </a:r>
            <a:r>
              <a:rPr lang="en-US" altLang="ko-KR"/>
              <a:t>)</a:t>
            </a:r>
          </a:p>
          <a:p>
            <a:pPr marL="342900" indent="-342900">
              <a:buAutoNum type="arabicPeriod"/>
            </a:pPr>
            <a:r>
              <a:rPr lang="ko-KR" altLang="en-US"/>
              <a:t>모든 도메인 이벤트를 올바른 타임라인으로 정렬 </a:t>
            </a:r>
            <a:r>
              <a:rPr lang="en-US" altLang="ko-KR"/>
              <a:t>( </a:t>
            </a:r>
            <a:r>
              <a:rPr lang="ko-KR" altLang="en-US"/>
              <a:t>중복 이벤트 제거 </a:t>
            </a:r>
            <a:r>
              <a:rPr lang="en-US" altLang="ko-KR"/>
              <a:t>)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도메인 이벤트들의 타임라인은 왼쪽에서 오른쪽으로 진행</a:t>
            </a:r>
            <a:endParaRPr lang="en-US" altLang="ko-KR"/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위 아래로는 평행한 시간 표현</a:t>
            </a:r>
            <a:endParaRPr lang="en-US" altLang="ko-K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E13342-7C35-B836-F59B-620C553B58A1}"/>
              </a:ext>
            </a:extLst>
          </p:cNvPr>
          <p:cNvSpPr txBox="1"/>
          <p:nvPr/>
        </p:nvSpPr>
        <p:spPr>
          <a:xfrm>
            <a:off x="808522" y="4263073"/>
            <a:ext cx="104722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★ 드라이버와 내비게이터 역할군 설정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배워야할 사람이나 이벤트 타임라인에 뼈대를 알고있는사람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(※ </a:t>
            </a:r>
            <a:r>
              <a:rPr lang="ko-KR" altLang="en-US"/>
              <a:t>내비게이터가 배워야할 사람한테 지시를 하여 타임라인을 익히도록 할 수 있다</a:t>
            </a:r>
            <a:r>
              <a:rPr lang="en-US" altLang="ko-KR"/>
              <a:t>.)</a:t>
            </a:r>
            <a:br>
              <a:rPr lang="en-US" altLang="ko-KR"/>
            </a:br>
            <a:r>
              <a:rPr lang="en-US" altLang="ko-KR"/>
              <a:t>(※ </a:t>
            </a:r>
            <a:r>
              <a:rPr lang="ko-KR" altLang="en-US"/>
              <a:t>도메인을 잘 아는 사람이 배워야하는 내비게이터가 지시한 내용에 대해 그렇게 생각한 이유를 역질문 할 수 있다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2C9AD-C6D8-D556-A0ED-013779BBD3B0}"/>
              </a:ext>
            </a:extLst>
          </p:cNvPr>
          <p:cNvSpPr txBox="1"/>
          <p:nvPr/>
        </p:nvSpPr>
        <p:spPr>
          <a:xfrm>
            <a:off x="7151571" y="2675824"/>
            <a:ext cx="465862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/>
              <a:t>안티 패턴</a:t>
            </a:r>
            <a:r>
              <a:rPr lang="en-US" altLang="ko-KR" sz="1600" b="1"/>
              <a:t>: </a:t>
            </a:r>
            <a:br>
              <a:rPr lang="en-US" altLang="ko-KR" sz="1600"/>
            </a:br>
            <a:r>
              <a:rPr lang="en-US" altLang="ko-KR" sz="1600" b="1">
                <a:solidFill>
                  <a:srgbClr val="FF0000"/>
                </a:solidFill>
              </a:rPr>
              <a:t>- </a:t>
            </a:r>
            <a:r>
              <a:rPr lang="ko-KR" altLang="en-US" sz="1600" b="1">
                <a:solidFill>
                  <a:srgbClr val="FF0000"/>
                </a:solidFill>
              </a:rPr>
              <a:t>스포츠카 </a:t>
            </a:r>
            <a:r>
              <a:rPr lang="en-US" altLang="ko-KR" sz="1600" b="1">
                <a:solidFill>
                  <a:srgbClr val="FF0000"/>
                </a:solidFill>
              </a:rPr>
              <a:t>: </a:t>
            </a:r>
            <a:r>
              <a:rPr lang="ko-KR" altLang="en-US" sz="1600" b="1">
                <a:solidFill>
                  <a:srgbClr val="FF0000"/>
                </a:solidFill>
              </a:rPr>
              <a:t>드라이버가 아닌데 진행 단계를 잘 알고있어서 혼자 정리하는 경우</a:t>
            </a:r>
            <a:endParaRPr lang="en-US" altLang="ko-KR" sz="1600" b="1">
              <a:solidFill>
                <a:srgbClr val="FF0000"/>
              </a:solidFill>
            </a:endParaRPr>
          </a:p>
          <a:p>
            <a:br>
              <a:rPr lang="en-US" altLang="ko-KR" sz="1600" b="1">
                <a:solidFill>
                  <a:srgbClr val="FF0000"/>
                </a:solidFill>
              </a:rPr>
            </a:br>
            <a:r>
              <a:rPr lang="en-US" altLang="ko-KR" sz="1600" b="1">
                <a:solidFill>
                  <a:srgbClr val="FF0000"/>
                </a:solidFill>
              </a:rPr>
              <a:t>- </a:t>
            </a:r>
            <a:r>
              <a:rPr lang="ko-KR" altLang="en-US" sz="1600" b="1">
                <a:solidFill>
                  <a:srgbClr val="FF0000"/>
                </a:solidFill>
              </a:rPr>
              <a:t>자율 주행</a:t>
            </a:r>
            <a:r>
              <a:rPr lang="en-US" altLang="ko-KR" sz="1600" b="1">
                <a:solidFill>
                  <a:srgbClr val="FF0000"/>
                </a:solidFill>
              </a:rPr>
              <a:t>: </a:t>
            </a:r>
            <a:r>
              <a:rPr lang="ko-KR" altLang="en-US" sz="1600" b="1">
                <a:solidFill>
                  <a:srgbClr val="FF0000"/>
                </a:solidFill>
              </a:rPr>
              <a:t>드라이버가 내비게이터에게 묻지 않고 혼자 정리하고 있는 경우</a:t>
            </a:r>
            <a:endParaRPr lang="en-US" altLang="ko-KR" sz="1600" b="1">
              <a:solidFill>
                <a:srgbClr val="FF0000"/>
              </a:solidFill>
            </a:endParaRPr>
          </a:p>
          <a:p>
            <a:endParaRPr lang="en-US" altLang="ko-KR" sz="1600" b="1">
              <a:solidFill>
                <a:srgbClr val="FF0000"/>
              </a:solidFill>
            </a:endParaRPr>
          </a:p>
          <a:p>
            <a:r>
              <a:rPr lang="en-US" altLang="ko-KR" sz="1600" b="1">
                <a:solidFill>
                  <a:srgbClr val="FF0000"/>
                </a:solidFill>
              </a:rPr>
              <a:t>- </a:t>
            </a:r>
            <a:r>
              <a:rPr lang="ko-KR" altLang="en-US" sz="1600" b="1">
                <a:solidFill>
                  <a:srgbClr val="FF0000"/>
                </a:solidFill>
              </a:rPr>
              <a:t>스포일러 </a:t>
            </a:r>
            <a:r>
              <a:rPr lang="en-US" altLang="ko-KR" sz="1600" b="1">
                <a:solidFill>
                  <a:srgbClr val="FF0000"/>
                </a:solidFill>
              </a:rPr>
              <a:t>: </a:t>
            </a:r>
            <a:r>
              <a:rPr lang="ko-KR" altLang="en-US" sz="1600" b="1">
                <a:solidFill>
                  <a:srgbClr val="FF0000"/>
                </a:solidFill>
              </a:rPr>
              <a:t>내 머릿속에 분명한 로직이있는데 탐구할 가치가 없다는 마인드로 문서를 던져주는 비협조적 인원</a:t>
            </a:r>
          </a:p>
        </p:txBody>
      </p:sp>
    </p:spTree>
    <p:extLst>
      <p:ext uri="{BB962C8B-B14F-4D97-AF65-F5344CB8AC3E}">
        <p14:creationId xmlns:p14="http://schemas.microsoft.com/office/powerpoint/2010/main" val="3537633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DC7168-797E-815A-90A1-33BC4781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핫 스폿 </a:t>
            </a:r>
            <a:r>
              <a:rPr lang="en-US" altLang="ko-KR"/>
              <a:t>- </a:t>
            </a:r>
            <a:r>
              <a:rPr lang="ko-KR" altLang="en-US">
                <a:solidFill>
                  <a:srgbClr val="F71163"/>
                </a:solidFill>
              </a:rPr>
              <a:t>자주색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BE49F-C16F-E894-3140-507793A27646}"/>
              </a:ext>
            </a:extLst>
          </p:cNvPr>
          <p:cNvSpPr txBox="1"/>
          <p:nvPr/>
        </p:nvSpPr>
        <p:spPr>
          <a:xfrm>
            <a:off x="1183907" y="1953928"/>
            <a:ext cx="1005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/>
              <a:t>2</a:t>
            </a:r>
            <a:r>
              <a:rPr lang="ko-KR" altLang="en-US"/>
              <a:t>단계에서 발생한 질문</a:t>
            </a:r>
            <a:r>
              <a:rPr lang="en-US" altLang="ko-KR"/>
              <a:t>, </a:t>
            </a:r>
            <a:r>
              <a:rPr lang="ko-KR" altLang="en-US"/>
              <a:t>갈등</a:t>
            </a:r>
            <a:r>
              <a:rPr lang="en-US" altLang="ko-KR"/>
              <a:t>, </a:t>
            </a:r>
            <a:r>
              <a:rPr lang="ko-KR" altLang="en-US"/>
              <a:t>불평</a:t>
            </a:r>
            <a:r>
              <a:rPr lang="en-US" altLang="ko-KR"/>
              <a:t>, </a:t>
            </a:r>
            <a:r>
              <a:rPr lang="ko-KR" altLang="en-US"/>
              <a:t>불만 사항을 시각화한다</a:t>
            </a:r>
            <a:r>
              <a:rPr lang="en-US" altLang="ko-KR"/>
              <a:t>.</a:t>
            </a:r>
          </a:p>
          <a:p>
            <a:pPr marL="342900" indent="-342900">
              <a:buAutoNum type="arabicPeriod"/>
            </a:pP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당장 토론하지 않는다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537FA43-A912-0588-1047-764F3472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659" y="3070588"/>
            <a:ext cx="5871708" cy="361007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31B04B-894A-B781-549F-CF0C197F1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06" y="3070588"/>
            <a:ext cx="5515276" cy="363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523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00020-1DBE-4EC2-DD44-504282CC5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액터</a:t>
            </a:r>
            <a:r>
              <a:rPr lang="en-US" altLang="ko-KR"/>
              <a:t>(</a:t>
            </a:r>
            <a:r>
              <a:rPr lang="ko-KR" altLang="en-US">
                <a:solidFill>
                  <a:srgbClr val="FFC000"/>
                </a:solidFill>
              </a:rPr>
              <a:t>노란색</a:t>
            </a:r>
            <a:r>
              <a:rPr lang="en-US" altLang="ko-KR"/>
              <a:t>) </a:t>
            </a:r>
            <a:r>
              <a:rPr lang="ko-KR" altLang="en-US"/>
              <a:t>와 시스템</a:t>
            </a:r>
            <a:r>
              <a:rPr lang="en-US" altLang="ko-KR"/>
              <a:t>(</a:t>
            </a:r>
            <a:r>
              <a:rPr lang="ko-KR" altLang="en-US">
                <a:solidFill>
                  <a:srgbClr val="FA40D2"/>
                </a:solidFill>
              </a:rPr>
              <a:t>분홍색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125A94-DBE5-58A0-7CF0-E9C677A2FF10}"/>
              </a:ext>
            </a:extLst>
          </p:cNvPr>
          <p:cNvSpPr txBox="1"/>
          <p:nvPr/>
        </p:nvSpPr>
        <p:spPr>
          <a:xfrm>
            <a:off x="1097280" y="1992429"/>
            <a:ext cx="1005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C000"/>
                </a:solidFill>
              </a:rPr>
              <a:t>액터</a:t>
            </a:r>
            <a:r>
              <a:rPr lang="ko-KR" altLang="en-US"/>
              <a:t>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en-US" altLang="ko-KR"/>
              <a:t>"</a:t>
            </a:r>
            <a:r>
              <a:rPr lang="ko-KR" altLang="en-US"/>
              <a:t>사용자</a:t>
            </a:r>
            <a:r>
              <a:rPr lang="en-US" altLang="ko-KR"/>
              <a:t>"</a:t>
            </a:r>
            <a:r>
              <a:rPr lang="ko-KR" altLang="en-US"/>
              <a:t> 또는 </a:t>
            </a:r>
            <a:r>
              <a:rPr lang="en-US" altLang="ko-KR"/>
              <a:t>"</a:t>
            </a:r>
            <a:r>
              <a:rPr lang="ko-KR" altLang="en-US"/>
              <a:t>고객</a:t>
            </a:r>
            <a:r>
              <a:rPr lang="en-US" altLang="ko-KR"/>
              <a:t>" </a:t>
            </a:r>
            <a:r>
              <a:rPr lang="ko-KR" altLang="en-US"/>
              <a:t>보다는 개발하려는 시스템에 맞는 구체적인 페르소나 설정</a:t>
            </a:r>
            <a:endParaRPr lang="en-US" altLang="ko-KR"/>
          </a:p>
          <a:p>
            <a:endParaRPr lang="en-US" altLang="ko-KR" b="1"/>
          </a:p>
          <a:p>
            <a:r>
              <a:rPr lang="ko-KR" altLang="en-US" b="1">
                <a:solidFill>
                  <a:srgbClr val="FA40D2"/>
                </a:solidFill>
              </a:rPr>
              <a:t>시스템</a:t>
            </a:r>
            <a:r>
              <a:rPr lang="ko-KR" altLang="en-US" b="1"/>
              <a:t> </a:t>
            </a:r>
            <a:r>
              <a:rPr lang="en-US" altLang="ko-KR">
                <a:sym typeface="Wingdings" panose="05000000000000000000" pitchFamily="2" charset="2"/>
              </a:rPr>
              <a:t> </a:t>
            </a:r>
            <a:r>
              <a:rPr lang="ko-KR" altLang="en-US">
                <a:sym typeface="Wingdings" panose="05000000000000000000" pitchFamily="2" charset="2"/>
              </a:rPr>
              <a:t>외부 시스템을 말함</a:t>
            </a:r>
            <a:r>
              <a:rPr lang="en-US" altLang="ko-KR">
                <a:sym typeface="Wingdings" panose="05000000000000000000" pitchFamily="2" charset="2"/>
              </a:rPr>
              <a:t>. </a:t>
            </a:r>
            <a:r>
              <a:rPr lang="ko-KR" altLang="en-US">
                <a:sym typeface="Wingdings" panose="05000000000000000000" pitchFamily="2" charset="2"/>
              </a:rPr>
              <a:t>개발하려는 시스템에서 책임을 전가할 수 있는 시스템</a:t>
            </a:r>
            <a:r>
              <a:rPr lang="en-US" altLang="ko-KR">
                <a:sym typeface="Wingdings" panose="05000000000000000000" pitchFamily="2" charset="2"/>
              </a:rPr>
              <a:t>.</a:t>
            </a:r>
            <a:br>
              <a:rPr lang="en-US" altLang="ko-KR">
                <a:sym typeface="Wingdings" panose="05000000000000000000" pitchFamily="2" charset="2"/>
              </a:rPr>
            </a:br>
            <a:r>
              <a:rPr lang="en-US" altLang="ko-KR">
                <a:sym typeface="Wingdings" panose="05000000000000000000" pitchFamily="2" charset="2"/>
              </a:rPr>
              <a:t>                   (ex: </a:t>
            </a:r>
            <a:r>
              <a:rPr lang="ko-KR" altLang="en-US">
                <a:sym typeface="Wingdings" panose="05000000000000000000" pitchFamily="2" charset="2"/>
              </a:rPr>
              <a:t>토스페이먼츠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17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36A43-4BBE-15F7-1F1E-0B1D8F49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바운디드 컨텍스트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372FE1E-4501-D07F-01E2-0F8231EB1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5684" y="1968693"/>
            <a:ext cx="8375827" cy="474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076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81BD8C-362D-60ED-76FA-261B36F9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도메인이 발생하는 원인 </a:t>
            </a:r>
            <a:r>
              <a:rPr lang="ko-KR" altLang="en-US" sz="4000">
                <a:solidFill>
                  <a:srgbClr val="0070C0"/>
                </a:solidFill>
              </a:rPr>
              <a:t>액션</a:t>
            </a:r>
            <a:r>
              <a:rPr lang="en-US" altLang="ko-KR" sz="4000">
                <a:solidFill>
                  <a:srgbClr val="0070C0"/>
                </a:solidFill>
              </a:rPr>
              <a:t>(=</a:t>
            </a:r>
            <a:r>
              <a:rPr lang="ko-KR" altLang="en-US" sz="4000">
                <a:solidFill>
                  <a:srgbClr val="0070C0"/>
                </a:solidFill>
              </a:rPr>
              <a:t>커맨드</a:t>
            </a:r>
            <a:r>
              <a:rPr lang="en-US" altLang="ko-KR" sz="4000">
                <a:solidFill>
                  <a:srgbClr val="0070C0"/>
                </a:solidFill>
              </a:rPr>
              <a:t>)</a:t>
            </a:r>
            <a:endParaRPr lang="ko-KR" altLang="en-US" sz="4000">
              <a:solidFill>
                <a:srgbClr val="0070C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086EB-B5B8-98F6-6858-2C451096F889}"/>
              </a:ext>
            </a:extLst>
          </p:cNvPr>
          <p:cNvSpPr txBox="1"/>
          <p:nvPr/>
        </p:nvSpPr>
        <p:spPr>
          <a:xfrm>
            <a:off x="1164657" y="1896177"/>
            <a:ext cx="99910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시스템에서 일어나는 일</a:t>
            </a:r>
            <a:r>
              <a:rPr lang="en-US" altLang="ko-KR"/>
              <a:t>.</a:t>
            </a:r>
          </a:p>
          <a:p>
            <a:r>
              <a:rPr lang="ko-KR" altLang="en-US"/>
              <a:t>도메인 이벤트가 발생되는 원인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en-US" altLang="ko-KR"/>
              <a:t>(ex: API, Event)</a:t>
            </a:r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F3E570-EEDF-D617-4FD6-43200B1B2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134" y="2772464"/>
            <a:ext cx="5650003" cy="31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37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244D0F-3EED-511B-66F8-636F5FF98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>
                <a:solidFill>
                  <a:srgbClr val="0070C0"/>
                </a:solidFill>
              </a:rPr>
              <a:t>액션</a:t>
            </a:r>
            <a:r>
              <a:rPr lang="ko-KR" altLang="en-US" sz="4400">
                <a:solidFill>
                  <a:schemeClr val="tx1"/>
                </a:solidFill>
              </a:rPr>
              <a:t>을 일으키기 위한 </a:t>
            </a:r>
            <a:r>
              <a:rPr lang="ko-KR" altLang="en-US" sz="4400">
                <a:solidFill>
                  <a:srgbClr val="00B050"/>
                </a:solidFill>
              </a:rPr>
              <a:t>정보</a:t>
            </a:r>
            <a:r>
              <a:rPr lang="en-US" altLang="ko-KR" sz="4400">
                <a:solidFill>
                  <a:schemeClr val="tx1"/>
                </a:solidFill>
              </a:rPr>
              <a:t>(=</a:t>
            </a:r>
            <a:r>
              <a:rPr lang="ko-KR" altLang="en-US" sz="4400">
                <a:solidFill>
                  <a:srgbClr val="00B050"/>
                </a:solidFill>
              </a:rPr>
              <a:t>리드모델</a:t>
            </a:r>
            <a:r>
              <a:rPr lang="en-US" altLang="ko-KR" sz="4400">
                <a:solidFill>
                  <a:schemeClr val="tx1"/>
                </a:solidFill>
              </a:rPr>
              <a:t>)</a:t>
            </a:r>
            <a:r>
              <a:rPr lang="ko-KR" altLang="en-US" sz="4400">
                <a:solidFill>
                  <a:schemeClr val="tx1"/>
                </a:solidFill>
              </a:rPr>
              <a:t> </a:t>
            </a:r>
            <a:endParaRPr lang="ko-KR" altLang="en-US" sz="4400">
              <a:solidFill>
                <a:srgbClr val="0070C0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439D5DE-0779-4378-0171-4A189E265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6802" y="1966197"/>
            <a:ext cx="8098396" cy="477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467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DD78E-0007-59B8-D4FD-F4B6E727A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solidFill>
                  <a:srgbClr val="C20AB9"/>
                </a:solidFill>
              </a:rPr>
              <a:t>정책</a:t>
            </a:r>
            <a:r>
              <a:rPr lang="en-US" altLang="ko-KR">
                <a:solidFill>
                  <a:srgbClr val="C20AB9"/>
                </a:solidFill>
              </a:rPr>
              <a:t>(</a:t>
            </a:r>
            <a:r>
              <a:rPr lang="ko-KR" altLang="en-US">
                <a:solidFill>
                  <a:srgbClr val="C20AB9"/>
                </a:solidFill>
              </a:rPr>
              <a:t>연보라색</a:t>
            </a:r>
            <a:r>
              <a:rPr lang="en-US" altLang="ko-KR">
                <a:solidFill>
                  <a:srgbClr val="C20AB9"/>
                </a:solidFill>
              </a:rPr>
              <a:t>)</a:t>
            </a:r>
            <a:endParaRPr lang="ko-KR" altLang="en-US">
              <a:solidFill>
                <a:srgbClr val="C20AB9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569838B-A5A3-3C4E-3F0A-7C82589B5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9314" y="2010669"/>
            <a:ext cx="8168168" cy="468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556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081F4-BAB2-A6DB-8764-51CC0DF91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비지니스 규칙</a:t>
            </a:r>
            <a:r>
              <a:rPr lang="en-US" altLang="ko-KR"/>
              <a:t>(</a:t>
            </a:r>
            <a:r>
              <a:rPr lang="ko-KR" altLang="en-US"/>
              <a:t>연노랑색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14ADB9-2BFB-0FF9-3F8E-1D463C6B56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195" y="1963173"/>
            <a:ext cx="7242572" cy="48948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36A76F-C4DD-1CCD-CEA2-9504E7D04140}"/>
              </a:ext>
            </a:extLst>
          </p:cNvPr>
          <p:cNvSpPr txBox="1"/>
          <p:nvPr/>
        </p:nvSpPr>
        <p:spPr>
          <a:xfrm>
            <a:off x="144379" y="1867301"/>
            <a:ext cx="23485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※ </a:t>
            </a:r>
            <a:r>
              <a:rPr lang="ko-KR" altLang="en-US" sz="1200"/>
              <a:t>글씨 잘 안보여 색상 안넣음</a:t>
            </a:r>
          </a:p>
        </p:txBody>
      </p:sp>
    </p:spTree>
    <p:extLst>
      <p:ext uri="{BB962C8B-B14F-4D97-AF65-F5344CB8AC3E}">
        <p14:creationId xmlns:p14="http://schemas.microsoft.com/office/powerpoint/2010/main" val="1037966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9AB704-8036-CFBF-40D6-7F5FD4A19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결과물의 유지 관리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A58222C-8AE7-9C15-8013-71B7922A6E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446"/>
          <a:stretch>
            <a:fillRect/>
          </a:stretch>
        </p:blipFill>
        <p:spPr>
          <a:xfrm>
            <a:off x="235017" y="1942323"/>
            <a:ext cx="11721966" cy="2937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250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57EDE02-5123-475C-CB29-1BCC053A78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533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56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0AA37-B192-FC32-CB6A-63D8E675A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8237F1F-17A1-6C03-77D7-8761AB36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0" y="0"/>
            <a:ext cx="120919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037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A4638-8AD7-7D6C-5083-670C23AB0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54F0D69-6AB7-2AC3-E787-FCFCC2E07F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997"/>
            <a:ext cx="12192000" cy="67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83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BC14EC-5E5F-87A8-126D-73C1016DC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76AD00-AB3A-86CA-E916-9C0873CE6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1" y="0"/>
            <a:ext cx="121525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9702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77A0BE-B83F-AA58-CB29-CCF86BFC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6DB641-387B-014E-2258-FEF1F056F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406"/>
            <a:ext cx="12192000" cy="680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1308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8C2091-90DB-C912-7285-13144B0E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BE86B88-A215-B48B-7B12-1E11D08AA2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4" y="0"/>
            <a:ext cx="120909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82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0068D-4E69-DF62-D7E1-98D628BD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이벤트 스토밍 보드 읽는 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442204-055D-813E-30FE-C8CEBAD56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011"/>
          <a:stretch>
            <a:fillRect/>
          </a:stretch>
        </p:blipFill>
        <p:spPr>
          <a:xfrm>
            <a:off x="1066800" y="1876926"/>
            <a:ext cx="10058400" cy="381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9482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07C566-79AA-CC4E-4783-4E5C652B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2CC662C-5A77-5FE6-E97D-09574BA62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49"/>
            <a:ext cx="12192000" cy="684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306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DDE7A8-E73D-61EC-5ADE-30AEAB169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184FD55-C5F5-E9C4-4118-613D57A76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033"/>
            <a:ext cx="12192000" cy="6755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26282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205</TotalTime>
  <Words>417</Words>
  <Application>Microsoft Office PowerPoint</Application>
  <PresentationFormat>와이드스크린</PresentationFormat>
  <Paragraphs>68</Paragraphs>
  <Slides>25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25</vt:i4>
      </vt:variant>
    </vt:vector>
  </HeadingPairs>
  <TitlesOfParts>
    <vt:vector size="29" baseType="lpstr">
      <vt:lpstr>Calibri</vt:lpstr>
      <vt:lpstr>Calibri Light</vt:lpstr>
      <vt:lpstr>Wingdings</vt:lpstr>
      <vt:lpstr>추억</vt:lpstr>
      <vt:lpstr>이벤트 스토밍</vt:lpstr>
      <vt:lpstr>이벤트 스토밍의 특징</vt:lpstr>
      <vt:lpstr>오프라인 준비물</vt:lpstr>
      <vt:lpstr>퍼실리테이터(회의 진행자)</vt:lpstr>
      <vt:lpstr>드라이버와 내비게이터</vt:lpstr>
      <vt:lpstr>진행 방법</vt:lpstr>
      <vt:lpstr>1단계 : 탐험 단계</vt:lpstr>
      <vt:lpstr>2단계: 타임라인 적용(가장 중요)</vt:lpstr>
      <vt:lpstr>핫 스폿 - 자주색</vt:lpstr>
      <vt:lpstr>액터(노란색) 와 시스템(분홍색)</vt:lpstr>
      <vt:lpstr>바운디드 컨텍스트</vt:lpstr>
      <vt:lpstr>도메인이 발생하는 원인 액션(=커맨드)</vt:lpstr>
      <vt:lpstr>액션을 일으키기 위한 정보(=리드모델) </vt:lpstr>
      <vt:lpstr>정책(연보라색)</vt:lpstr>
      <vt:lpstr>비지니스 규칙(연노랑색)</vt:lpstr>
      <vt:lpstr>결과물의 유지 관리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이벤트 스토밍 보드 읽는 법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33</cp:revision>
  <dcterms:created xsi:type="dcterms:W3CDTF">2026-10-01T09:54:02Z</dcterms:created>
  <dcterms:modified xsi:type="dcterms:W3CDTF">2026-10-01T13:19:27Z</dcterms:modified>
</cp:coreProperties>
</file>