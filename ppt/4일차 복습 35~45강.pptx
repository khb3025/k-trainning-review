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76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275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A286-C23B-4DDC-88AB-B733D4A03A62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42197-B26A-405A-B69D-8B75F18DE642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7381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A286-C23B-4DDC-88AB-B733D4A03A62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42197-B26A-405A-B69D-8B75F18DE6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3172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A286-C23B-4DDC-88AB-B733D4A03A62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42197-B26A-405A-B69D-8B75F18DE642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5624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A286-C23B-4DDC-88AB-B733D4A03A62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42197-B26A-405A-B69D-8B75F18DE6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3621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A286-C23B-4DDC-88AB-B733D4A03A62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42197-B26A-405A-B69D-8B75F18DE6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8867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A286-C23B-4DDC-88AB-B733D4A03A62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42197-B26A-405A-B69D-8B75F18DE6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1547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A286-C23B-4DDC-88AB-B733D4A03A62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42197-B26A-405A-B69D-8B75F18DE6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428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211A286-C23B-4DDC-88AB-B733D4A03A62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8642197-B26A-405A-B69D-8B75F18DE6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1924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A286-C23B-4DDC-88AB-B733D4A03A62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42197-B26A-405A-B69D-8B75F18DE6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9311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A286-C23B-4DDC-88AB-B733D4A03A62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42197-B26A-405A-B69D-8B75F18DE6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3386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1A286-C23B-4DDC-88AB-B733D4A03A62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642197-B26A-405A-B69D-8B75F18DE6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2828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211A286-C23B-4DDC-88AB-B733D4A03A62}" type="datetimeFigureOut">
              <a:rPr lang="ko-KR" altLang="en-US" smtClean="0"/>
              <a:t>2026-09-22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8642197-B26A-405A-B69D-8B75F18DE642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1089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12887B-C540-8C50-2DA9-E0CA8C5F3E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/>
              <a:t>4</a:t>
            </a:r>
            <a:r>
              <a:rPr lang="ko-KR" altLang="en-US"/>
              <a:t>일차 복습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7A25E15-CDA1-8DAE-3396-3CA8697FF5E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7095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1CAF4C-56FF-F74B-4B0A-9888ECBF3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36</a:t>
            </a:r>
            <a:r>
              <a:rPr lang="ko-KR" altLang="en-US"/>
              <a:t>강 내용 분석 전 </a:t>
            </a:r>
            <a:r>
              <a:rPr lang="en-US" altLang="ko-KR"/>
              <a:t>35</a:t>
            </a:r>
            <a:r>
              <a:rPr lang="ko-KR" altLang="en-US"/>
              <a:t>강 내용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31C4F0DE-744E-0D0D-864B-D773BB98B157}"/>
              </a:ext>
            </a:extLst>
          </p:cNvPr>
          <p:cNvSpPr/>
          <p:nvPr/>
        </p:nvSpPr>
        <p:spPr>
          <a:xfrm>
            <a:off x="3921418" y="1763386"/>
            <a:ext cx="2796988" cy="5770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2. order.requestPayment(pgPaymentAmount)</a:t>
            </a:r>
            <a:endParaRPr lang="ko-KR" altLang="en-US" sz="110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BCDBFB-F6BA-BAFB-65AA-364E5ADECDD2}"/>
              </a:ext>
            </a:extLst>
          </p:cNvPr>
          <p:cNvSpPr txBox="1"/>
          <p:nvPr/>
        </p:nvSpPr>
        <p:spPr>
          <a:xfrm>
            <a:off x="5724605" y="161365"/>
            <a:ext cx="64084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용어 정리 </a:t>
            </a:r>
            <a:r>
              <a:rPr lang="en-US" altLang="ko-KR" sz="1200"/>
              <a:t>:</a:t>
            </a:r>
          </a:p>
          <a:p>
            <a:r>
              <a:rPr lang="en-US" altLang="ko-KR" sz="1200"/>
              <a:t>pgPaymentAmount </a:t>
            </a:r>
            <a:r>
              <a:rPr lang="en-US" altLang="ko-KR" sz="1200">
                <a:sym typeface="Wingdings" panose="05000000000000000000" pitchFamily="2" charset="2"/>
              </a:rPr>
              <a:t> Wallet</a:t>
            </a:r>
            <a:r>
              <a:rPr lang="ko-KR" altLang="en-US" sz="1200">
                <a:sym typeface="Wingdings" panose="05000000000000000000" pitchFamily="2" charset="2"/>
              </a:rPr>
              <a:t>내 </a:t>
            </a:r>
            <a:r>
              <a:rPr lang="en-US" altLang="ko-KR" sz="1200">
                <a:sym typeface="Wingdings" panose="05000000000000000000" pitchFamily="2" charset="2"/>
              </a:rPr>
              <a:t>balance(</a:t>
            </a:r>
            <a:r>
              <a:rPr lang="ko-KR" altLang="en-US" sz="1200">
                <a:sym typeface="Wingdings" panose="05000000000000000000" pitchFamily="2" charset="2"/>
              </a:rPr>
              <a:t>잔액</a:t>
            </a:r>
            <a:r>
              <a:rPr lang="en-US" altLang="ko-KR" sz="1200">
                <a:sym typeface="Wingdings" panose="05000000000000000000" pitchFamily="2" charset="2"/>
              </a:rPr>
              <a:t>)</a:t>
            </a:r>
            <a:r>
              <a:rPr lang="ko-KR" altLang="en-US" sz="1200">
                <a:sym typeface="Wingdings" panose="05000000000000000000" pitchFamily="2" charset="2"/>
              </a:rPr>
              <a:t>충전 금액 </a:t>
            </a:r>
            <a:r>
              <a:rPr lang="en-US" altLang="ko-KR" sz="1200">
                <a:sym typeface="Wingdings" panose="05000000000000000000" pitchFamily="2" charset="2"/>
              </a:rPr>
              <a:t>[1. </a:t>
            </a:r>
            <a:r>
              <a:rPr lang="ko-KR" altLang="en-US" sz="1200">
                <a:sym typeface="Wingdings" panose="05000000000000000000" pitchFamily="2" charset="2"/>
              </a:rPr>
              <a:t>주문과 동시에 잔액 충전금 전달</a:t>
            </a:r>
            <a:r>
              <a:rPr lang="en-US" altLang="ko-KR" sz="1200">
                <a:sym typeface="Wingdings" panose="05000000000000000000" pitchFamily="2" charset="2"/>
              </a:rPr>
              <a:t>]</a:t>
            </a:r>
            <a:r>
              <a:rPr lang="ko-KR" altLang="en-US" sz="1200">
                <a:sym typeface="Wingdings" panose="05000000000000000000" pitchFamily="2" charset="2"/>
              </a:rPr>
              <a:t> </a:t>
            </a:r>
            <a:endParaRPr lang="ko-KR" altLang="en-US" sz="120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0E5E820-9122-0ABD-E11D-C11C8723B39B}"/>
              </a:ext>
            </a:extLst>
          </p:cNvPr>
          <p:cNvSpPr/>
          <p:nvPr/>
        </p:nvSpPr>
        <p:spPr>
          <a:xfrm>
            <a:off x="7315200" y="1763385"/>
            <a:ext cx="4026434" cy="5770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100"/>
              <a:t>3. cashListener.handle(MarketOrderPaymentRequestedEvent event)</a:t>
            </a:r>
            <a:endParaRPr lang="ko-KR" altLang="en-US" sz="1100"/>
          </a:p>
        </p:txBody>
      </p: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EC67DA79-19E1-804F-B3D4-733A07126DC4}"/>
              </a:ext>
            </a:extLst>
          </p:cNvPr>
          <p:cNvGrpSpPr/>
          <p:nvPr/>
        </p:nvGrpSpPr>
        <p:grpSpPr>
          <a:xfrm>
            <a:off x="645459" y="1875195"/>
            <a:ext cx="11487629" cy="5143131"/>
            <a:chOff x="645459" y="1875195"/>
            <a:chExt cx="11487629" cy="5143131"/>
          </a:xfrm>
        </p:grpSpPr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ED8E8A79-26B0-4F7E-5C1D-8CD602C1F103}"/>
                </a:ext>
              </a:extLst>
            </p:cNvPr>
            <p:cNvGrpSpPr/>
            <p:nvPr/>
          </p:nvGrpSpPr>
          <p:grpSpPr>
            <a:xfrm>
              <a:off x="1206393" y="1875195"/>
              <a:ext cx="2174583" cy="768963"/>
              <a:chOff x="1206393" y="1875195"/>
              <a:chExt cx="2174583" cy="768963"/>
            </a:xfrm>
          </p:grpSpPr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67B6BFED-5043-ED36-1D75-1C39ADC7E65F}"/>
                  </a:ext>
                </a:extLst>
              </p:cNvPr>
              <p:cNvSpPr/>
              <p:nvPr/>
            </p:nvSpPr>
            <p:spPr>
              <a:xfrm>
                <a:off x="1206393" y="1875195"/>
                <a:ext cx="2174582" cy="353465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/>
                  <a:t>1.MarketFacade.requestPayment</a:t>
                </a:r>
                <a:endParaRPr lang="ko-KR" altLang="en-US" sz="1100"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3E996ED-9330-1794-4AF6-2FAA5101C3D6}"/>
                  </a:ext>
                </a:extLst>
              </p:cNvPr>
              <p:cNvSpPr txBox="1"/>
              <p:nvPr/>
            </p:nvSpPr>
            <p:spPr>
              <a:xfrm>
                <a:off x="1206394" y="2228660"/>
                <a:ext cx="2174582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050"/>
                  <a:t>주문 결제 요청 시작 </a:t>
                </a:r>
                <a:br>
                  <a:rPr lang="en-US" altLang="ko-KR" sz="1050"/>
                </a:br>
                <a:r>
                  <a:rPr lang="en-US" altLang="ko-KR" sz="1050"/>
                  <a:t>(Order, pgPaymentAmount)</a:t>
                </a:r>
                <a:r>
                  <a:rPr lang="ko-KR" altLang="en-US" sz="1050"/>
                  <a:t>전달</a:t>
                </a:r>
              </a:p>
            </p:txBody>
          </p:sp>
        </p:grp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3BB6B42A-C6AD-F1A5-FEE7-83D3607054C2}"/>
                </a:ext>
              </a:extLst>
            </p:cNvPr>
            <p:cNvCxnSpPr>
              <a:cxnSpLocks/>
              <a:stCxn id="39" idx="3"/>
              <a:endCxn id="21" idx="1"/>
            </p:cNvCxnSpPr>
            <p:nvPr/>
          </p:nvCxnSpPr>
          <p:spPr>
            <a:xfrm flipV="1">
              <a:off x="3380975" y="2051927"/>
              <a:ext cx="54044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65657D9E-5C97-9FE4-AB08-2BFD64572C56}"/>
                </a:ext>
              </a:extLst>
            </p:cNvPr>
            <p:cNvSpPr txBox="1"/>
            <p:nvPr/>
          </p:nvSpPr>
          <p:spPr>
            <a:xfrm>
              <a:off x="3921418" y="2366493"/>
              <a:ext cx="279698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50"/>
                <a:t>order. requestPayment </a:t>
              </a:r>
              <a:r>
                <a:rPr lang="ko-KR" altLang="en-US" sz="1050"/>
                <a:t>에선</a:t>
              </a:r>
              <a:endParaRPr lang="en-US" altLang="ko-KR" sz="1050"/>
            </a:p>
            <a:p>
              <a:r>
                <a:rPr lang="ko-KR" altLang="en-US" sz="1050"/>
                <a:t>자신과 </a:t>
              </a:r>
              <a:r>
                <a:rPr lang="en-US" altLang="ko-KR" sz="1050"/>
                <a:t>pgPaymentAmount</a:t>
              </a:r>
              <a:r>
                <a:rPr lang="ko-KR" altLang="en-US" sz="1050"/>
                <a:t>를 조합하여</a:t>
              </a:r>
              <a:br>
                <a:rPr lang="en-US" altLang="ko-KR" sz="1050"/>
              </a:br>
              <a:r>
                <a:rPr lang="en-US" altLang="ko-KR" sz="1050"/>
                <a:t>MarketOrderPaymentRequestedEvent </a:t>
              </a:r>
              <a:br>
                <a:rPr lang="en-US" altLang="ko-KR" sz="1050"/>
              </a:br>
              <a:r>
                <a:rPr lang="en-US" altLang="ko-KR" sz="1050"/>
                <a:t>(</a:t>
              </a:r>
              <a:r>
                <a:rPr lang="ko-KR" altLang="en-US" sz="1050"/>
                <a:t>마켓주문 결제요청 이벤트</a:t>
              </a:r>
              <a:r>
                <a:rPr lang="en-US" altLang="ko-KR" sz="1050"/>
                <a:t>) </a:t>
              </a:r>
              <a:r>
                <a:rPr lang="ko-KR" altLang="en-US" sz="1050"/>
                <a:t>발행 </a:t>
              </a:r>
            </a:p>
          </p:txBody>
        </p: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FBDFA908-2A0B-9520-8EB8-B85A661D255A}"/>
                </a:ext>
              </a:extLst>
            </p:cNvPr>
            <p:cNvCxnSpPr>
              <a:stCxn id="21" idx="3"/>
            </p:cNvCxnSpPr>
            <p:nvPr/>
          </p:nvCxnSpPr>
          <p:spPr>
            <a:xfrm>
              <a:off x="6718406" y="2051927"/>
              <a:ext cx="59679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5F87BC8-FD21-9375-4D4A-A4073442AD3F}"/>
                </a:ext>
              </a:extLst>
            </p:cNvPr>
            <p:cNvSpPr txBox="1"/>
            <p:nvPr/>
          </p:nvSpPr>
          <p:spPr>
            <a:xfrm>
              <a:off x="7315200" y="2366493"/>
              <a:ext cx="402643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/>
                <a:t>마켓 주문 결제 요청 이벤트를 </a:t>
              </a:r>
              <a:r>
                <a:rPr lang="en-US" altLang="ko-KR" sz="1000"/>
                <a:t>CashListener</a:t>
              </a:r>
              <a:r>
                <a:rPr lang="ko-KR" altLang="en-US" sz="1000"/>
                <a:t>에서 받음</a:t>
              </a:r>
              <a:r>
                <a:rPr lang="en-US" altLang="ko-KR" sz="1000"/>
                <a:t>.</a:t>
              </a:r>
              <a:br>
                <a:rPr lang="en-US" altLang="ko-KR" sz="1000"/>
              </a:br>
              <a:r>
                <a:rPr lang="en-US" altLang="ko-KR" sz="1000"/>
                <a:t>cashFacade.handle(event) </a:t>
              </a:r>
              <a:r>
                <a:rPr lang="en-US" altLang="ko-KR" sz="1000">
                  <a:sym typeface="Wingdings" panose="05000000000000000000" pitchFamily="2" charset="2"/>
                </a:rPr>
                <a:t>[</a:t>
              </a:r>
              <a:r>
                <a:rPr lang="ko-KR" altLang="en-US" sz="1000">
                  <a:sym typeface="Wingdings" panose="05000000000000000000" pitchFamily="2" charset="2"/>
                </a:rPr>
                <a:t>이벤트를 </a:t>
              </a:r>
              <a:r>
                <a:rPr lang="en-US" altLang="ko-KR" sz="1000">
                  <a:sym typeface="Wingdings" panose="05000000000000000000" pitchFamily="2" charset="2"/>
                </a:rPr>
                <a:t>cashFacade</a:t>
              </a:r>
              <a:r>
                <a:rPr lang="ko-KR" altLang="en-US" sz="1000">
                  <a:sym typeface="Wingdings" panose="05000000000000000000" pitchFamily="2" charset="2"/>
                </a:rPr>
                <a:t>로 전달</a:t>
              </a:r>
              <a:r>
                <a:rPr lang="en-US" altLang="ko-KR" sz="1000">
                  <a:sym typeface="Wingdings" panose="05000000000000000000" pitchFamily="2" charset="2"/>
                </a:rPr>
                <a:t>]</a:t>
              </a:r>
              <a:endParaRPr lang="ko-KR" altLang="en-US" sz="1000"/>
            </a:p>
          </p:txBody>
        </p: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BE745426-3FB6-4A2D-BD87-F34121F5E133}"/>
                </a:ext>
              </a:extLst>
            </p:cNvPr>
            <p:cNvCxnSpPr>
              <a:cxnSpLocks/>
            </p:cNvCxnSpPr>
            <p:nvPr/>
          </p:nvCxnSpPr>
          <p:spPr>
            <a:xfrm>
              <a:off x="9328417" y="2766603"/>
              <a:ext cx="0" cy="44193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E9DA5D8B-EE5F-B1F1-E1D3-CF1D28E5E642}"/>
                </a:ext>
              </a:extLst>
            </p:cNvPr>
            <p:cNvSpPr/>
            <p:nvPr/>
          </p:nvSpPr>
          <p:spPr>
            <a:xfrm>
              <a:off x="7315200" y="3320109"/>
              <a:ext cx="4026434" cy="57708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/>
                <a:t>4. cashFacade.handle(event) -&gt; cashCompleteOrderPaymentUseCase.handle(event)</a:t>
              </a:r>
              <a:endParaRPr lang="ko-KR" altLang="en-US" sz="110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58A15A6-5D28-6356-BBF0-BAE2320AC4B3}"/>
                </a:ext>
              </a:extLst>
            </p:cNvPr>
            <p:cNvSpPr txBox="1"/>
            <p:nvPr/>
          </p:nvSpPr>
          <p:spPr>
            <a:xfrm>
              <a:off x="7315200" y="3939017"/>
              <a:ext cx="4510528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00"/>
                <a:t>cashFacade.handle(event)</a:t>
              </a:r>
              <a:r>
                <a:rPr lang="ko-KR" altLang="en-US" sz="1000"/>
                <a:t>에서 </a:t>
              </a:r>
              <a:br>
                <a:rPr lang="en-US" altLang="ko-KR" sz="1000"/>
              </a:br>
              <a:r>
                <a:rPr lang="en-US" altLang="ko-KR" sz="1000"/>
                <a:t>     cashCompleteOrderPaymentUseCase.handle(event)</a:t>
              </a:r>
              <a:r>
                <a:rPr lang="ko-KR" altLang="en-US" sz="1000"/>
                <a:t>로 </a:t>
              </a:r>
              <a:r>
                <a:rPr lang="en-US" altLang="ko-KR" sz="1000"/>
                <a:t>byPass</a:t>
              </a:r>
              <a:r>
                <a:rPr lang="ko-KR" altLang="en-US" sz="1000"/>
                <a:t> </a:t>
              </a:r>
            </a:p>
          </p:txBody>
        </p:sp>
        <p:cxnSp>
          <p:nvCxnSpPr>
            <p:cNvPr id="33" name="직선 화살표 연결선 32">
              <a:extLst>
                <a:ext uri="{FF2B5EF4-FFF2-40B4-BE49-F238E27FC236}">
                  <a16:creationId xmlns:a16="http://schemas.microsoft.com/office/drawing/2014/main" id="{7EB3D6AC-103B-AD33-019C-5B735C011CFE}"/>
                </a:ext>
              </a:extLst>
            </p:cNvPr>
            <p:cNvCxnSpPr>
              <a:cxnSpLocks/>
              <a:stCxn id="31" idx="1"/>
            </p:cNvCxnSpPr>
            <p:nvPr/>
          </p:nvCxnSpPr>
          <p:spPr>
            <a:xfrm flipH="1">
              <a:off x="6639005" y="3608650"/>
              <a:ext cx="67619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BF67CD20-169B-30D5-B730-0DF199FC4A9E}"/>
                </a:ext>
              </a:extLst>
            </p:cNvPr>
            <p:cNvSpPr/>
            <p:nvPr/>
          </p:nvSpPr>
          <p:spPr>
            <a:xfrm>
              <a:off x="3921418" y="3208540"/>
              <a:ext cx="2717585" cy="166313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/>
                <a:t>5. cashCompleteOrderPaymentUseCase.handle(event) </a:t>
              </a:r>
              <a:r>
                <a:rPr lang="ko-KR" altLang="en-US" sz="1050"/>
                <a:t>에서 실질적인 결제 가능 상태 파악</a:t>
              </a:r>
              <a:r>
                <a:rPr lang="en-US" altLang="ko-KR" sz="1050"/>
                <a:t>.</a:t>
              </a:r>
              <a:br>
                <a:rPr lang="en-US" altLang="ko-KR" sz="1050"/>
              </a:br>
              <a:endParaRPr lang="en-US" altLang="ko-KR" sz="1050"/>
            </a:p>
            <a:p>
              <a:pPr algn="ctr"/>
              <a:r>
                <a:rPr lang="ko-KR" altLang="en-US" sz="1050" b="1">
                  <a:solidFill>
                    <a:srgbClr val="92D050"/>
                  </a:solidFill>
                </a:rPr>
                <a:t>결제 가능일 경우 </a:t>
              </a:r>
              <a:r>
                <a:rPr lang="en-US" altLang="ko-KR" sz="1050" b="1">
                  <a:solidFill>
                    <a:srgbClr val="92D050"/>
                  </a:solidFill>
                </a:rPr>
                <a:t>-&gt; CashOrderPaymentSucceededEvent </a:t>
              </a:r>
              <a:r>
                <a:rPr lang="ko-KR" altLang="en-US" sz="1050" b="1">
                  <a:solidFill>
                    <a:srgbClr val="92D050"/>
                  </a:solidFill>
                </a:rPr>
                <a:t>발행</a:t>
              </a:r>
              <a:endParaRPr lang="en-US" altLang="ko-KR" sz="1050" b="1">
                <a:solidFill>
                  <a:srgbClr val="92D050"/>
                </a:solidFill>
              </a:endParaRPr>
            </a:p>
            <a:p>
              <a:pPr algn="ctr"/>
              <a:endParaRPr lang="en-US" altLang="ko-KR" sz="1050" b="1">
                <a:solidFill>
                  <a:srgbClr val="92D050"/>
                </a:solidFill>
              </a:endParaRPr>
            </a:p>
            <a:p>
              <a:pPr algn="ctr"/>
              <a:r>
                <a:rPr lang="ko-KR" altLang="en-US" sz="1050" b="1">
                  <a:solidFill>
                    <a:srgbClr val="FF0000"/>
                  </a:solidFill>
                </a:rPr>
                <a:t>결제 불가일 경우 </a:t>
              </a:r>
              <a:r>
                <a:rPr lang="en-US" altLang="ko-KR" sz="1050" b="1">
                  <a:solidFill>
                    <a:srgbClr val="FF0000"/>
                  </a:solidFill>
                </a:rPr>
                <a:t>-&gt;  CashOrderPaymentFailedEvent </a:t>
              </a:r>
              <a:r>
                <a:rPr lang="ko-KR" altLang="en-US" sz="1050" b="1">
                  <a:solidFill>
                    <a:srgbClr val="FF0000"/>
                  </a:solidFill>
                </a:rPr>
                <a:t>발행 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4E4ECF5-7BC3-B5E5-C503-A1B0E9869544}"/>
                </a:ext>
              </a:extLst>
            </p:cNvPr>
            <p:cNvSpPr txBox="1"/>
            <p:nvPr/>
          </p:nvSpPr>
          <p:spPr>
            <a:xfrm>
              <a:off x="3921417" y="4940834"/>
              <a:ext cx="8211671" cy="18697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50"/>
                <a:t>1. event</a:t>
              </a:r>
              <a:r>
                <a:rPr lang="ko-KR" altLang="en-US" sz="1050"/>
                <a:t>로부터 받은 </a:t>
              </a:r>
              <a:r>
                <a:rPr lang="en-US" altLang="ko-KR" sz="1050"/>
                <a:t>orderDto</a:t>
              </a:r>
              <a:r>
                <a:rPr lang="ko-KR" altLang="en-US" sz="1050"/>
                <a:t>로 부터 </a:t>
              </a:r>
              <a:r>
                <a:rPr lang="en-US" altLang="ko-KR" sz="1050"/>
                <a:t>buyer</a:t>
              </a:r>
              <a:r>
                <a:rPr lang="ko-KR" altLang="en-US" sz="1050"/>
                <a:t>의 회원 </a:t>
              </a:r>
              <a:r>
                <a:rPr lang="en-US" altLang="ko-KR" sz="1050"/>
                <a:t>Id</a:t>
              </a:r>
              <a:r>
                <a:rPr lang="ko-KR" altLang="en-US" sz="1050"/>
                <a:t>를 통해 </a:t>
              </a:r>
              <a:r>
                <a:rPr lang="en-US" altLang="ko-KR" sz="1050"/>
                <a:t>Buyer</a:t>
              </a:r>
              <a:r>
                <a:rPr lang="ko-KR" altLang="en-US" sz="1050"/>
                <a:t>의 </a:t>
              </a:r>
              <a:r>
                <a:rPr lang="en-US" altLang="ko-KR" sz="1050"/>
                <a:t>Wallet</a:t>
              </a:r>
              <a:r>
                <a:rPr lang="ko-KR" altLang="en-US" sz="1050"/>
                <a:t>을 가져옴</a:t>
              </a:r>
              <a:r>
                <a:rPr lang="en-US" altLang="ko-KR" sz="1050"/>
                <a:t>. </a:t>
              </a:r>
              <a:br>
                <a:rPr lang="en-US" altLang="ko-KR" sz="1050"/>
              </a:br>
              <a:r>
                <a:rPr lang="en-US" altLang="ko-KR" sz="1050"/>
                <a:t>- [cashSupport</a:t>
              </a:r>
              <a:r>
                <a:rPr lang="ko-KR" altLang="en-US" sz="1050"/>
                <a:t>에 </a:t>
              </a:r>
              <a:r>
                <a:rPr lang="en-US" altLang="ko-KR" sz="1050"/>
                <a:t>findWalletByHolderId(id) </a:t>
              </a:r>
              <a:r>
                <a:rPr lang="ko-KR" altLang="en-US" sz="1050"/>
                <a:t>추가</a:t>
              </a:r>
              <a:r>
                <a:rPr lang="en-US" altLang="ko-KR" sz="1050"/>
                <a:t>]</a:t>
              </a:r>
            </a:p>
            <a:p>
              <a:r>
                <a:rPr lang="en-US" altLang="ko-KR" sz="1050"/>
                <a:t>2. </a:t>
              </a:r>
              <a:r>
                <a:rPr lang="ko-KR" altLang="en-US" sz="1050"/>
                <a:t>이커머스 회사 전용 계좌 계정</a:t>
              </a:r>
              <a:r>
                <a:rPr lang="en-US" altLang="ko-KR" sz="1050"/>
                <a:t>(</a:t>
              </a:r>
              <a:r>
                <a:rPr lang="ko-KR" altLang="en-US" sz="1050"/>
                <a:t>무통장 입금 같은 계정 </a:t>
              </a:r>
              <a:r>
                <a:rPr lang="en-US" altLang="ko-KR" sz="1050"/>
                <a:t>= holding</a:t>
              </a:r>
              <a:r>
                <a:rPr lang="ko-KR" altLang="en-US" sz="1050"/>
                <a:t> 계정</a:t>
              </a:r>
              <a:r>
                <a:rPr lang="en-US" altLang="ko-KR" sz="1050"/>
                <a:t>) </a:t>
              </a:r>
              <a:r>
                <a:rPr lang="ko-KR" altLang="en-US" sz="1050"/>
                <a:t>준비 </a:t>
              </a:r>
              <a:endParaRPr lang="en-US" altLang="ko-KR" sz="1050"/>
            </a:p>
            <a:p>
              <a:r>
                <a:rPr lang="en-US" altLang="ko-KR" sz="1050"/>
                <a:t>- [cashSupport</a:t>
              </a:r>
              <a:r>
                <a:rPr lang="ko-KR" altLang="en-US" sz="1050"/>
                <a:t>에 </a:t>
              </a:r>
              <a:r>
                <a:rPr lang="en-US" altLang="ko-KR" sz="1050"/>
                <a:t>findHoldingWallet() </a:t>
              </a:r>
              <a:r>
                <a:rPr lang="ko-KR" altLang="en-US" sz="1050"/>
                <a:t>추가 </a:t>
              </a:r>
              <a:r>
                <a:rPr lang="en-US" altLang="ko-KR" sz="1050"/>
                <a:t>= walletRepository</a:t>
              </a:r>
              <a:r>
                <a:rPr lang="ko-KR" altLang="en-US" sz="1050"/>
                <a:t>에 </a:t>
              </a:r>
              <a:r>
                <a:rPr lang="en-US" altLang="ko-KR" sz="1050"/>
                <a:t>findByHolderId(CashPolicy.HOLDING_MEMBER_ID) </a:t>
              </a:r>
              <a:r>
                <a:rPr lang="ko-KR" altLang="en-US" sz="1050"/>
                <a:t>추가</a:t>
              </a:r>
              <a:r>
                <a:rPr lang="en-US" altLang="ko-KR" sz="1050"/>
                <a:t>]</a:t>
              </a:r>
              <a:br>
                <a:rPr lang="en-US" altLang="ko-KR" sz="1050"/>
              </a:br>
              <a:r>
                <a:rPr lang="en-US" altLang="ko-KR" sz="1050"/>
                <a:t>3. event</a:t>
              </a:r>
              <a:r>
                <a:rPr lang="ko-KR" altLang="en-US" sz="1050"/>
                <a:t>로 부터 받은 </a:t>
              </a:r>
              <a:r>
                <a:rPr lang="en-US" altLang="ko-KR" sz="1050"/>
                <a:t>pgPaymentAmount </a:t>
              </a:r>
              <a:r>
                <a:rPr lang="ko-KR" altLang="en-US" sz="1050"/>
                <a:t>가 </a:t>
              </a:r>
              <a:r>
                <a:rPr lang="en-US" altLang="ko-KR" sz="1050"/>
                <a:t>0</a:t>
              </a:r>
              <a:r>
                <a:rPr lang="ko-KR" altLang="en-US" sz="1050"/>
                <a:t>보다 크면 </a:t>
              </a:r>
              <a:r>
                <a:rPr lang="en-US" altLang="ko-KR" sz="1050"/>
                <a:t>buyer </a:t>
              </a:r>
              <a:r>
                <a:rPr lang="ko-KR" altLang="en-US" sz="1050"/>
                <a:t>지갑의 잔액을 먼저 증가 시켜줘야함</a:t>
              </a:r>
              <a:r>
                <a:rPr lang="en-US" altLang="ko-KR" sz="1050"/>
                <a:t>. </a:t>
              </a:r>
            </a:p>
            <a:p>
              <a:r>
                <a:rPr lang="en-US" altLang="ko-KR" sz="1050"/>
                <a:t>4.buyer</a:t>
              </a:r>
              <a:r>
                <a:rPr lang="ko-KR" altLang="en-US" sz="1050"/>
                <a:t>의 </a:t>
              </a:r>
              <a:r>
                <a:rPr lang="en-US" altLang="ko-KR" sz="1050"/>
                <a:t>balance</a:t>
              </a:r>
              <a:r>
                <a:rPr lang="ko-KR" altLang="en-US" sz="1050"/>
                <a:t>가 </a:t>
              </a:r>
              <a:r>
                <a:rPr lang="en-US" altLang="ko-KR" sz="1050"/>
                <a:t>Order</a:t>
              </a:r>
              <a:r>
                <a:rPr lang="ko-KR" altLang="en-US" sz="1050"/>
                <a:t>의 주문 시점 판매금액보다 큰 지 비교</a:t>
              </a:r>
              <a:endParaRPr lang="en-US" altLang="ko-KR" sz="1050"/>
            </a:p>
            <a:p>
              <a:r>
                <a:rPr lang="en-US" altLang="ko-KR" sz="1050"/>
                <a:t>5. balance</a:t>
              </a:r>
              <a:r>
                <a:rPr lang="ko-KR" altLang="en-US" sz="1050"/>
                <a:t>가 더 클 경우 </a:t>
              </a:r>
              <a:r>
                <a:rPr lang="en-US" altLang="ko-KR" sz="1050"/>
                <a:t>: order.getSalePrice() </a:t>
              </a:r>
              <a:r>
                <a:rPr lang="ko-KR" altLang="en-US" sz="1050"/>
                <a:t>만큼 </a:t>
              </a:r>
              <a:r>
                <a:rPr lang="en-US" altLang="ko-KR" sz="1050"/>
                <a:t>balance </a:t>
              </a:r>
              <a:r>
                <a:rPr lang="ko-KR" altLang="en-US" sz="1050"/>
                <a:t>차감</a:t>
              </a:r>
              <a:r>
                <a:rPr lang="en-US" altLang="ko-KR" sz="1050"/>
                <a:t>. </a:t>
              </a:r>
              <a:r>
                <a:rPr lang="en-US" altLang="ko-KR" sz="1050">
                  <a:sym typeface="Wingdings" panose="05000000000000000000" pitchFamily="2" charset="2"/>
                </a:rPr>
                <a:t> holding</a:t>
              </a:r>
              <a:r>
                <a:rPr lang="ko-KR" altLang="en-US" sz="1050">
                  <a:sym typeface="Wingdings" panose="05000000000000000000" pitchFamily="2" charset="2"/>
                </a:rPr>
                <a:t>계정 </a:t>
              </a:r>
              <a:r>
                <a:rPr lang="en-US" altLang="ko-KR" sz="1050">
                  <a:sym typeface="Wingdings" panose="05000000000000000000" pitchFamily="2" charset="2"/>
                </a:rPr>
                <a:t>balance </a:t>
              </a:r>
              <a:r>
                <a:rPr lang="ko-KR" altLang="en-US" sz="1050">
                  <a:sym typeface="Wingdings" panose="05000000000000000000" pitchFamily="2" charset="2"/>
                </a:rPr>
                <a:t>증가 </a:t>
              </a:r>
              <a:r>
                <a:rPr lang="en-US" altLang="ko-KR" sz="1050">
                  <a:sym typeface="Wingdings" panose="05000000000000000000" pitchFamily="2" charset="2"/>
                </a:rPr>
                <a:t> </a:t>
              </a:r>
              <a:r>
                <a:rPr lang="ko-KR" altLang="en-US" sz="1050">
                  <a:sym typeface="Wingdings" panose="05000000000000000000" pitchFamily="2" charset="2"/>
                </a:rPr>
                <a:t>주문 결제 성공 이벤트</a:t>
              </a:r>
              <a:r>
                <a:rPr lang="en-US" altLang="ko-KR" sz="1050">
                  <a:sym typeface="Wingdings" panose="05000000000000000000" pitchFamily="2" charset="2"/>
                </a:rPr>
                <a:t>(CashOrderPaymentSucceededEvent)</a:t>
              </a:r>
              <a:r>
                <a:rPr lang="ko-KR" altLang="en-US" sz="1050">
                  <a:sym typeface="Wingdings" panose="05000000000000000000" pitchFamily="2" charset="2"/>
                </a:rPr>
                <a:t> 발행</a:t>
              </a:r>
              <a:endParaRPr lang="en-US" altLang="ko-KR" sz="1050">
                <a:sym typeface="Wingdings" panose="05000000000000000000" pitchFamily="2" charset="2"/>
              </a:endParaRPr>
            </a:p>
            <a:p>
              <a:r>
                <a:rPr lang="en-US" altLang="ko-KR" sz="1050">
                  <a:sym typeface="Wingdings" panose="05000000000000000000" pitchFamily="2" charset="2"/>
                </a:rPr>
                <a:t>( </a:t>
              </a:r>
              <a:r>
                <a:rPr lang="ko-KR" altLang="en-US" sz="1050">
                  <a:sym typeface="Wingdings" panose="05000000000000000000" pitchFamily="2" charset="2"/>
                </a:rPr>
                <a:t>이벤트에 </a:t>
              </a:r>
              <a:r>
                <a:rPr lang="en-US" altLang="ko-KR" sz="1050">
                  <a:sym typeface="Wingdings" panose="05000000000000000000" pitchFamily="2" charset="2"/>
                </a:rPr>
                <a:t>OrderDto</a:t>
              </a:r>
              <a:r>
                <a:rPr lang="ko-KR" altLang="en-US" sz="1050">
                  <a:sym typeface="Wingdings" panose="05000000000000000000" pitchFamily="2" charset="2"/>
                </a:rPr>
                <a:t>와 </a:t>
              </a:r>
              <a:r>
                <a:rPr lang="en-US" altLang="ko-KR" sz="1050">
                  <a:sym typeface="Wingdings" panose="05000000000000000000" pitchFamily="2" charset="2"/>
                </a:rPr>
                <a:t>pgPaymentAmount </a:t>
              </a:r>
              <a:r>
                <a:rPr lang="ko-KR" altLang="en-US" sz="1050">
                  <a:sym typeface="Wingdings" panose="05000000000000000000" pitchFamily="2" charset="2"/>
                </a:rPr>
                <a:t>를 포함</a:t>
              </a:r>
              <a:r>
                <a:rPr lang="en-US" altLang="ko-KR" sz="1050">
                  <a:sym typeface="Wingdings" panose="05000000000000000000" pitchFamily="2" charset="2"/>
                </a:rPr>
                <a:t>)</a:t>
              </a:r>
            </a:p>
            <a:p>
              <a:r>
                <a:rPr lang="en-US" altLang="ko-KR" sz="1050">
                  <a:sym typeface="Wingdings" panose="05000000000000000000" pitchFamily="2" charset="2"/>
                </a:rPr>
                <a:t>6. balance</a:t>
              </a:r>
              <a:r>
                <a:rPr lang="ko-KR" altLang="en-US" sz="1050">
                  <a:sym typeface="Wingdings" panose="05000000000000000000" pitchFamily="2" charset="2"/>
                </a:rPr>
                <a:t>가 더 작은 경우 </a:t>
              </a:r>
              <a:r>
                <a:rPr lang="en-US" altLang="ko-KR" sz="1050">
                  <a:sym typeface="Wingdings" panose="05000000000000000000" pitchFamily="2" charset="2"/>
                </a:rPr>
                <a:t>:  </a:t>
              </a:r>
              <a:r>
                <a:rPr lang="ko-KR" altLang="en-US" sz="1050">
                  <a:sym typeface="Wingdings" panose="05000000000000000000" pitchFamily="2" charset="2"/>
                </a:rPr>
                <a:t>주문 결제 실패 이벤트</a:t>
              </a:r>
              <a:r>
                <a:rPr lang="en-US" altLang="ko-KR" sz="1050">
                  <a:sym typeface="Wingdings" panose="05000000000000000000" pitchFamily="2" charset="2"/>
                </a:rPr>
                <a:t>(CashOrderPaymentFailedEvent)</a:t>
              </a:r>
              <a:r>
                <a:rPr lang="ko-KR" altLang="en-US" sz="1050">
                  <a:sym typeface="Wingdings" panose="05000000000000000000" pitchFamily="2" charset="2"/>
                </a:rPr>
                <a:t> 발행</a:t>
              </a:r>
              <a:br>
                <a:rPr lang="en-US" altLang="ko-KR" sz="1050">
                  <a:sym typeface="Wingdings" panose="05000000000000000000" pitchFamily="2" charset="2"/>
                </a:rPr>
              </a:br>
              <a:r>
                <a:rPr lang="en-US" altLang="ko-KR" sz="1050">
                  <a:sym typeface="Wingdings" panose="05000000000000000000" pitchFamily="2" charset="2"/>
                </a:rPr>
                <a:t>( </a:t>
              </a:r>
              <a:r>
                <a:rPr lang="ko-KR" altLang="en-US" sz="1050">
                  <a:sym typeface="Wingdings" panose="05000000000000000000" pitchFamily="2" charset="2"/>
                </a:rPr>
                <a:t>이벤트에 </a:t>
              </a:r>
              <a:r>
                <a:rPr lang="en-US" altLang="ko-KR" sz="1050">
                  <a:sym typeface="Wingdings" panose="05000000000000000000" pitchFamily="2" charset="2"/>
                </a:rPr>
                <a:t>resultCode, msg, orderDto, pgPaymentAmount, shortfallAmount[</a:t>
              </a:r>
              <a:r>
                <a:rPr lang="ko-KR" altLang="en-US" sz="1050">
                  <a:sym typeface="Wingdings" panose="05000000000000000000" pitchFamily="2" charset="2"/>
                </a:rPr>
                <a:t>부족금</a:t>
              </a:r>
              <a:r>
                <a:rPr lang="en-US" altLang="ko-KR" sz="1050">
                  <a:sym typeface="Wingdings" panose="05000000000000000000" pitchFamily="2" charset="2"/>
                </a:rPr>
                <a:t>]</a:t>
              </a:r>
              <a:r>
                <a:rPr lang="ko-KR" altLang="en-US" sz="1050">
                  <a:sym typeface="Wingdings" panose="05000000000000000000" pitchFamily="2" charset="2"/>
                </a:rPr>
                <a:t>을</a:t>
              </a:r>
              <a:r>
                <a:rPr lang="en-US" altLang="ko-KR" sz="1050">
                  <a:sym typeface="Wingdings" panose="05000000000000000000" pitchFamily="2" charset="2"/>
                </a:rPr>
                <a:t> </a:t>
              </a:r>
              <a:r>
                <a:rPr lang="ko-KR" altLang="en-US" sz="1050">
                  <a:sym typeface="Wingdings" panose="05000000000000000000" pitchFamily="2" charset="2"/>
                </a:rPr>
                <a:t>포함</a:t>
              </a:r>
              <a:r>
                <a:rPr lang="en-US" altLang="ko-KR" sz="1050">
                  <a:sym typeface="Wingdings" panose="05000000000000000000" pitchFamily="2" charset="2"/>
                </a:rPr>
                <a:t> ) </a:t>
              </a:r>
              <a:endParaRPr lang="ko-KR" altLang="en-US" sz="1050"/>
            </a:p>
          </p:txBody>
        </p:sp>
        <p:cxnSp>
          <p:nvCxnSpPr>
            <p:cNvPr id="36" name="직선 화살표 연결선 35">
              <a:extLst>
                <a:ext uri="{FF2B5EF4-FFF2-40B4-BE49-F238E27FC236}">
                  <a16:creationId xmlns:a16="http://schemas.microsoft.com/office/drawing/2014/main" id="{3DE22EA0-8DF5-8AE4-C52B-C8C4CDED4C70}"/>
                </a:ext>
              </a:extLst>
            </p:cNvPr>
            <p:cNvCxnSpPr>
              <a:stCxn id="34" idx="1"/>
            </p:cNvCxnSpPr>
            <p:nvPr/>
          </p:nvCxnSpPr>
          <p:spPr>
            <a:xfrm flipH="1">
              <a:off x="3380975" y="4040108"/>
              <a:ext cx="540443" cy="169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903F64C6-7B3E-7C37-6332-EB307839785A}"/>
                </a:ext>
              </a:extLst>
            </p:cNvPr>
            <p:cNvSpPr/>
            <p:nvPr/>
          </p:nvSpPr>
          <p:spPr>
            <a:xfrm>
              <a:off x="663390" y="3208540"/>
              <a:ext cx="2717585" cy="166313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/>
                <a:t>6. MarketListener</a:t>
              </a:r>
              <a:r>
                <a:rPr lang="ko-KR" altLang="en-US" sz="1050"/>
                <a:t>에서</a:t>
              </a:r>
              <a:br>
                <a:rPr lang="en-US" altLang="ko-KR" sz="1050"/>
              </a:br>
              <a:r>
                <a:rPr lang="en-US" altLang="ko-KR" sz="1050">
                  <a:sym typeface="Wingdings" panose="05000000000000000000" pitchFamily="2" charset="2"/>
                </a:rPr>
                <a:t>CashOrderPaymentSucceededEvent </a:t>
              </a:r>
              <a:r>
                <a:rPr lang="ko-KR" altLang="en-US" sz="1050">
                  <a:sym typeface="Wingdings" panose="05000000000000000000" pitchFamily="2" charset="2"/>
                </a:rPr>
                <a:t>또는</a:t>
              </a:r>
              <a:br>
                <a:rPr lang="en-US" altLang="ko-KR" sz="1050">
                  <a:sym typeface="Wingdings" panose="05000000000000000000" pitchFamily="2" charset="2"/>
                </a:rPr>
              </a:br>
              <a:r>
                <a:rPr lang="ko-KR" altLang="en-US" sz="1050"/>
                <a:t> </a:t>
              </a:r>
              <a:r>
                <a:rPr lang="en-US" altLang="ko-KR" sz="1050">
                  <a:sym typeface="Wingdings" panose="05000000000000000000" pitchFamily="2" charset="2"/>
                </a:rPr>
                <a:t>CashOrderPaymentFailedEvent </a:t>
              </a:r>
              <a:r>
                <a:rPr lang="ko-KR" altLang="en-US" sz="1050">
                  <a:sym typeface="Wingdings" panose="05000000000000000000" pitchFamily="2" charset="2"/>
                </a:rPr>
                <a:t> 수신</a:t>
              </a:r>
              <a:endParaRPr lang="ko-KR" altLang="en-US" sz="1050" b="1">
                <a:solidFill>
                  <a:srgbClr val="FF0000"/>
                </a:solidFill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C6F11C80-6B1D-DB82-D446-DECA61F367F5}"/>
                </a:ext>
              </a:extLst>
            </p:cNvPr>
            <p:cNvSpPr txBox="1"/>
            <p:nvPr/>
          </p:nvSpPr>
          <p:spPr>
            <a:xfrm>
              <a:off x="645459" y="4940834"/>
              <a:ext cx="2735516" cy="20774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/>
                <a:t>성공 이벤트 수신 </a:t>
              </a:r>
              <a:r>
                <a:rPr lang="en-US" altLang="ko-KR" sz="1000">
                  <a:sym typeface="Wingdings" panose="05000000000000000000" pitchFamily="2" charset="2"/>
                </a:rPr>
                <a:t>: </a:t>
              </a:r>
              <a:br>
                <a:rPr lang="en-US" altLang="ko-KR" sz="1000">
                  <a:sym typeface="Wingdings" panose="05000000000000000000" pitchFamily="2" charset="2"/>
                </a:rPr>
              </a:br>
              <a:r>
                <a:rPr lang="en-US" altLang="ko-KR" sz="1000">
                  <a:sym typeface="Wingdings" panose="05000000000000000000" pitchFamily="2" charset="2"/>
                </a:rPr>
                <a:t>marketFacade.handle(event)  </a:t>
              </a:r>
              <a:r>
                <a:rPr lang="en-US" altLang="ko-KR" sz="1000"/>
                <a:t>marketCompleteOrderPaymentUseCase.handle(event) [bypass] </a:t>
              </a:r>
              <a:r>
                <a:rPr lang="en-US" altLang="ko-KR" sz="1000">
                  <a:sym typeface="Wingdings" panose="05000000000000000000" pitchFamily="2" charset="2"/>
                </a:rPr>
                <a:t> OrderDto</a:t>
              </a:r>
              <a:r>
                <a:rPr lang="ko-KR" altLang="en-US" sz="1000">
                  <a:sym typeface="Wingdings" panose="05000000000000000000" pitchFamily="2" charset="2"/>
                </a:rPr>
                <a:t>로  주문 검색 </a:t>
              </a:r>
              <a:r>
                <a:rPr lang="en-US" altLang="ko-KR" sz="1000">
                  <a:sym typeface="Wingdings" panose="05000000000000000000" pitchFamily="2" charset="2"/>
                </a:rPr>
                <a:t> completePayment() </a:t>
              </a:r>
              <a:r>
                <a:rPr lang="ko-KR" altLang="en-US" sz="1000">
                  <a:sym typeface="Wingdings" panose="05000000000000000000" pitchFamily="2" charset="2"/>
                </a:rPr>
                <a:t>로 결제 완료 시간 저장</a:t>
              </a:r>
              <a:endParaRPr lang="en-US" altLang="ko-KR" sz="1000">
                <a:sym typeface="Wingdings" panose="05000000000000000000" pitchFamily="2" charset="2"/>
              </a:endParaRPr>
            </a:p>
            <a:p>
              <a:r>
                <a:rPr lang="ko-KR" altLang="en-US" sz="1000">
                  <a:sym typeface="Wingdings" panose="05000000000000000000" pitchFamily="2" charset="2"/>
                </a:rPr>
                <a:t>실패 이벤트 수신 </a:t>
              </a:r>
              <a:r>
                <a:rPr lang="en-US" altLang="ko-KR" sz="1000">
                  <a:sym typeface="Wingdings" panose="05000000000000000000" pitchFamily="2" charset="2"/>
                </a:rPr>
                <a:t>: </a:t>
              </a:r>
            </a:p>
            <a:p>
              <a:r>
                <a:rPr lang="en-US" altLang="ko-KR" sz="1000">
                  <a:sym typeface="Wingdings" panose="05000000000000000000" pitchFamily="2" charset="2"/>
                </a:rPr>
                <a:t>marketFacade.handle(event)  </a:t>
              </a:r>
              <a:r>
                <a:rPr lang="en-US" altLang="ko-KR" sz="1000"/>
                <a:t>marketCancelOrderRequestPaymentUseCase</a:t>
              </a:r>
            </a:p>
            <a:p>
              <a:r>
                <a:rPr lang="en-US" altLang="ko-KR" sz="1000"/>
                <a:t>.handle(event) [bypass] </a:t>
              </a:r>
              <a:r>
                <a:rPr lang="en-US" altLang="ko-KR" sz="1000">
                  <a:sym typeface="Wingdings" panose="05000000000000000000" pitchFamily="2" charset="2"/>
                </a:rPr>
                <a:t> OrderDto</a:t>
              </a:r>
              <a:r>
                <a:rPr lang="ko-KR" altLang="en-US" sz="1000">
                  <a:sym typeface="Wingdings" panose="05000000000000000000" pitchFamily="2" charset="2"/>
                </a:rPr>
                <a:t>로  주문 검색 </a:t>
              </a:r>
              <a:r>
                <a:rPr lang="en-US" altLang="ko-KR" sz="1000">
                  <a:sym typeface="Wingdings" panose="05000000000000000000" pitchFamily="2" charset="2"/>
                </a:rPr>
                <a:t> cancelRequestPayment() </a:t>
              </a:r>
              <a:r>
                <a:rPr lang="ko-KR" altLang="en-US" sz="1000">
                  <a:sym typeface="Wingdings" panose="05000000000000000000" pitchFamily="2" charset="2"/>
                </a:rPr>
                <a:t>로 결제 요청 시간 </a:t>
              </a:r>
              <a:r>
                <a:rPr lang="en-US" altLang="ko-KR" sz="1000">
                  <a:sym typeface="Wingdings" panose="05000000000000000000" pitchFamily="2" charset="2"/>
                </a:rPr>
                <a:t>null </a:t>
              </a:r>
              <a:r>
                <a:rPr lang="ko-KR" altLang="en-US" sz="1000">
                  <a:sym typeface="Wingdings" panose="05000000000000000000" pitchFamily="2" charset="2"/>
                </a:rPr>
                <a:t>초기화</a:t>
              </a:r>
              <a:endParaRPr lang="en-US" altLang="ko-KR" sz="1000">
                <a:sym typeface="Wingdings" panose="05000000000000000000" pitchFamily="2" charset="2"/>
              </a:endParaRPr>
            </a:p>
            <a:p>
              <a:endParaRPr lang="en-US" altLang="ko-KR" sz="1000"/>
            </a:p>
            <a:p>
              <a:endParaRPr lang="ko-KR" altLang="en-US" sz="900" i="1"/>
            </a:p>
          </p:txBody>
        </p:sp>
      </p:grpSp>
    </p:spTree>
    <p:extLst>
      <p:ext uri="{BB962C8B-B14F-4D97-AF65-F5344CB8AC3E}">
        <p14:creationId xmlns:p14="http://schemas.microsoft.com/office/powerpoint/2010/main" val="3442504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832B76-6CCE-B1AA-0338-A14E628C4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36</a:t>
            </a:r>
            <a:r>
              <a:rPr lang="ko-KR" altLang="en-US"/>
              <a:t>강 정리 </a:t>
            </a:r>
            <a:r>
              <a:rPr lang="en-US" altLang="ko-KR"/>
              <a:t>(</a:t>
            </a:r>
            <a:r>
              <a:rPr lang="ko-KR" altLang="en-US"/>
              <a:t>결제 </a:t>
            </a:r>
            <a:r>
              <a:rPr lang="en-US" altLang="ko-KR"/>
              <a:t>Flow </a:t>
            </a:r>
            <a:r>
              <a:rPr lang="ko-KR" altLang="en-US"/>
              <a:t>정리</a:t>
            </a:r>
            <a:r>
              <a:rPr lang="en-US" altLang="ko-KR"/>
              <a:t>) -1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7FB1B60-1D18-F604-13DC-EE3682EFB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706" y="1894113"/>
            <a:ext cx="3475612" cy="488924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1DC355-C53F-57E9-3C5A-849DAB81414D}"/>
              </a:ext>
            </a:extLst>
          </p:cNvPr>
          <p:cNvSpPr txBox="1"/>
          <p:nvPr/>
        </p:nvSpPr>
        <p:spPr>
          <a:xfrm>
            <a:off x="4002834" y="1894113"/>
            <a:ext cx="40214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AutoNum type="arabicPeriod"/>
            </a:pPr>
            <a:r>
              <a:rPr lang="ko-KR" altLang="en-US" sz="1200"/>
              <a:t>결제 요청 폼</a:t>
            </a:r>
            <a:r>
              <a:rPr lang="en-US" altLang="ko-KR" sz="1200"/>
              <a:t>(Front) </a:t>
            </a:r>
            <a:r>
              <a:rPr lang="en-US" altLang="ko-KR" sz="1200">
                <a:sym typeface="Wingdings" panose="05000000000000000000" pitchFamily="2" charset="2"/>
              </a:rPr>
              <a:t> </a:t>
            </a:r>
          </a:p>
          <a:p>
            <a:pPr marL="228600" indent="-228600">
              <a:buAutoNum type="arabicPeriod"/>
            </a:pPr>
            <a:r>
              <a:rPr lang="en-US" altLang="ko-KR" sz="1200">
                <a:sym typeface="Wingdings" panose="05000000000000000000" pitchFamily="2" charset="2"/>
              </a:rPr>
              <a:t>TossPayments</a:t>
            </a:r>
            <a:r>
              <a:rPr lang="ko-KR" altLang="en-US" sz="1200">
                <a:sym typeface="Wingdings" panose="05000000000000000000" pitchFamily="2" charset="2"/>
              </a:rPr>
              <a:t> 객체 생성 </a:t>
            </a:r>
            <a:r>
              <a:rPr lang="en-US" altLang="ko-KR" sz="1200">
                <a:sym typeface="Wingdings" panose="05000000000000000000" pitchFamily="2" charset="2"/>
              </a:rPr>
              <a:t>(clientKey , customerKey)</a:t>
            </a:r>
          </a:p>
          <a:p>
            <a:pPr marL="228600" indent="-228600">
              <a:buAutoNum type="arabicPeriod"/>
            </a:pPr>
            <a:r>
              <a:rPr lang="ko-KR" altLang="en-US" sz="1200">
                <a:sym typeface="Wingdings" panose="05000000000000000000" pitchFamily="2" charset="2"/>
              </a:rPr>
              <a:t>토스 페이먼츠 결제 요청</a:t>
            </a:r>
            <a:br>
              <a:rPr lang="en-US" altLang="ko-KR" sz="1200">
                <a:sym typeface="Wingdings" panose="05000000000000000000" pitchFamily="2" charset="2"/>
              </a:rPr>
            </a:br>
            <a:endParaRPr lang="en-US" altLang="ko-KR" sz="1200"/>
          </a:p>
          <a:p>
            <a:endParaRPr lang="ko-KR" altLang="en-US" sz="1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C50F7E-0BE3-D4D0-3C8D-3E8CC187B1C0}"/>
              </a:ext>
            </a:extLst>
          </p:cNvPr>
          <p:cNvSpPr txBox="1"/>
          <p:nvPr/>
        </p:nvSpPr>
        <p:spPr>
          <a:xfrm>
            <a:off x="8794829" y="1856789"/>
            <a:ext cx="3256384" cy="1869743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fontAlgn="ctr" latinLnBrk="1"/>
            <a:r>
              <a:rPr lang="en-US" altLang="ko-KR" sz="1050"/>
              <a:t>function createPaymentClient() {</a:t>
            </a:r>
            <a:br>
              <a:rPr lang="en-US" altLang="ko-KR" sz="1050"/>
            </a:br>
            <a:r>
              <a:rPr lang="en-US" altLang="ko-KR" sz="1050"/>
              <a:t>	const clientKey = v("clientKey").trim();</a:t>
            </a:r>
            <a:endParaRPr lang="ko-KR" altLang="ko-KR" sz="1050"/>
          </a:p>
          <a:p>
            <a:pPr fontAlgn="ctr" latinLnBrk="1"/>
            <a:r>
              <a:rPr lang="en-US" altLang="ko-KR" sz="1050"/>
              <a:t>	const customerKey = v("customerKey").trim();</a:t>
            </a:r>
            <a:endParaRPr lang="ko-KR" altLang="ko-KR" sz="1050"/>
          </a:p>
          <a:p>
            <a:pPr fontAlgn="ctr" latinLnBrk="1"/>
            <a:r>
              <a:rPr lang="en-US" altLang="ko-KR" sz="1050"/>
              <a:t>	const tossPayments = TossPayments(clientKey);</a:t>
            </a:r>
            <a:endParaRPr lang="ko-KR" altLang="ko-KR" sz="1050"/>
          </a:p>
          <a:p>
            <a:pPr fontAlgn="ctr" latinLnBrk="1"/>
            <a:r>
              <a:rPr lang="en-US" altLang="ko-KR" sz="1050"/>
              <a:t>	const payment = tossPayments.payment({</a:t>
            </a:r>
          </a:p>
          <a:p>
            <a:pPr fontAlgn="ctr" latinLnBrk="1"/>
            <a:r>
              <a:rPr lang="en-US" altLang="ko-KR" sz="1050"/>
              <a:t>		customerKey</a:t>
            </a:r>
          </a:p>
          <a:p>
            <a:pPr fontAlgn="ctr" latinLnBrk="1"/>
            <a:r>
              <a:rPr lang="en-US" altLang="ko-KR" sz="1050"/>
              <a:t>	});</a:t>
            </a:r>
          </a:p>
          <a:p>
            <a:pPr lvl="1" fontAlgn="ctr" latinLnBrk="1"/>
            <a:r>
              <a:rPr lang="en-US" altLang="ko-KR" sz="1050"/>
              <a:t>return {</a:t>
            </a:r>
          </a:p>
          <a:p>
            <a:pPr lvl="1" fontAlgn="ctr" latinLnBrk="1"/>
            <a:r>
              <a:rPr lang="en-US" altLang="ko-KR" sz="1050"/>
              <a:t>	payment</a:t>
            </a:r>
            <a:endParaRPr lang="ko-KR" altLang="ko-KR" sz="1050"/>
          </a:p>
          <a:p>
            <a:pPr lvl="1" fontAlgn="ctr" latinLnBrk="1"/>
            <a:r>
              <a:rPr lang="en-US" altLang="ko-KR" sz="1050"/>
              <a:t>};</a:t>
            </a:r>
            <a:endParaRPr lang="ko-KR" altLang="ko-KR" sz="1050"/>
          </a:p>
          <a:p>
            <a:pPr fontAlgn="ctr" latinLnBrk="1"/>
            <a:r>
              <a:rPr lang="en-US" altLang="ko-KR" sz="1050"/>
              <a:t>}</a:t>
            </a:r>
            <a:endParaRPr lang="ko-KR" altLang="ko-KR" sz="105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991F37-0CAA-C2D3-A4EE-D9C9613B8255}"/>
              </a:ext>
            </a:extLst>
          </p:cNvPr>
          <p:cNvSpPr txBox="1"/>
          <p:nvPr/>
        </p:nvSpPr>
        <p:spPr>
          <a:xfrm>
            <a:off x="4233766" y="2515403"/>
            <a:ext cx="325638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/>
              <a:t>{</a:t>
            </a:r>
          </a:p>
          <a:p>
            <a:r>
              <a:rPr lang="ko-KR" altLang="en-US" sz="1000"/>
              <a:t>  "method": "CARD",</a:t>
            </a:r>
          </a:p>
          <a:p>
            <a:r>
              <a:rPr lang="ko-KR" altLang="en-US" sz="1000"/>
              <a:t>  "amount": {</a:t>
            </a:r>
          </a:p>
          <a:p>
            <a:r>
              <a:rPr lang="ko-KR" altLang="en-US" sz="1000"/>
              <a:t>    "currency": "KRW",</a:t>
            </a:r>
          </a:p>
          <a:p>
            <a:r>
              <a:rPr lang="ko-KR" altLang="en-US" sz="1000"/>
              <a:t>    "value": 2000</a:t>
            </a:r>
          </a:p>
          <a:p>
            <a:r>
              <a:rPr lang="ko-KR" altLang="en-US" sz="1000"/>
              <a:t>  },</a:t>
            </a:r>
          </a:p>
          <a:p>
            <a:r>
              <a:rPr lang="ko-KR" altLang="en-US" sz="1000"/>
              <a:t>  "orderId": "ORDER-2-1421876951",</a:t>
            </a:r>
          </a:p>
          <a:p>
            <a:r>
              <a:rPr lang="ko-KR" altLang="en-US" sz="1000"/>
              <a:t>  "orderName": "상품 3건",</a:t>
            </a:r>
          </a:p>
          <a:p>
            <a:r>
              <a:rPr lang="ko-KR" altLang="en-US" sz="1000"/>
              <a:t>  "successUrl": "https://cdpn.io/pen/debug/GgqKEWV",</a:t>
            </a:r>
          </a:p>
          <a:p>
            <a:r>
              <a:rPr lang="ko-KR" altLang="en-US" sz="1000"/>
              <a:t>  "failUrl": "https://cdpn.io/pen/debug/NPNOYLb",</a:t>
            </a:r>
          </a:p>
          <a:p>
            <a:r>
              <a:rPr lang="ko-KR" altLang="en-US" sz="1000"/>
              <a:t>  "customerEmail": "customer123@gmail.com",</a:t>
            </a:r>
          </a:p>
          <a:p>
            <a:r>
              <a:rPr lang="ko-KR" altLang="en-US" sz="1000"/>
              <a:t>  "customerName": "김토스"</a:t>
            </a:r>
          </a:p>
          <a:p>
            <a:r>
              <a:rPr lang="ko-KR" altLang="en-US" sz="1000"/>
              <a:t>}</a:t>
            </a:r>
            <a:br>
              <a:rPr lang="en-US" altLang="ko-KR" sz="1000"/>
            </a:br>
            <a:br>
              <a:rPr lang="en-US" altLang="ko-KR" sz="1000"/>
            </a:br>
            <a:r>
              <a:rPr lang="en-US" altLang="ko-KR" sz="1000"/>
              <a:t>※ orderId </a:t>
            </a:r>
            <a:r>
              <a:rPr lang="ko-KR" altLang="en-US" sz="1000"/>
              <a:t>는 </a:t>
            </a:r>
            <a:r>
              <a:rPr lang="en-US" altLang="ko-KR" sz="1000"/>
              <a:t>orderId + Random ID </a:t>
            </a:r>
            <a:r>
              <a:rPr lang="ko-KR" altLang="en-US" sz="1000"/>
              <a:t>조합</a:t>
            </a:r>
            <a:br>
              <a:rPr lang="en-US" altLang="ko-KR" sz="1000"/>
            </a:br>
            <a:r>
              <a:rPr lang="en-US" altLang="ko-KR" sz="1000"/>
              <a:t>※ payment. requestPayment(payload) </a:t>
            </a:r>
            <a:r>
              <a:rPr lang="ko-KR" altLang="en-US" sz="1000"/>
              <a:t>시 </a:t>
            </a:r>
            <a:br>
              <a:rPr lang="en-US" altLang="ko-KR" sz="1000"/>
            </a:br>
            <a:r>
              <a:rPr lang="en-US" altLang="ko-KR" sz="1000"/>
              <a:t>    Toss </a:t>
            </a:r>
            <a:r>
              <a:rPr lang="ko-KR" altLang="en-US" sz="1000"/>
              <a:t>결제 위젯을 띄움</a:t>
            </a:r>
            <a:br>
              <a:rPr lang="en-US" altLang="ko-KR" sz="1000"/>
            </a:br>
            <a:r>
              <a:rPr lang="en-US" altLang="ko-KR" sz="1000"/>
              <a:t>※ </a:t>
            </a:r>
            <a:r>
              <a:rPr lang="ko-KR" altLang="en-US" sz="1000"/>
              <a:t>결제를 완료시 </a:t>
            </a:r>
            <a:r>
              <a:rPr lang="en-US" altLang="ko-KR" sz="1000"/>
              <a:t>successUrl</a:t>
            </a:r>
            <a:r>
              <a:rPr lang="ko-KR" altLang="en-US" sz="1000"/>
              <a:t>로 실패시 </a:t>
            </a:r>
            <a:r>
              <a:rPr lang="en-US" altLang="ko-KR" sz="1000"/>
              <a:t>failUIrl </a:t>
            </a:r>
            <a:r>
              <a:rPr lang="ko-KR" altLang="en-US" sz="1000"/>
              <a:t>로 전달</a:t>
            </a:r>
          </a:p>
        </p:txBody>
      </p:sp>
    </p:spTree>
    <p:extLst>
      <p:ext uri="{BB962C8B-B14F-4D97-AF65-F5344CB8AC3E}">
        <p14:creationId xmlns:p14="http://schemas.microsoft.com/office/powerpoint/2010/main" val="28618148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9D9176-02ED-D723-9D3D-DC37939D2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36</a:t>
            </a:r>
            <a:r>
              <a:rPr lang="ko-KR" altLang="en-US"/>
              <a:t>강 정리 </a:t>
            </a:r>
            <a:r>
              <a:rPr lang="en-US" altLang="ko-KR"/>
              <a:t>(</a:t>
            </a:r>
            <a:r>
              <a:rPr lang="ko-KR" altLang="en-US"/>
              <a:t>결제 </a:t>
            </a:r>
            <a:r>
              <a:rPr lang="en-US" altLang="ko-KR"/>
              <a:t>Flow </a:t>
            </a:r>
            <a:r>
              <a:rPr lang="ko-KR" altLang="en-US"/>
              <a:t>정리</a:t>
            </a:r>
            <a:r>
              <a:rPr lang="en-US" altLang="ko-KR"/>
              <a:t>) -2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E853925-87D3-A9A2-84C7-340E7F813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2182" y="2313862"/>
            <a:ext cx="4093542" cy="4257535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40D3BD69-132B-F141-1F97-84DB9195DC75}"/>
              </a:ext>
            </a:extLst>
          </p:cNvPr>
          <p:cNvGrpSpPr/>
          <p:nvPr/>
        </p:nvGrpSpPr>
        <p:grpSpPr>
          <a:xfrm>
            <a:off x="208465" y="1847196"/>
            <a:ext cx="4009466" cy="4292079"/>
            <a:chOff x="208465" y="1847196"/>
            <a:chExt cx="4009466" cy="4292079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0C906DF-CB1D-263D-B7D2-EA2FC496A3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8465" y="1847196"/>
              <a:ext cx="3099143" cy="3163605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09846343-0974-FAF0-6A4B-CABC552EAE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05646" y="2957672"/>
              <a:ext cx="2726693" cy="279319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37F48338-DD1B-82CD-49A6-87BF5F0AEEA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960323" y="3428999"/>
              <a:ext cx="2257608" cy="2710276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B7195BA0-9279-9024-C496-3EAA1C70D20F}"/>
              </a:ext>
            </a:extLst>
          </p:cNvPr>
          <p:cNvSpPr txBox="1"/>
          <p:nvPr/>
        </p:nvSpPr>
        <p:spPr>
          <a:xfrm>
            <a:off x="3307608" y="1880474"/>
            <a:ext cx="309914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/>
              <a:t>4. (3)</a:t>
            </a:r>
            <a:r>
              <a:rPr lang="ko-KR" altLang="en-US" sz="1000"/>
              <a:t>에 이어서 결제를 완료하였으면 </a:t>
            </a:r>
            <a:r>
              <a:rPr lang="en-US" altLang="ko-KR" sz="1000"/>
              <a:t>SuccessUrl </a:t>
            </a:r>
            <a:r>
              <a:rPr lang="ko-KR" altLang="en-US" sz="1000"/>
              <a:t>에서 </a:t>
            </a:r>
            <a:br>
              <a:rPr lang="en-US" altLang="ko-KR" sz="1000"/>
            </a:br>
            <a:r>
              <a:rPr lang="en-US" altLang="ko-KR" sz="1000"/>
              <a:t>    </a:t>
            </a:r>
            <a:r>
              <a:rPr lang="ko-KR" altLang="en-US" sz="1000"/>
              <a:t>결제 승인처리 페이지를 내려줌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F6F7952-C032-8021-75DA-19772BBFACE5}"/>
              </a:ext>
            </a:extLst>
          </p:cNvPr>
          <p:cNvSpPr/>
          <p:nvPr/>
        </p:nvSpPr>
        <p:spPr>
          <a:xfrm>
            <a:off x="4634630" y="5166986"/>
            <a:ext cx="3720230" cy="5838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AB712F-8BCD-031B-8B4D-ED1B4262C1C2}"/>
              </a:ext>
            </a:extLst>
          </p:cNvPr>
          <p:cNvSpPr txBox="1"/>
          <p:nvPr/>
        </p:nvSpPr>
        <p:spPr>
          <a:xfrm>
            <a:off x="8599118" y="2010427"/>
            <a:ext cx="33844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/>
              <a:t>5.</a:t>
            </a:r>
            <a:r>
              <a:rPr lang="ko-KR" altLang="en-US" sz="900"/>
              <a:t>승인 요청 보내기 버튼 클릭시 요청의 엔드포인트</a:t>
            </a:r>
            <a:br>
              <a:rPr lang="en-US" altLang="ko-KR" sz="900"/>
            </a:br>
            <a:r>
              <a:rPr lang="ko-KR" altLang="en-US" sz="900"/>
              <a:t>에 요청 전달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CBA3CFCD-A273-ADEA-3750-C3496379F7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4724" y="2379759"/>
            <a:ext cx="3472205" cy="341848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147208D-C62F-B64A-9673-B37E036B3E65}"/>
              </a:ext>
            </a:extLst>
          </p:cNvPr>
          <p:cNvSpPr txBox="1"/>
          <p:nvPr/>
        </p:nvSpPr>
        <p:spPr>
          <a:xfrm>
            <a:off x="8599118" y="5849655"/>
            <a:ext cx="35323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/>
              <a:t>주문이 유효한지 판단후 </a:t>
            </a:r>
            <a:r>
              <a:rPr lang="en-US" altLang="ko-KR" sz="1000"/>
              <a:t>amount / orderId / paymentKey</a:t>
            </a:r>
            <a:r>
              <a:rPr lang="ko-KR" altLang="en-US" sz="1000"/>
              <a:t>를 </a:t>
            </a:r>
            <a:r>
              <a:rPr lang="en-US" altLang="ko-KR" sz="1000"/>
              <a:t>body</a:t>
            </a:r>
            <a:r>
              <a:rPr lang="ko-KR" altLang="en-US" sz="1000"/>
              <a:t>에</a:t>
            </a:r>
            <a:r>
              <a:rPr lang="en-US" altLang="ko-KR" sz="1000"/>
              <a:t> secretKey </a:t>
            </a:r>
            <a:r>
              <a:rPr lang="ko-KR" altLang="en-US" sz="1000"/>
              <a:t>를 </a:t>
            </a:r>
            <a:r>
              <a:rPr lang="en-US" altLang="ko-KR" sz="1000"/>
              <a:t>header</a:t>
            </a:r>
            <a:r>
              <a:rPr lang="ko-KR" altLang="en-US" sz="1000"/>
              <a:t>에 넣고 토스페이먼츠로 전달 </a:t>
            </a:r>
          </a:p>
        </p:txBody>
      </p:sp>
    </p:spTree>
    <p:extLst>
      <p:ext uri="{BB962C8B-B14F-4D97-AF65-F5344CB8AC3E}">
        <p14:creationId xmlns:p14="http://schemas.microsoft.com/office/powerpoint/2010/main" val="2979615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F2C73-EFBB-A89C-F9B1-22CCD8F08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4AA7A1-75C7-3F30-3D42-F35A69D27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36</a:t>
            </a:r>
            <a:r>
              <a:rPr lang="ko-KR" altLang="en-US"/>
              <a:t>강 정리 </a:t>
            </a:r>
            <a:r>
              <a:rPr lang="en-US" altLang="ko-KR"/>
              <a:t>(</a:t>
            </a:r>
            <a:r>
              <a:rPr lang="ko-KR" altLang="en-US"/>
              <a:t>결제 </a:t>
            </a:r>
            <a:r>
              <a:rPr lang="en-US" altLang="ko-KR"/>
              <a:t>Flow </a:t>
            </a:r>
            <a:r>
              <a:rPr lang="ko-KR" altLang="en-US"/>
              <a:t>정리</a:t>
            </a:r>
            <a:r>
              <a:rPr lang="en-US" altLang="ko-KR"/>
              <a:t>) -3</a:t>
            </a:r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439D2052-0D3D-A909-88B9-269522E32430}"/>
              </a:ext>
            </a:extLst>
          </p:cNvPr>
          <p:cNvGrpSpPr/>
          <p:nvPr/>
        </p:nvGrpSpPr>
        <p:grpSpPr>
          <a:xfrm>
            <a:off x="688274" y="1884979"/>
            <a:ext cx="4294157" cy="4227721"/>
            <a:chOff x="688274" y="1884979"/>
            <a:chExt cx="4294157" cy="4227721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E3C0FCC5-BD4B-2717-DDE4-0D632FB70C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8274" y="1884979"/>
              <a:ext cx="4294157" cy="4227721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AE4C7D97-9FCD-886E-CA69-C21A4FC1C750}"/>
                </a:ext>
              </a:extLst>
            </p:cNvPr>
            <p:cNvSpPr/>
            <p:nvPr/>
          </p:nvSpPr>
          <p:spPr>
            <a:xfrm>
              <a:off x="826718" y="5899759"/>
              <a:ext cx="2655518" cy="15657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8048203-4717-5ED3-3689-EAC33CB9B7BE}"/>
              </a:ext>
            </a:extLst>
          </p:cNvPr>
          <p:cNvSpPr txBox="1"/>
          <p:nvPr/>
        </p:nvSpPr>
        <p:spPr>
          <a:xfrm>
            <a:off x="5079304" y="1884979"/>
            <a:ext cx="66888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/>
              <a:t>엔드포인트 </a:t>
            </a:r>
            <a:r>
              <a:rPr lang="en-US" altLang="ko-KR" sz="900"/>
              <a:t>Url </a:t>
            </a:r>
            <a:r>
              <a:rPr lang="ko-KR" altLang="en-US" sz="900"/>
              <a:t>로직 마지막에 </a:t>
            </a:r>
            <a:r>
              <a:rPr lang="en-US" altLang="ko-KR" sz="900"/>
              <a:t>marketFacade.requestPayment()</a:t>
            </a:r>
            <a:r>
              <a:rPr lang="ko-KR" altLang="en-US" sz="900"/>
              <a:t> 를 보면 어디서 많이 본 </a:t>
            </a:r>
            <a:br>
              <a:rPr lang="en-US" altLang="ko-KR" sz="900"/>
            </a:br>
            <a:r>
              <a:rPr lang="ko-KR" altLang="en-US" sz="900"/>
              <a:t>서비스 단과 메소드가 있다</a:t>
            </a:r>
            <a:r>
              <a:rPr lang="en-US" altLang="ko-KR" sz="900"/>
              <a:t>.</a:t>
            </a:r>
            <a:br>
              <a:rPr lang="en-US" altLang="ko-KR" sz="900"/>
            </a:br>
            <a:br>
              <a:rPr lang="en-US" altLang="ko-KR" sz="900"/>
            </a:br>
            <a:r>
              <a:rPr lang="ko-KR" altLang="en-US" sz="900"/>
              <a:t> 그렇다</a:t>
            </a:r>
            <a:r>
              <a:rPr lang="en-US" altLang="ko-KR" sz="900"/>
              <a:t>. 35</a:t>
            </a:r>
            <a:r>
              <a:rPr lang="ko-KR" altLang="en-US" sz="900"/>
              <a:t>강에서 작성했던 주문 </a:t>
            </a:r>
            <a:r>
              <a:rPr lang="en-US" altLang="ko-KR" sz="900"/>
              <a:t>- </a:t>
            </a:r>
            <a:r>
              <a:rPr lang="ko-KR" altLang="en-US" sz="900"/>
              <a:t>결제 로직은 </a:t>
            </a:r>
            <a:r>
              <a:rPr lang="en-US" altLang="ko-KR" sz="900"/>
              <a:t>PG</a:t>
            </a:r>
            <a:r>
              <a:rPr lang="ko-KR" altLang="en-US" sz="900"/>
              <a:t>사 결제가 실제로 이루어지고 난 이후 수행되는 로직이다</a:t>
            </a:r>
            <a:r>
              <a:rPr lang="en-US" altLang="ko-KR" sz="900"/>
              <a:t>.</a:t>
            </a:r>
            <a:endParaRPr lang="ko-KR" altLang="en-US" sz="900"/>
          </a:p>
        </p:txBody>
      </p:sp>
    </p:spTree>
    <p:extLst>
      <p:ext uri="{BB962C8B-B14F-4D97-AF65-F5344CB8AC3E}">
        <p14:creationId xmlns:p14="http://schemas.microsoft.com/office/powerpoint/2010/main" val="1558873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CE4371E-C42A-F441-4E09-6B0377E8CD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7027" y="0"/>
            <a:ext cx="7059367" cy="6858000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CFA9BCE7-1470-AF82-AD17-A361A6C1930F}"/>
              </a:ext>
            </a:extLst>
          </p:cNvPr>
          <p:cNvGrpSpPr/>
          <p:nvPr/>
        </p:nvGrpSpPr>
        <p:grpSpPr>
          <a:xfrm>
            <a:off x="6391468" y="3741577"/>
            <a:ext cx="3219063" cy="1828800"/>
            <a:chOff x="6391468" y="3741577"/>
            <a:chExt cx="3219063" cy="1828800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00588F33-3AEE-29CC-64D7-55AF8821F345}"/>
                </a:ext>
              </a:extLst>
            </p:cNvPr>
            <p:cNvSpPr/>
            <p:nvPr/>
          </p:nvSpPr>
          <p:spPr>
            <a:xfrm>
              <a:off x="6391468" y="3741577"/>
              <a:ext cx="2174033" cy="182880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" name="직선 화살표 연결선 5">
              <a:extLst>
                <a:ext uri="{FF2B5EF4-FFF2-40B4-BE49-F238E27FC236}">
                  <a16:creationId xmlns:a16="http://schemas.microsoft.com/office/drawing/2014/main" id="{F681559C-2B8B-06B6-2AED-40B17E165C2E}"/>
                </a:ext>
              </a:extLst>
            </p:cNvPr>
            <p:cNvCxnSpPr>
              <a:stCxn id="4" idx="3"/>
            </p:cNvCxnSpPr>
            <p:nvPr/>
          </p:nvCxnSpPr>
          <p:spPr>
            <a:xfrm flipV="1">
              <a:off x="8565501" y="4590661"/>
              <a:ext cx="1045030" cy="6531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FC0B6E5-E5CA-8E90-E40E-5E22F6DE7ED2}"/>
              </a:ext>
            </a:extLst>
          </p:cNvPr>
          <p:cNvSpPr txBox="1"/>
          <p:nvPr/>
        </p:nvSpPr>
        <p:spPr>
          <a:xfrm>
            <a:off x="9610531" y="4359828"/>
            <a:ext cx="21367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>
                <a:solidFill>
                  <a:srgbClr val="FF0000"/>
                </a:solidFill>
              </a:rPr>
              <a:t>해당 부분이 </a:t>
            </a:r>
            <a:r>
              <a:rPr lang="en-US" altLang="ko-KR" sz="1200">
                <a:solidFill>
                  <a:srgbClr val="FF0000"/>
                </a:solidFill>
              </a:rPr>
              <a:t>35</a:t>
            </a:r>
            <a:r>
              <a:rPr lang="ko-KR" altLang="en-US" sz="1200">
                <a:solidFill>
                  <a:srgbClr val="FF0000"/>
                </a:solidFill>
              </a:rPr>
              <a:t>강에 해당하는 부분</a:t>
            </a:r>
          </a:p>
        </p:txBody>
      </p:sp>
    </p:spTree>
    <p:extLst>
      <p:ext uri="{BB962C8B-B14F-4D97-AF65-F5344CB8AC3E}">
        <p14:creationId xmlns:p14="http://schemas.microsoft.com/office/powerpoint/2010/main" val="1995154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63A4E4-8C78-4C15-BDB3-B2A4BDF63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37</a:t>
            </a:r>
            <a:r>
              <a:rPr lang="ko-KR" altLang="en-US"/>
              <a:t>강 요약 </a:t>
            </a:r>
            <a:r>
              <a:rPr lang="en-US" altLang="ko-KR"/>
              <a:t>- </a:t>
            </a:r>
            <a:r>
              <a:rPr lang="ko-KR" altLang="en-US"/>
              <a:t>리펙토링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11FF45-B9FB-F899-2AF0-9FD33CCA4381}"/>
              </a:ext>
            </a:extLst>
          </p:cNvPr>
          <p:cNvSpPr txBox="1"/>
          <p:nvPr/>
        </p:nvSpPr>
        <p:spPr>
          <a:xfrm>
            <a:off x="1166327" y="2015412"/>
            <a:ext cx="100584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/>
              <a:t>언제든지 변경될 수 있는 회사 정책이나 서버 </a:t>
            </a:r>
            <a:r>
              <a:rPr lang="en-US" altLang="ko-KR" sz="1600"/>
              <a:t>url </a:t>
            </a:r>
            <a:r>
              <a:rPr lang="ko-KR" altLang="en-US" sz="1600"/>
              <a:t>설정등은 </a:t>
            </a:r>
            <a:r>
              <a:rPr lang="en-US" altLang="ko-KR" sz="1600"/>
              <a:t>application.yaml </a:t>
            </a:r>
            <a:r>
              <a:rPr lang="ko-KR" altLang="en-US" sz="1600"/>
              <a:t>로 관리된다</a:t>
            </a:r>
            <a:r>
              <a:rPr lang="en-US" altLang="ko-KR" sz="1600"/>
              <a:t>.</a:t>
            </a:r>
            <a:br>
              <a:rPr lang="en-US" altLang="ko-KR" sz="1600"/>
            </a:br>
            <a:br>
              <a:rPr lang="en-US" altLang="ko-KR" sz="1600"/>
            </a:br>
            <a:r>
              <a:rPr lang="en-US" altLang="ko-KR" sz="1600"/>
              <a:t>Client </a:t>
            </a:r>
            <a:r>
              <a:rPr lang="ko-KR" altLang="en-US" sz="1600"/>
              <a:t>별 </a:t>
            </a:r>
            <a:r>
              <a:rPr lang="en-US" altLang="ko-KR" sz="1600"/>
              <a:t>- baseUrl</a:t>
            </a:r>
            <a:br>
              <a:rPr lang="en-US" altLang="ko-KR" sz="1600"/>
            </a:br>
            <a:r>
              <a:rPr lang="en-US" altLang="ko-KR" sz="1600"/>
              <a:t>MemberPolicy</a:t>
            </a:r>
            <a:r>
              <a:rPr lang="ko-KR" altLang="en-US" sz="1600"/>
              <a:t> </a:t>
            </a:r>
            <a:r>
              <a:rPr lang="en-US" altLang="ko-KR" sz="1600"/>
              <a:t>- </a:t>
            </a:r>
            <a:r>
              <a:rPr lang="ko-KR" altLang="en-US" sz="1600"/>
              <a:t>비밀번호 정책  </a:t>
            </a:r>
            <a:r>
              <a:rPr lang="en-US" altLang="ko-KR" sz="1600"/>
              <a:t>(90</a:t>
            </a:r>
            <a:r>
              <a:rPr lang="ko-KR" altLang="en-US" sz="1600"/>
              <a:t>일</a:t>
            </a:r>
            <a:r>
              <a:rPr lang="en-US" altLang="ko-KR" sz="1600"/>
              <a:t>)</a:t>
            </a:r>
            <a:br>
              <a:rPr lang="en-US" altLang="ko-KR" sz="1600"/>
            </a:br>
            <a:r>
              <a:rPr lang="en-US" altLang="ko-KR" sz="1600"/>
              <a:t>CashPolicy - </a:t>
            </a:r>
            <a:r>
              <a:rPr lang="ko-KR" altLang="en-US" sz="1600"/>
              <a:t>이커머스 용 무통장 입금 계정 정보 </a:t>
            </a:r>
            <a:r>
              <a:rPr lang="en-US" altLang="ko-KR" sz="1600"/>
              <a:t>(</a:t>
            </a:r>
            <a:r>
              <a:rPr lang="ko-KR" altLang="en-US" sz="1600"/>
              <a:t>이라고 생각하자</a:t>
            </a:r>
            <a:r>
              <a:rPr lang="en-US" altLang="ko-KR" sz="1600"/>
              <a:t>)</a:t>
            </a:r>
          </a:p>
          <a:p>
            <a:r>
              <a:rPr lang="en-US" altLang="ko-KR" sz="1600"/>
              <a:t>MarketPolicy - </a:t>
            </a:r>
            <a:r>
              <a:rPr lang="ko-KR" altLang="en-US" sz="1600"/>
              <a:t>이커머스 정산 비율 </a:t>
            </a:r>
            <a:r>
              <a:rPr lang="en-US" altLang="ko-KR" sz="1600"/>
              <a:t>(</a:t>
            </a:r>
            <a:r>
              <a:rPr lang="ko-KR" altLang="en-US" sz="1600"/>
              <a:t> 판매자 수수료 </a:t>
            </a:r>
            <a:r>
              <a:rPr lang="en-US" altLang="ko-KR" sz="1600"/>
              <a:t>10%, </a:t>
            </a:r>
            <a:r>
              <a:rPr lang="ko-KR" altLang="en-US" sz="1600"/>
              <a:t>물품 판매자 </a:t>
            </a:r>
            <a:r>
              <a:rPr lang="en-US" altLang="ko-KR" sz="1600"/>
              <a:t>%90)</a:t>
            </a:r>
          </a:p>
          <a:p>
            <a:endParaRPr lang="ko-KR" altLang="en-US" sz="16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B443296-BABC-95D9-12EC-B5997A6BB5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327" y="3538754"/>
            <a:ext cx="3685591" cy="308916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A14B006-242F-522A-411C-495AE8D5AE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3743" y="3579496"/>
            <a:ext cx="5029902" cy="30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4769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F52D90-C9C1-5736-18DD-FCF9B565B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38</a:t>
            </a:r>
            <a:r>
              <a:rPr lang="ko-KR" altLang="en-US"/>
              <a:t>강 요약 </a:t>
            </a:r>
            <a:r>
              <a:rPr lang="en-US" altLang="ko-KR"/>
              <a:t>- </a:t>
            </a:r>
            <a:r>
              <a:rPr lang="ko-KR" altLang="en-US"/>
              <a:t>안티패턴 제거</a:t>
            </a:r>
            <a:r>
              <a:rPr lang="en-US" altLang="ko-KR"/>
              <a:t>(</a:t>
            </a:r>
            <a:r>
              <a:rPr lang="ko-KR" altLang="en-US"/>
              <a:t>리펙토링</a:t>
            </a:r>
            <a:r>
              <a:rPr lang="en-US" altLang="ko-KR"/>
              <a:t>)</a:t>
            </a:r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88C723E-2FAD-A8F4-32BF-82BD0A56E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466" y="1885211"/>
            <a:ext cx="10517068" cy="22291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0CFE61-B66D-21EE-A89E-0510FFBB8B97}"/>
              </a:ext>
            </a:extLst>
          </p:cNvPr>
          <p:cNvSpPr txBox="1"/>
          <p:nvPr/>
        </p:nvSpPr>
        <p:spPr>
          <a:xfrm>
            <a:off x="837466" y="4236098"/>
            <a:ext cx="105170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event</a:t>
            </a:r>
            <a:r>
              <a:rPr lang="ko-KR" altLang="en-US" sz="1200"/>
              <a:t> 객체가 </a:t>
            </a:r>
            <a:r>
              <a:rPr lang="en-US" altLang="ko-KR" sz="1200"/>
              <a:t>Listener</a:t>
            </a:r>
            <a:r>
              <a:rPr lang="ko-KR" altLang="en-US" sz="1200"/>
              <a:t>에서 끝나지 않고 </a:t>
            </a:r>
            <a:r>
              <a:rPr lang="en-US" altLang="ko-KR" sz="1200"/>
              <a:t>Facade</a:t>
            </a:r>
            <a:r>
              <a:rPr lang="ko-KR" altLang="en-US" sz="1200"/>
              <a:t>와 </a:t>
            </a:r>
            <a:r>
              <a:rPr lang="en-US" altLang="ko-KR" sz="1200"/>
              <a:t>UseCase</a:t>
            </a:r>
            <a:r>
              <a:rPr lang="ko-KR" altLang="en-US" sz="1200"/>
              <a:t>에 침투해 있음</a:t>
            </a:r>
            <a:r>
              <a:rPr lang="en-US" altLang="ko-KR" sz="1200"/>
              <a:t>.</a:t>
            </a:r>
            <a:br>
              <a:rPr lang="en-US" altLang="ko-KR" sz="1200"/>
            </a:br>
            <a:endParaRPr lang="en-US" altLang="ko-KR" sz="1200"/>
          </a:p>
          <a:p>
            <a:r>
              <a:rPr lang="ko-KR" altLang="en-US" sz="1200"/>
              <a:t>단점 </a:t>
            </a:r>
            <a:r>
              <a:rPr lang="en-US" altLang="ko-KR" sz="1200"/>
              <a:t>: </a:t>
            </a:r>
            <a:r>
              <a:rPr lang="ko-KR" altLang="en-US" sz="1200"/>
              <a:t>테스트 코드 작성시</a:t>
            </a:r>
            <a:r>
              <a:rPr lang="en-US" altLang="ko-KR" sz="1200"/>
              <a:t>, </a:t>
            </a:r>
            <a:r>
              <a:rPr lang="ko-KR" altLang="en-US" sz="1200"/>
              <a:t>불필요한 정보 객체</a:t>
            </a:r>
            <a:r>
              <a:rPr lang="en-US" altLang="ko-KR" sz="1200"/>
              <a:t>(MarketOrderpaymentRequestEvent)</a:t>
            </a:r>
            <a:r>
              <a:rPr lang="ko-KR" altLang="en-US" sz="1200"/>
              <a:t>를 생성해서 보내야함</a:t>
            </a:r>
            <a:br>
              <a:rPr lang="en-US" altLang="ko-KR" sz="1200"/>
            </a:br>
            <a:r>
              <a:rPr lang="en-US" altLang="ko-KR" sz="1200"/>
              <a:t>             </a:t>
            </a:r>
            <a:r>
              <a:rPr lang="ko-KR" altLang="en-US" sz="1200"/>
              <a:t>전달 수단이 </a:t>
            </a:r>
            <a:r>
              <a:rPr lang="en-US" altLang="ko-KR" sz="1200"/>
              <a:t>Kafka</a:t>
            </a:r>
            <a:r>
              <a:rPr lang="ko-KR" altLang="en-US" sz="1200"/>
              <a:t>로 바꾸면 </a:t>
            </a:r>
            <a:r>
              <a:rPr lang="en-US" altLang="ko-KR" sz="1200"/>
              <a:t>Cash</a:t>
            </a:r>
            <a:r>
              <a:rPr lang="ko-KR" altLang="en-US" sz="1200"/>
              <a:t>서비스의 </a:t>
            </a:r>
            <a:r>
              <a:rPr lang="en-US" altLang="ko-KR" sz="1200"/>
              <a:t>Consumer </a:t>
            </a:r>
            <a:r>
              <a:rPr lang="ko-KR" altLang="en-US" sz="1200"/>
              <a:t>만 수정하는게 아니라 </a:t>
            </a:r>
            <a:r>
              <a:rPr lang="en-US" altLang="ko-KR" sz="1200"/>
              <a:t>Facade </a:t>
            </a:r>
            <a:r>
              <a:rPr lang="ko-KR" altLang="en-US" sz="1200"/>
              <a:t>영역까지 수정해야함</a:t>
            </a:r>
            <a:r>
              <a:rPr lang="en-US" altLang="ko-KR" sz="1200"/>
              <a:t>.</a:t>
            </a:r>
            <a:br>
              <a:rPr lang="en-US" altLang="ko-KR" sz="1200"/>
            </a:br>
            <a:br>
              <a:rPr lang="en-US" altLang="ko-KR" sz="1200"/>
            </a:br>
            <a:r>
              <a:rPr lang="ko-KR" altLang="en-US" sz="1200"/>
              <a:t>해결 </a:t>
            </a:r>
            <a:r>
              <a:rPr lang="en-US" altLang="ko-KR" sz="1200"/>
              <a:t>: </a:t>
            </a:r>
            <a:r>
              <a:rPr lang="ko-KR" altLang="en-US" sz="1200"/>
              <a:t>이벤트에서 받은 정보를 풀어서 전달</a:t>
            </a:r>
            <a:r>
              <a:rPr lang="en-US" altLang="ko-KR" sz="1200"/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3866424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CDED19-5EB1-546C-B2D3-E38875F6D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39</a:t>
            </a:r>
            <a:r>
              <a:rPr lang="ko-KR" altLang="en-US" sz="3600"/>
              <a:t>강 요약 </a:t>
            </a:r>
            <a:r>
              <a:rPr lang="en-US" altLang="ko-KR" sz="3600"/>
              <a:t>- DTO</a:t>
            </a:r>
            <a:r>
              <a:rPr lang="ko-KR" altLang="en-US" sz="3600"/>
              <a:t>에서 </a:t>
            </a:r>
            <a:r>
              <a:rPr lang="en-US" altLang="ko-KR" sz="3600"/>
              <a:t>mapping</a:t>
            </a:r>
            <a:r>
              <a:rPr lang="ko-KR" altLang="en-US" sz="3600"/>
              <a:t>이 아니라 </a:t>
            </a:r>
            <a:r>
              <a:rPr lang="en-US" altLang="ko-KR" sz="3600"/>
              <a:t>entitiy</a:t>
            </a:r>
            <a:r>
              <a:rPr lang="ko-KR" altLang="en-US" sz="3600"/>
              <a:t>가 </a:t>
            </a:r>
            <a:r>
              <a:rPr lang="en-US" altLang="ko-KR" sz="3600"/>
              <a:t>DTO</a:t>
            </a:r>
            <a:r>
              <a:rPr lang="ko-KR" altLang="en-US" sz="3600"/>
              <a:t>를 반환하도록 변경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C877B68-259B-59F0-9BF1-D7E688F14D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958" b="1"/>
          <a:stretch>
            <a:fillRect/>
          </a:stretch>
        </p:blipFill>
        <p:spPr>
          <a:xfrm>
            <a:off x="176436" y="2071396"/>
            <a:ext cx="5932335" cy="304924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4C902AA-1F3E-71BF-BD14-D993282F5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8833" y="2071396"/>
            <a:ext cx="5726731" cy="31808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DC6B142-2DAE-65AE-BCD0-5C44CF8A048F}"/>
              </a:ext>
            </a:extLst>
          </p:cNvPr>
          <p:cNvSpPr txBox="1"/>
          <p:nvPr/>
        </p:nvSpPr>
        <p:spPr>
          <a:xfrm>
            <a:off x="6288833" y="5252222"/>
            <a:ext cx="5726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DTO </a:t>
            </a:r>
            <a:r>
              <a:rPr lang="ko-KR" altLang="en-US" sz="1400"/>
              <a:t>에서 </a:t>
            </a:r>
            <a:r>
              <a:rPr lang="en-US" altLang="ko-KR" sz="1400"/>
              <a:t>mapping </a:t>
            </a:r>
            <a:r>
              <a:rPr lang="ko-KR" altLang="en-US" sz="1400"/>
              <a:t>생성자 삭제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C88213-4C36-166C-A698-3663E99F953F}"/>
              </a:ext>
            </a:extLst>
          </p:cNvPr>
          <p:cNvSpPr txBox="1"/>
          <p:nvPr/>
        </p:nvSpPr>
        <p:spPr>
          <a:xfrm>
            <a:off x="176437" y="5300788"/>
            <a:ext cx="57267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/>
              <a:t>Entity </a:t>
            </a:r>
            <a:r>
              <a:rPr lang="ko-KR" altLang="en-US" sz="1400"/>
              <a:t>에서 </a:t>
            </a:r>
            <a:r>
              <a:rPr lang="en-US" altLang="ko-KR" sz="1400"/>
              <a:t>mapping </a:t>
            </a:r>
            <a:r>
              <a:rPr lang="ko-KR" altLang="en-US" sz="1400"/>
              <a:t>메소드 </a:t>
            </a:r>
            <a:r>
              <a:rPr lang="en-US" altLang="ko-KR" sz="1400"/>
              <a:t>toDto </a:t>
            </a:r>
            <a:r>
              <a:rPr lang="ko-KR" altLang="en-US" sz="1400"/>
              <a:t>작성</a:t>
            </a:r>
          </a:p>
        </p:txBody>
      </p:sp>
    </p:spTree>
    <p:extLst>
      <p:ext uri="{BB962C8B-B14F-4D97-AF65-F5344CB8AC3E}">
        <p14:creationId xmlns:p14="http://schemas.microsoft.com/office/powerpoint/2010/main" val="3800224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225CB1-F0D0-7416-53BD-8936DCCF2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40</a:t>
            </a:r>
            <a:r>
              <a:rPr lang="ko-KR" altLang="en-US" sz="3600"/>
              <a:t>강 인터페이스를 통해 입력 및 반환 강제하기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680B692-4B64-8C4E-97B0-9E71BC1978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047" y="1862900"/>
            <a:ext cx="7491240" cy="333425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0DF7E74-680C-F06B-3E8F-4BC4BA321C32}"/>
              </a:ext>
            </a:extLst>
          </p:cNvPr>
          <p:cNvSpPr txBox="1"/>
          <p:nvPr/>
        </p:nvSpPr>
        <p:spPr>
          <a:xfrm>
            <a:off x="7915287" y="1862900"/>
            <a:ext cx="385266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메소드의 사용자가 규칙으로 정해진 필드 내 도메인타입을 자유롭게 입력받게 한다면</a:t>
            </a:r>
            <a:r>
              <a:rPr lang="en-US" altLang="ko-KR" sz="1200"/>
              <a:t>,</a:t>
            </a:r>
            <a:br>
              <a:rPr lang="en-US" altLang="ko-KR" sz="1200"/>
            </a:br>
            <a:r>
              <a:rPr lang="ko-KR" altLang="en-US" sz="1200"/>
              <a:t>오타가 났을경우 </a:t>
            </a:r>
            <a:r>
              <a:rPr lang="en-US" altLang="ko-KR" sz="1200"/>
              <a:t>DB</a:t>
            </a:r>
            <a:r>
              <a:rPr lang="ko-KR" altLang="en-US" sz="1200"/>
              <a:t>내 타입이 틀어지게된다</a:t>
            </a:r>
            <a:r>
              <a:rPr lang="en-US" altLang="ko-KR" sz="1200"/>
              <a:t>.</a:t>
            </a:r>
          </a:p>
          <a:p>
            <a:endParaRPr lang="en-US" altLang="ko-KR" sz="1200"/>
          </a:p>
          <a:p>
            <a:r>
              <a:rPr lang="ko-KR" altLang="en-US" sz="1200"/>
              <a:t>이를 강제해서 틀어지는걸 막아야한다</a:t>
            </a:r>
            <a:r>
              <a:rPr lang="en-US" altLang="ko-KR" sz="1200"/>
              <a:t>.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3428880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A22CF-5E47-E279-F317-9665C3C16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4C5AA4-D24C-509A-E806-0367C8AC7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40</a:t>
            </a:r>
            <a:r>
              <a:rPr lang="ko-KR" altLang="en-US" sz="3600"/>
              <a:t>강 인터페이스를 통해 입력 및 반환 강제하기</a:t>
            </a:r>
            <a:r>
              <a:rPr lang="en-US" altLang="ko-KR" sz="3600"/>
              <a:t>-2</a:t>
            </a:r>
            <a:endParaRPr lang="ko-KR" altLang="en-US" sz="3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4CE4D5-C804-0EB4-278C-AA009B62AB92}"/>
              </a:ext>
            </a:extLst>
          </p:cNvPr>
          <p:cNvSpPr txBox="1"/>
          <p:nvPr/>
        </p:nvSpPr>
        <p:spPr>
          <a:xfrm>
            <a:off x="7961940" y="1934087"/>
            <a:ext cx="385266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HasModelTypeCode </a:t>
            </a:r>
            <a:br>
              <a:rPr lang="en-US" altLang="ko-KR" sz="1200"/>
            </a:br>
            <a:r>
              <a:rPr lang="en-US" altLang="ko-KR" sz="1200">
                <a:sym typeface="Wingdings" panose="05000000000000000000" pitchFamily="2" charset="2"/>
              </a:rPr>
              <a:t> </a:t>
            </a:r>
            <a:r>
              <a:rPr lang="ko-KR" altLang="en-US" sz="1200">
                <a:sym typeface="Wingdings" panose="05000000000000000000" pitchFamily="2" charset="2"/>
              </a:rPr>
              <a:t>클래스 명을 반환한다</a:t>
            </a:r>
            <a:r>
              <a:rPr lang="en-US" altLang="ko-KR" sz="1200">
                <a:sym typeface="Wingdings" panose="05000000000000000000" pitchFamily="2" charset="2"/>
              </a:rPr>
              <a:t>. </a:t>
            </a:r>
            <a:br>
              <a:rPr lang="en-US" altLang="ko-KR" sz="1200">
                <a:sym typeface="Wingdings" panose="05000000000000000000" pitchFamily="2" charset="2"/>
              </a:rPr>
            </a:br>
            <a:r>
              <a:rPr lang="en-US" altLang="ko-KR" sz="1200">
                <a:sym typeface="Wingdings" panose="05000000000000000000" pitchFamily="2" charset="2"/>
              </a:rPr>
              <a:t>     (BaseEntity</a:t>
            </a:r>
            <a:r>
              <a:rPr lang="ko-KR" altLang="en-US" sz="1200">
                <a:sym typeface="Wingdings" panose="05000000000000000000" pitchFamily="2" charset="2"/>
              </a:rPr>
              <a:t>에 정의된 메소드이다</a:t>
            </a:r>
            <a:r>
              <a:rPr lang="en-US" altLang="ko-KR" sz="1200">
                <a:sym typeface="Wingdings" panose="05000000000000000000" pitchFamily="2" charset="2"/>
              </a:rPr>
              <a:t>.)</a:t>
            </a:r>
            <a:br>
              <a:rPr lang="en-US" altLang="ko-KR" sz="1200">
                <a:sym typeface="Wingdings" panose="05000000000000000000" pitchFamily="2" charset="2"/>
              </a:rPr>
            </a:br>
            <a:r>
              <a:rPr lang="en-US" altLang="ko-KR" sz="1200">
                <a:sym typeface="Wingdings" panose="05000000000000000000" pitchFamily="2" charset="2"/>
              </a:rPr>
              <a:t>     (DTO</a:t>
            </a:r>
            <a:r>
              <a:rPr lang="ko-KR" altLang="en-US" sz="1200">
                <a:sym typeface="Wingdings" panose="05000000000000000000" pitchFamily="2" charset="2"/>
              </a:rPr>
              <a:t>에 강제함으로써 </a:t>
            </a:r>
            <a:r>
              <a:rPr lang="en-US" altLang="ko-KR" sz="1200">
                <a:sym typeface="Wingdings" panose="05000000000000000000" pitchFamily="2" charset="2"/>
              </a:rPr>
              <a:t>Class</a:t>
            </a:r>
            <a:r>
              <a:rPr lang="ko-KR" altLang="en-US" sz="1200">
                <a:sym typeface="Wingdings" panose="05000000000000000000" pitchFamily="2" charset="2"/>
              </a:rPr>
              <a:t>명을 얻을수 있다</a:t>
            </a:r>
            <a:r>
              <a:rPr lang="en-US" altLang="ko-KR" sz="1200">
                <a:sym typeface="Wingdings" panose="05000000000000000000" pitchFamily="2" charset="2"/>
              </a:rPr>
              <a:t>.)</a:t>
            </a:r>
          </a:p>
          <a:p>
            <a:endParaRPr lang="en-US" altLang="ko-KR" sz="1200">
              <a:sym typeface="Wingdings" panose="05000000000000000000" pitchFamily="2" charset="2"/>
            </a:endParaRPr>
          </a:p>
          <a:p>
            <a:r>
              <a:rPr lang="en-US" altLang="ko-KR" sz="1200">
                <a:sym typeface="Wingdings" panose="05000000000000000000" pitchFamily="2" charset="2"/>
              </a:rPr>
              <a:t>ResultType</a:t>
            </a:r>
          </a:p>
          <a:p>
            <a:r>
              <a:rPr lang="en-US" altLang="ko-KR" sz="1200">
                <a:sym typeface="Wingdings" panose="05000000000000000000" pitchFamily="2" charset="2"/>
              </a:rPr>
              <a:t> </a:t>
            </a:r>
            <a:r>
              <a:rPr lang="ko-KR" altLang="en-US" sz="1200">
                <a:sym typeface="Wingdings" panose="05000000000000000000" pitchFamily="2" charset="2"/>
              </a:rPr>
              <a:t>해당 형태의 결과 반환을 강제하는 인터페이스이다</a:t>
            </a:r>
            <a:r>
              <a:rPr lang="en-US" altLang="ko-KR" sz="1200">
                <a:sym typeface="Wingdings" panose="05000000000000000000" pitchFamily="2" charset="2"/>
              </a:rPr>
              <a:t>.</a:t>
            </a:r>
            <a:endParaRPr lang="ko-KR" altLang="en-US" sz="120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11EB235-6CE3-8BE1-4C73-4C5D94981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178" y="1934087"/>
            <a:ext cx="7686270" cy="372026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257F8A2-0A3F-D548-9B1B-0B03DEAF3E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178" y="4077450"/>
            <a:ext cx="3072123" cy="258460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371694D-B8FB-0EE3-7E91-1273921EFD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092" y="3921751"/>
            <a:ext cx="4601217" cy="144800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69F19D60-E943-B996-1745-37A16CB7BB4D}"/>
              </a:ext>
            </a:extLst>
          </p:cNvPr>
          <p:cNvSpPr/>
          <p:nvPr/>
        </p:nvSpPr>
        <p:spPr>
          <a:xfrm>
            <a:off x="1931437" y="6195527"/>
            <a:ext cx="5197151" cy="4665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DTO</a:t>
            </a:r>
            <a:r>
              <a:rPr lang="ko-KR" altLang="en-US" sz="100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에 사용하여 </a:t>
            </a:r>
            <a:r>
              <a:rPr lang="en-US" altLang="ko-KR" sz="100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DTO</a:t>
            </a:r>
            <a:r>
              <a:rPr lang="ko-KR" altLang="en-US" sz="100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의 출처 타입을 제공하도록 강제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D66B30B-D4DF-AC71-1A08-CE8829EB85DA}"/>
              </a:ext>
            </a:extLst>
          </p:cNvPr>
          <p:cNvSpPr/>
          <p:nvPr/>
        </p:nvSpPr>
        <p:spPr>
          <a:xfrm>
            <a:off x="6665092" y="5458409"/>
            <a:ext cx="5197151" cy="46653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결과에 대한 컨벤션을 강제할 때 사용</a:t>
            </a:r>
          </a:p>
        </p:txBody>
      </p:sp>
    </p:spTree>
    <p:extLst>
      <p:ext uri="{BB962C8B-B14F-4D97-AF65-F5344CB8AC3E}">
        <p14:creationId xmlns:p14="http://schemas.microsoft.com/office/powerpoint/2010/main" val="26862227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7D55DB-1583-7109-4CFA-0E8337A8D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2400"/>
              <a:t>41</a:t>
            </a:r>
            <a:r>
              <a:rPr lang="ko-KR" altLang="en-US" sz="2400"/>
              <a:t>강 요약 </a:t>
            </a:r>
            <a:r>
              <a:rPr lang="en-US" altLang="ko-KR" sz="2400"/>
              <a:t>- </a:t>
            </a:r>
            <a:r>
              <a:rPr lang="ko-KR" altLang="en-US" sz="2400"/>
              <a:t>정산 모듈 생성시 회원생성 이벤트를 통한 회원 복제 및</a:t>
            </a:r>
            <a:br>
              <a:rPr lang="en-US" altLang="ko-KR" sz="2400"/>
            </a:br>
            <a:r>
              <a:rPr lang="ko-KR" altLang="en-US" sz="2400"/>
              <a:t>회원복제 이벤트 발행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692185-5F2C-2135-8328-3CF41A5388FB}"/>
              </a:ext>
            </a:extLst>
          </p:cNvPr>
          <p:cNvSpPr txBox="1"/>
          <p:nvPr/>
        </p:nvSpPr>
        <p:spPr>
          <a:xfrm>
            <a:off x="1184988" y="1819469"/>
            <a:ext cx="997069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( PaymentMember </a:t>
            </a:r>
            <a:r>
              <a:rPr lang="ko-KR" altLang="en-US"/>
              <a:t>생성 될 때 </a:t>
            </a:r>
            <a:r>
              <a:rPr lang="en-US" altLang="ko-KR"/>
              <a:t>Payout(</a:t>
            </a:r>
            <a:r>
              <a:rPr lang="ko-KR" altLang="en-US"/>
              <a:t>정산</a:t>
            </a:r>
            <a:r>
              <a:rPr lang="en-US" altLang="ko-KR"/>
              <a:t>)</a:t>
            </a:r>
            <a:r>
              <a:rPr lang="ko-KR" altLang="en-US"/>
              <a:t>정보를 생성해놓는게 좋음  </a:t>
            </a:r>
            <a:r>
              <a:rPr lang="en-US" altLang="ko-KR"/>
              <a:t>)</a:t>
            </a:r>
          </a:p>
          <a:p>
            <a:endParaRPr lang="en-US" altLang="ko-KR"/>
          </a:p>
          <a:p>
            <a:pPr marL="342900" indent="-342900">
              <a:buAutoNum type="arabicPeriod"/>
            </a:pPr>
            <a:r>
              <a:rPr lang="en-US" altLang="ko-KR"/>
              <a:t>PaymentEventListener </a:t>
            </a:r>
            <a:r>
              <a:rPr lang="ko-KR" altLang="en-US"/>
              <a:t>에서 멤버 동기화</a:t>
            </a:r>
            <a:r>
              <a:rPr lang="en-US" altLang="ko-KR"/>
              <a:t>(paymentFacade.syncMember) </a:t>
            </a:r>
          </a:p>
          <a:p>
            <a:pPr marL="342900" indent="-342900">
              <a:buAutoNum type="arabicPeriod"/>
            </a:pPr>
            <a:r>
              <a:rPr lang="ko-KR" altLang="en-US"/>
              <a:t>동기화 로직 완료 후  새로 생성된 </a:t>
            </a:r>
            <a:r>
              <a:rPr lang="en-US" altLang="ko-KR"/>
              <a:t>paymentMember</a:t>
            </a:r>
            <a:r>
              <a:rPr lang="ko-KR" altLang="en-US"/>
              <a:t>면 </a:t>
            </a:r>
            <a:r>
              <a:rPr lang="en-US" altLang="ko-KR"/>
              <a:t>paymentMemberCreateEvent </a:t>
            </a:r>
            <a:r>
              <a:rPr lang="ko-KR" altLang="en-US"/>
              <a:t>발행</a:t>
            </a:r>
            <a:endParaRPr lang="en-US" altLang="ko-KR"/>
          </a:p>
          <a:p>
            <a:pPr marL="342900" indent="-342900">
              <a:buAutoNum type="arabicPeriod"/>
            </a:pPr>
            <a:r>
              <a:rPr lang="ko-KR" altLang="en-US"/>
              <a:t>같은 </a:t>
            </a:r>
            <a:r>
              <a:rPr lang="en-US" altLang="ko-KR"/>
              <a:t>PaymentEventListener</a:t>
            </a:r>
            <a:r>
              <a:rPr lang="ko-KR" altLang="en-US"/>
              <a:t>에서 이벤트를 받아 </a:t>
            </a:r>
            <a:r>
              <a:rPr lang="en-US" altLang="ko-KR"/>
              <a:t>createPayout(event.getMember()) </a:t>
            </a:r>
            <a:r>
              <a:rPr lang="ko-KR" altLang="en-US"/>
              <a:t>메소드 실행</a:t>
            </a:r>
            <a:br>
              <a:rPr lang="en-US" altLang="ko-KR"/>
            </a:br>
            <a:r>
              <a:rPr lang="en-US" altLang="ko-KR"/>
              <a:t>-&gt; payoutMemberDto </a:t>
            </a:r>
            <a:r>
              <a:rPr lang="ko-KR" altLang="en-US"/>
              <a:t>의 </a:t>
            </a:r>
            <a:r>
              <a:rPr lang="en-US" altLang="ko-KR"/>
              <a:t>payee (</a:t>
            </a:r>
            <a:r>
              <a:rPr lang="ko-KR" altLang="en-US"/>
              <a:t>정산을 받는 사람</a:t>
            </a:r>
            <a:r>
              <a:rPr lang="en-US" altLang="ko-KR"/>
              <a:t>) </a:t>
            </a:r>
            <a:r>
              <a:rPr lang="ko-KR" altLang="en-US"/>
              <a:t>정보 출력</a:t>
            </a:r>
            <a:endParaRPr lang="en-US" altLang="ko-KR"/>
          </a:p>
          <a:p>
            <a:r>
              <a:rPr lang="en-US" altLang="ko-KR"/>
              <a:t>-----</a:t>
            </a:r>
          </a:p>
          <a:p>
            <a:r>
              <a:rPr lang="en-US" altLang="ko-KR"/>
              <a:t>1.  </a:t>
            </a:r>
            <a:r>
              <a:rPr lang="ko-KR" altLang="en-US"/>
              <a:t>주문 결재가 완전히 끝난 경우에 발생하는 </a:t>
            </a:r>
            <a:r>
              <a:rPr lang="en-US" altLang="ko-KR"/>
              <a:t>MarketOrderPaymentCompletedEvent </a:t>
            </a:r>
            <a:br>
              <a:rPr lang="en-US" altLang="ko-KR"/>
            </a:br>
            <a:r>
              <a:rPr lang="en-US" altLang="ko-KR"/>
              <a:t>      -&gt;  orderDto</a:t>
            </a:r>
            <a:r>
              <a:rPr lang="ko-KR" altLang="en-US"/>
              <a:t>를 전달 받음 </a:t>
            </a:r>
            <a:r>
              <a:rPr lang="en-US" altLang="ko-KR"/>
              <a:t>-&gt; </a:t>
            </a:r>
            <a:r>
              <a:rPr lang="ko-KR" altLang="en-US"/>
              <a:t>주문 정보 출력</a:t>
            </a:r>
            <a:endParaRPr lang="en-US" altLang="ko-KR"/>
          </a:p>
          <a:p>
            <a:r>
              <a:rPr lang="en-US" altLang="ko-KR"/>
              <a:t>      </a:t>
            </a:r>
            <a:br>
              <a:rPr lang="en-US" altLang="ko-KR"/>
            </a:br>
            <a:br>
              <a:rPr lang="en-US" altLang="ko-KR"/>
            </a:br>
            <a:r>
              <a:rPr lang="ko-KR" altLang="en-US"/>
              <a:t>까지만 했음 실제 기능은 </a:t>
            </a:r>
            <a:r>
              <a:rPr lang="en-US" altLang="ko-KR"/>
              <a:t>42,43</a:t>
            </a:r>
            <a:r>
              <a:rPr lang="ko-KR" altLang="en-US"/>
              <a:t>강에서 구현</a:t>
            </a:r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2870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8E0DE-7221-D68A-5E6D-779BBBAA2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8D9E6E-7EE4-13BC-9FD6-9B50E3103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z="2000"/>
              <a:t>42</a:t>
            </a:r>
            <a:r>
              <a:rPr lang="ko-KR" altLang="en-US" sz="2000"/>
              <a:t>강 요약 </a:t>
            </a:r>
            <a:r>
              <a:rPr lang="en-US" altLang="ko-KR" sz="2000"/>
              <a:t>- createPayout </a:t>
            </a:r>
            <a:r>
              <a:rPr lang="ko-KR" altLang="en-US" sz="2000"/>
              <a:t>메소드와 결제완료후 받아온 </a:t>
            </a:r>
            <a:r>
              <a:rPr lang="en-US" altLang="ko-KR" sz="2000"/>
              <a:t>OrderDto </a:t>
            </a:r>
            <a:r>
              <a:rPr lang="ko-KR" altLang="en-US" sz="2000"/>
              <a:t>처리 로직 구현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B5BF6A-60CB-E48C-5FD2-B06F7E9928F3}"/>
              </a:ext>
            </a:extLst>
          </p:cNvPr>
          <p:cNvSpPr txBox="1"/>
          <p:nvPr/>
        </p:nvSpPr>
        <p:spPr>
          <a:xfrm>
            <a:off x="1184988" y="1819469"/>
            <a:ext cx="997069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200"/>
              <a:t>같은 </a:t>
            </a:r>
            <a:r>
              <a:rPr lang="en-US" altLang="ko-KR" sz="1200"/>
              <a:t>PaymentEventListener</a:t>
            </a:r>
            <a:r>
              <a:rPr lang="ko-KR" altLang="en-US" sz="1200"/>
              <a:t>에서 </a:t>
            </a:r>
            <a:r>
              <a:rPr lang="en-US" altLang="ko-KR" sz="1200"/>
              <a:t>PayoutMemberCreatedEvent </a:t>
            </a:r>
            <a:r>
              <a:rPr lang="ko-KR" altLang="en-US" sz="1200"/>
              <a:t>이벤트를 받아 </a:t>
            </a:r>
            <a:r>
              <a:rPr lang="en-US" altLang="ko-KR" sz="1200"/>
              <a:t>createPayout(event.getMember()) </a:t>
            </a:r>
            <a:r>
              <a:rPr lang="ko-KR" altLang="en-US" sz="1200"/>
              <a:t>메소드 실행</a:t>
            </a:r>
            <a:br>
              <a:rPr lang="en-US" altLang="ko-KR" sz="1200"/>
            </a:br>
            <a:r>
              <a:rPr lang="en-US" altLang="ko-KR" sz="1200"/>
              <a:t>-&gt; payoutMemberDto </a:t>
            </a:r>
            <a:r>
              <a:rPr lang="ko-KR" altLang="en-US" sz="1200"/>
              <a:t>정보로 </a:t>
            </a:r>
            <a:r>
              <a:rPr lang="en-US" altLang="ko-KR" sz="1200"/>
              <a:t>new Payout() </a:t>
            </a:r>
            <a:r>
              <a:rPr lang="ko-KR" altLang="en-US" sz="1200"/>
              <a:t>생성 등록</a:t>
            </a:r>
            <a:endParaRPr lang="en-US" altLang="ko-KR" sz="1200"/>
          </a:p>
          <a:p>
            <a:pPr marL="342900" indent="-342900">
              <a:buAutoNum type="arabicPeriod"/>
            </a:pPr>
            <a:r>
              <a:rPr lang="en-US" altLang="ko-KR" sz="1200"/>
              <a:t>Payout</a:t>
            </a:r>
            <a:r>
              <a:rPr lang="ko-KR" altLang="en-US" sz="1200"/>
              <a:t> 작성 및 </a:t>
            </a:r>
            <a:r>
              <a:rPr lang="en-US" altLang="ko-KR" sz="1200"/>
              <a:t>Payout</a:t>
            </a:r>
            <a:r>
              <a:rPr lang="ko-KR" altLang="en-US" sz="1200"/>
              <a:t>에 묶인 </a:t>
            </a:r>
            <a:r>
              <a:rPr lang="en-US" altLang="ko-KR" sz="1200"/>
              <a:t>PayoutItem </a:t>
            </a:r>
            <a:r>
              <a:rPr lang="ko-KR" altLang="en-US" sz="1200"/>
              <a:t>엔티티 등록</a:t>
            </a:r>
            <a:endParaRPr lang="en-US" altLang="ko-KR" sz="1200"/>
          </a:p>
          <a:p>
            <a:endParaRPr lang="en-US" altLang="ko-KR" sz="1200"/>
          </a:p>
          <a:p>
            <a:endParaRPr lang="en-US" altLang="ko-KR" sz="1200"/>
          </a:p>
          <a:p>
            <a:endParaRPr lang="en-US" altLang="ko-KR" sz="1200"/>
          </a:p>
          <a:p>
            <a:endParaRPr lang="en-US" altLang="ko-KR" sz="1200"/>
          </a:p>
          <a:p>
            <a:endParaRPr lang="en-US" altLang="ko-KR" sz="1200"/>
          </a:p>
          <a:p>
            <a:endParaRPr lang="en-US" altLang="ko-KR" sz="1200"/>
          </a:p>
          <a:p>
            <a:endParaRPr lang="en-US" altLang="ko-KR" sz="1200"/>
          </a:p>
          <a:p>
            <a:endParaRPr lang="en-US" altLang="ko-KR" sz="1200"/>
          </a:p>
          <a:p>
            <a:endParaRPr lang="ko-KR" altLang="en-US" sz="12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CB08BDD-0285-07D9-C004-B61245928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6469" y="2109356"/>
            <a:ext cx="4782478" cy="4203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4733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CF5C23-D9DE-ABE9-5265-E66D98A2C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43</a:t>
            </a:r>
            <a:r>
              <a:rPr lang="ko-KR" altLang="en-US"/>
              <a:t>강 요약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FA126F-CEB1-381E-8D1D-877054BD63A5}"/>
              </a:ext>
            </a:extLst>
          </p:cNvPr>
          <p:cNvSpPr txBox="1"/>
          <p:nvPr/>
        </p:nvSpPr>
        <p:spPr>
          <a:xfrm>
            <a:off x="1101012" y="1922106"/>
            <a:ext cx="1030099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400"/>
              <a:t>결제가 완전히 완료 된 이벤트로 부터 받은 </a:t>
            </a:r>
            <a:r>
              <a:rPr lang="en-US" altLang="ko-KR" sz="1400"/>
              <a:t>OrderDto</a:t>
            </a:r>
            <a:r>
              <a:rPr lang="ko-KR" altLang="en-US" sz="1400"/>
              <a:t> 정보로 </a:t>
            </a:r>
            <a:r>
              <a:rPr lang="en-US" altLang="ko-KR" sz="1400"/>
              <a:t>Client </a:t>
            </a:r>
            <a:r>
              <a:rPr lang="ko-KR" altLang="en-US" sz="1400"/>
              <a:t>요청을 통해 </a:t>
            </a:r>
            <a:r>
              <a:rPr lang="en-US" altLang="ko-KR" sz="1400"/>
              <a:t>Order</a:t>
            </a:r>
            <a:r>
              <a:rPr lang="ko-KR" altLang="en-US" sz="1400"/>
              <a:t>에 묶인 </a:t>
            </a:r>
            <a:r>
              <a:rPr lang="en-US" altLang="ko-KR" sz="1400"/>
              <a:t>OrderItem </a:t>
            </a:r>
            <a:r>
              <a:rPr lang="ko-KR" altLang="en-US" sz="1400"/>
              <a:t>정보를 받아온다</a:t>
            </a:r>
            <a:endParaRPr lang="en-US" altLang="ko-KR" sz="1400"/>
          </a:p>
          <a:p>
            <a:pPr marL="342900" indent="-342900">
              <a:buAutoNum type="arabicPeriod"/>
            </a:pPr>
            <a:r>
              <a:rPr lang="en-US" altLang="ko-KR" sz="1400"/>
              <a:t>Rest</a:t>
            </a:r>
            <a:r>
              <a:rPr lang="ko-KR" altLang="en-US" sz="1400"/>
              <a:t>요청으로 받은 </a:t>
            </a:r>
            <a:r>
              <a:rPr lang="en-US" altLang="ko-KR" sz="1400"/>
              <a:t>OrderItemDto </a:t>
            </a:r>
            <a:r>
              <a:rPr lang="ko-KR" altLang="en-US" sz="1400"/>
              <a:t>리스트는 각각의 객체가 </a:t>
            </a:r>
            <a:r>
              <a:rPr lang="en-US" altLang="ko-KR" sz="1400"/>
              <a:t>Order </a:t>
            </a:r>
            <a:r>
              <a:rPr lang="ko-KR" altLang="en-US" sz="1400"/>
              <a:t>및 </a:t>
            </a:r>
            <a:r>
              <a:rPr lang="en-US" altLang="ko-KR" sz="1400"/>
              <a:t>Product </a:t>
            </a:r>
            <a:r>
              <a:rPr lang="ko-KR" altLang="en-US" sz="1400"/>
              <a:t>정보를 가지고 있다</a:t>
            </a:r>
            <a:r>
              <a:rPr lang="en-US" altLang="ko-KR" sz="1400"/>
              <a:t>. [DTO </a:t>
            </a:r>
            <a:r>
              <a:rPr lang="ko-KR" altLang="en-US" sz="1400"/>
              <a:t>맵핑시 관련 정보 추가</a:t>
            </a:r>
            <a:r>
              <a:rPr lang="en-US" altLang="ko-KR" sz="1400"/>
              <a:t>]</a:t>
            </a:r>
            <a:br>
              <a:rPr lang="en-US" altLang="ko-KR" sz="1400"/>
            </a:br>
            <a:r>
              <a:rPr lang="en-US" altLang="ko-KR" sz="1400"/>
              <a:t>(Product- saller, order -buyer </a:t>
            </a:r>
            <a:r>
              <a:rPr lang="ko-KR" altLang="en-US" sz="1400"/>
              <a:t>등</a:t>
            </a:r>
            <a:r>
              <a:rPr lang="en-US" altLang="ko-KR" sz="1400"/>
              <a:t>)</a:t>
            </a:r>
          </a:p>
          <a:p>
            <a:pPr marL="342900" indent="-342900">
              <a:buAutoNum type="arabicPeriod"/>
            </a:pPr>
            <a:endParaRPr lang="en-US" altLang="ko-KR" sz="1400"/>
          </a:p>
          <a:p>
            <a:pPr marL="342900" indent="-342900">
              <a:buAutoNum type="arabicPeriod"/>
            </a:pPr>
            <a:r>
              <a:rPr lang="ko-KR" altLang="en-US" sz="1400"/>
              <a:t>받아온 </a:t>
            </a:r>
            <a:r>
              <a:rPr lang="en-US" altLang="ko-KR" sz="1400"/>
              <a:t>orderItemDto </a:t>
            </a:r>
            <a:r>
              <a:rPr lang="ko-KR" altLang="en-US" sz="1400"/>
              <a:t>리스트의 처리는 </a:t>
            </a:r>
            <a:r>
              <a:rPr lang="en-US" altLang="ko-KR" sz="1400"/>
              <a:t>44</a:t>
            </a:r>
            <a:r>
              <a:rPr lang="ko-KR" altLang="en-US" sz="1400"/>
              <a:t>강에서 진행</a:t>
            </a:r>
            <a:endParaRPr lang="en-US" altLang="ko-KR" sz="1400"/>
          </a:p>
          <a:p>
            <a:pPr marL="342900" indent="-342900">
              <a:buAutoNum type="arabicPeriod"/>
            </a:pPr>
            <a:endParaRPr lang="ko-KR" altLang="en-US" sz="140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14BB146B-F97A-23F1-A260-E3FC38499BD7}"/>
              </a:ext>
            </a:extLst>
          </p:cNvPr>
          <p:cNvGrpSpPr/>
          <p:nvPr/>
        </p:nvGrpSpPr>
        <p:grpSpPr>
          <a:xfrm>
            <a:off x="5539913" y="2536856"/>
            <a:ext cx="5796780" cy="3095055"/>
            <a:chOff x="5539913" y="2536856"/>
            <a:chExt cx="5796780" cy="3095055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9799CD88-8780-B024-FF02-5EF7E42835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621486" y="2536856"/>
              <a:ext cx="2715207" cy="3095055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75E46492-F677-D74C-6316-7AB9529152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39913" y="2536856"/>
              <a:ext cx="2924293" cy="309505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377051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0D43EE-72DA-6057-DE34-53614F0CA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/>
              <a:t>44</a:t>
            </a:r>
            <a:r>
              <a:rPr lang="ko-KR" altLang="en-US" sz="2400"/>
              <a:t>강 요약 </a:t>
            </a:r>
            <a:r>
              <a:rPr lang="en-US" altLang="ko-KR" sz="2400"/>
              <a:t>- 43</a:t>
            </a:r>
            <a:r>
              <a:rPr lang="ko-KR" altLang="en-US" sz="2400"/>
              <a:t>강에서 받아온 </a:t>
            </a:r>
            <a:r>
              <a:rPr lang="en-US" altLang="ko-KR" sz="2400"/>
              <a:t>orderItem </a:t>
            </a:r>
            <a:r>
              <a:rPr lang="ko-KR" altLang="en-US" sz="2400"/>
              <a:t>리스트의 각 항목 처리</a:t>
            </a:r>
            <a:r>
              <a:rPr lang="en-US" altLang="ko-KR" sz="2400">
                <a:sym typeface="Wingdings" panose="05000000000000000000" pitchFamily="2" charset="2"/>
              </a:rPr>
              <a:t> </a:t>
            </a:r>
            <a:br>
              <a:rPr lang="en-US" altLang="ko-KR" sz="2400">
                <a:sym typeface="Wingdings" panose="05000000000000000000" pitchFamily="2" charset="2"/>
              </a:rPr>
            </a:br>
            <a:r>
              <a:rPr lang="ko-KR" altLang="en-US" sz="2400">
                <a:sym typeface="Wingdings" panose="05000000000000000000" pitchFamily="2" charset="2"/>
              </a:rPr>
              <a:t>정산 후보군 저장</a:t>
            </a:r>
            <a:endParaRPr lang="ko-KR" altLang="en-US" sz="240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CDAB504C-33BE-ADC5-8BE6-D18B623B9D35}"/>
              </a:ext>
            </a:extLst>
          </p:cNvPr>
          <p:cNvGrpSpPr/>
          <p:nvPr/>
        </p:nvGrpSpPr>
        <p:grpSpPr>
          <a:xfrm>
            <a:off x="587354" y="1970626"/>
            <a:ext cx="10658570" cy="4131595"/>
            <a:chOff x="214130" y="1737360"/>
            <a:chExt cx="10658570" cy="4131595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FDB0EF25-1B54-2565-C8C9-2EFEB8E914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4130" y="1737360"/>
              <a:ext cx="3287282" cy="4131595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74D82F9A-ACEE-3065-2A57-644E25EFDC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672363" y="1737360"/>
              <a:ext cx="3672529" cy="4131595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09EB1CFA-406A-0405-BC38-2AA3AB4967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515843" y="1737360"/>
              <a:ext cx="3356857" cy="4011483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97749640-2AE6-1283-C445-61E2300DFA21}"/>
              </a:ext>
            </a:extLst>
          </p:cNvPr>
          <p:cNvSpPr txBox="1"/>
          <p:nvPr/>
        </p:nvSpPr>
        <p:spPr>
          <a:xfrm>
            <a:off x="2463281" y="177282"/>
            <a:ext cx="8864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/>
              <a:t>정산시에는 </a:t>
            </a:r>
            <a:r>
              <a:rPr lang="en-US" altLang="ko-KR" sz="1200"/>
              <a:t>1. </a:t>
            </a:r>
            <a:r>
              <a:rPr lang="ko-KR" altLang="en-US" sz="1200"/>
              <a:t>이커머스 사업자의 판매 수수료 정산 </a:t>
            </a:r>
            <a:r>
              <a:rPr lang="en-US" altLang="ko-KR" sz="1200"/>
              <a:t>/ 2. </a:t>
            </a:r>
            <a:r>
              <a:rPr lang="ko-KR" altLang="en-US" sz="1200"/>
              <a:t>물품 판매자에게 판매액 정산 </a:t>
            </a:r>
            <a:r>
              <a:rPr lang="en-US" altLang="ko-KR" sz="1200"/>
              <a:t> </a:t>
            </a:r>
            <a:r>
              <a:rPr lang="ko-KR" altLang="en-US" sz="1200"/>
              <a:t>두 가지로 나뉜다</a:t>
            </a:r>
            <a:r>
              <a:rPr lang="en-US" altLang="ko-KR" sz="1200"/>
              <a:t>.</a:t>
            </a:r>
          </a:p>
          <a:p>
            <a:r>
              <a:rPr lang="en-US" altLang="ko-KR" sz="1200"/>
              <a:t>orderItemDto</a:t>
            </a:r>
            <a:r>
              <a:rPr lang="ko-KR" altLang="en-US" sz="1200"/>
              <a:t>의 정보를 이용하여 </a:t>
            </a:r>
            <a:r>
              <a:rPr lang="ko-KR" altLang="en-US" sz="1200" b="1"/>
              <a:t>정산 후보</a:t>
            </a:r>
            <a:r>
              <a:rPr lang="en-US" altLang="ko-KR" sz="1200"/>
              <a:t>(PayoutCandidateItem) </a:t>
            </a:r>
            <a:r>
              <a:rPr lang="ko-KR" altLang="en-US" sz="1200"/>
              <a:t>정보를 추가한다</a:t>
            </a:r>
            <a:r>
              <a:rPr lang="en-US" altLang="ko-KR" sz="1200"/>
              <a:t>.</a:t>
            </a:r>
            <a:br>
              <a:rPr lang="en-US" altLang="ko-KR" sz="1200"/>
            </a:br>
            <a:r>
              <a:rPr lang="en-US" altLang="ko-KR" sz="1200"/>
              <a:t>payoutCandidateItem</a:t>
            </a:r>
            <a:r>
              <a:rPr lang="ko-KR" altLang="en-US" sz="1200"/>
              <a:t> 은 판매액의 </a:t>
            </a:r>
            <a:r>
              <a:rPr lang="en-US" altLang="ko-KR" sz="1200"/>
              <a:t>10</a:t>
            </a:r>
            <a:r>
              <a:rPr lang="ko-KR" altLang="en-US" sz="1200"/>
              <a:t>프로를 사업자에게 </a:t>
            </a:r>
            <a:r>
              <a:rPr lang="en-US" altLang="ko-KR" sz="1200"/>
              <a:t>/ 90</a:t>
            </a:r>
            <a:r>
              <a:rPr lang="ko-KR" altLang="en-US" sz="1200"/>
              <a:t>프로를 물품 판매자에게 나누어 지급한다</a:t>
            </a:r>
            <a:r>
              <a:rPr lang="en-US" altLang="ko-KR" sz="1200"/>
              <a:t>. (</a:t>
            </a:r>
            <a:r>
              <a:rPr lang="ko-KR" altLang="en-US" sz="1200"/>
              <a:t>정산 정책</a:t>
            </a:r>
            <a:r>
              <a:rPr lang="en-US" altLang="ko-KR" sz="1200"/>
              <a:t>PayoutPolicy</a:t>
            </a:r>
            <a:r>
              <a:rPr lang="ko-KR" altLang="en-US" sz="1200"/>
              <a:t> 사용</a:t>
            </a:r>
            <a:r>
              <a:rPr lang="en-US" altLang="ko-KR" sz="120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233019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314A19-4EA1-EB08-6012-E6797B446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45</a:t>
            </a:r>
            <a:r>
              <a:rPr lang="ko-KR" altLang="en-US" sz="3600"/>
              <a:t>강 요약 </a:t>
            </a:r>
            <a:r>
              <a:rPr lang="en-US" altLang="ko-KR" sz="3600"/>
              <a:t>- </a:t>
            </a:r>
            <a:r>
              <a:rPr lang="ko-KR" altLang="en-US" sz="3600"/>
              <a:t>최종적으로 </a:t>
            </a:r>
            <a:r>
              <a:rPr lang="en-US" altLang="ko-KR" sz="3600"/>
              <a:t>Payout </a:t>
            </a:r>
            <a:r>
              <a:rPr lang="ko-KR" altLang="en-US" sz="3600"/>
              <a:t>정보 저장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ED1BB6-2D0C-8C4F-5F72-A68560E91E74}"/>
              </a:ext>
            </a:extLst>
          </p:cNvPr>
          <p:cNvSpPr txBox="1"/>
          <p:nvPr/>
        </p:nvSpPr>
        <p:spPr>
          <a:xfrm>
            <a:off x="1194317" y="1987420"/>
            <a:ext cx="10869927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payout</a:t>
            </a:r>
            <a:r>
              <a:rPr lang="ko-KR" altLang="en-US" sz="1050"/>
              <a:t>을 저장하기 위한 로직을 작성한다</a:t>
            </a:r>
            <a:r>
              <a:rPr lang="en-US" altLang="ko-KR" sz="1050"/>
              <a:t>.</a:t>
            </a:r>
          </a:p>
          <a:p>
            <a:endParaRPr lang="en-US" altLang="ko-KR" sz="1050"/>
          </a:p>
          <a:p>
            <a:r>
              <a:rPr lang="en-US" altLang="ko-KR" sz="1050"/>
              <a:t>PayoutCandidateItem (</a:t>
            </a:r>
            <a:r>
              <a:rPr lang="ko-KR" altLang="en-US" sz="1050"/>
              <a:t>정산 아이템 후보군으로 부터 정산 처리할 데이터를 가져옴</a:t>
            </a:r>
            <a:r>
              <a:rPr lang="en-US" altLang="ko-KR" sz="1050"/>
              <a:t>) - </a:t>
            </a:r>
            <a:r>
              <a:rPr lang="ko-KR" altLang="en-US" sz="1050"/>
              <a:t>최종결제 완료후 </a:t>
            </a:r>
            <a:r>
              <a:rPr lang="en-US" altLang="ko-KR" sz="1050"/>
              <a:t>14</a:t>
            </a:r>
            <a:r>
              <a:rPr lang="ko-KR" altLang="en-US" sz="1050"/>
              <a:t>일 정책</a:t>
            </a:r>
            <a:endParaRPr lang="en-US" altLang="ko-KR" sz="1050"/>
          </a:p>
          <a:p>
            <a:endParaRPr lang="en-US" altLang="ko-KR" sz="1050"/>
          </a:p>
          <a:p>
            <a:r>
              <a:rPr lang="en-US" altLang="ko-KR" sz="1050"/>
              <a:t>1. </a:t>
            </a:r>
            <a:r>
              <a:rPr lang="ko-KR" altLang="en-US" sz="1050">
                <a:sym typeface="Wingdings" panose="05000000000000000000" pitchFamily="2" charset="2"/>
              </a:rPr>
              <a:t>정산 후보군 테이블에서 정산처리할 개수</a:t>
            </a:r>
            <a:r>
              <a:rPr lang="en-US" altLang="ko-KR" sz="1050">
                <a:sym typeface="Wingdings" panose="05000000000000000000" pitchFamily="2" charset="2"/>
              </a:rPr>
              <a:t>(limit)</a:t>
            </a:r>
            <a:r>
              <a:rPr lang="ko-KR" altLang="en-US" sz="1050">
                <a:sym typeface="Wingdings" panose="05000000000000000000" pitchFamily="2" charset="2"/>
              </a:rPr>
              <a:t>만큼가져와서 진행</a:t>
            </a:r>
            <a:endParaRPr lang="en-US" altLang="ko-KR" sz="1050"/>
          </a:p>
          <a:p>
            <a:r>
              <a:rPr lang="en-US" altLang="ko-KR" sz="1050"/>
              <a:t>2. </a:t>
            </a:r>
            <a:r>
              <a:rPr lang="ko-KR" altLang="en-US" sz="1050"/>
              <a:t>정산 요청 시작 </a:t>
            </a:r>
            <a:r>
              <a:rPr lang="en-US" altLang="ko-KR" sz="1050">
                <a:sym typeface="Wingdings" panose="05000000000000000000" pitchFamily="2" charset="2"/>
              </a:rPr>
              <a:t>= PayoutFacade.collectPayoutItemsMore() </a:t>
            </a:r>
            <a:r>
              <a:rPr lang="ko-KR" altLang="en-US" sz="1050">
                <a:sym typeface="Wingdings" panose="05000000000000000000" pitchFamily="2" charset="2"/>
              </a:rPr>
              <a:t>메소드</a:t>
            </a:r>
            <a:endParaRPr lang="en-US" altLang="ko-KR" sz="1050">
              <a:sym typeface="Wingdings" panose="05000000000000000000" pitchFamily="2" charset="2"/>
            </a:endParaRPr>
          </a:p>
          <a:p>
            <a:r>
              <a:rPr lang="en-US" altLang="ko-KR" sz="1050">
                <a:sym typeface="Wingdings" panose="05000000000000000000" pitchFamily="2" charset="2"/>
              </a:rPr>
              <a:t>3. payout</a:t>
            </a:r>
            <a:r>
              <a:rPr lang="ko-KR" altLang="en-US" sz="1050">
                <a:sym typeface="Wingdings" panose="05000000000000000000" pitchFamily="2" charset="2"/>
              </a:rPr>
              <a:t>후보 아이템을 돌면서 </a:t>
            </a:r>
            <a:r>
              <a:rPr lang="en-US" altLang="ko-KR" sz="1050">
                <a:sym typeface="Wingdings" panose="05000000000000000000" pitchFamily="2" charset="2"/>
              </a:rPr>
              <a:t>payoutItem</a:t>
            </a:r>
            <a:r>
              <a:rPr lang="ko-KR" altLang="en-US" sz="1050">
                <a:sym typeface="Wingdings" panose="05000000000000000000" pitchFamily="2" charset="2"/>
              </a:rPr>
              <a:t>을 만들고 </a:t>
            </a:r>
            <a:r>
              <a:rPr lang="en-US" altLang="ko-KR" sz="1050">
                <a:sym typeface="Wingdings" panose="05000000000000000000" pitchFamily="2" charset="2"/>
              </a:rPr>
              <a:t>[payout.addItem </a:t>
            </a:r>
            <a:r>
              <a:rPr lang="ko-KR" altLang="en-US" sz="1050">
                <a:sym typeface="Wingdings" panose="05000000000000000000" pitchFamily="2" charset="2"/>
              </a:rPr>
              <a:t>메소드내 생성</a:t>
            </a:r>
            <a:r>
              <a:rPr lang="en-US" altLang="ko-KR" sz="1050">
                <a:sym typeface="Wingdings" panose="05000000000000000000" pitchFamily="2" charset="2"/>
              </a:rPr>
              <a:t>] </a:t>
            </a:r>
            <a:r>
              <a:rPr lang="ko-KR" altLang="en-US" sz="1050">
                <a:sym typeface="Wingdings" panose="05000000000000000000" pitchFamily="2" charset="2"/>
              </a:rPr>
              <a:t>편의성 메소드로 결합 </a:t>
            </a:r>
            <a:r>
              <a:rPr lang="en-US" altLang="ko-KR" sz="1050">
                <a:sym typeface="Wingdings" panose="05000000000000000000" pitchFamily="2" charset="2"/>
              </a:rPr>
              <a:t> </a:t>
            </a:r>
            <a:r>
              <a:rPr lang="ko-KR" altLang="en-US" sz="1050">
                <a:sym typeface="Wingdings" panose="05000000000000000000" pitchFamily="2" charset="2"/>
              </a:rPr>
              <a:t>그리고 변경감지에 의해 저장됨</a:t>
            </a:r>
            <a:endParaRPr lang="en-US" altLang="ko-KR" sz="1050">
              <a:sym typeface="Wingdings" panose="05000000000000000000" pitchFamily="2" charset="2"/>
            </a:endParaRPr>
          </a:p>
          <a:p>
            <a:endParaRPr lang="en-US" altLang="ko-KR" sz="1050">
              <a:sym typeface="Wingdings" panose="05000000000000000000" pitchFamily="2" charset="2"/>
            </a:endParaRPr>
          </a:p>
          <a:p>
            <a:endParaRPr lang="en-US" altLang="ko-KR" sz="105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65C0217-F750-E55A-ED91-FE84441CA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783" y="3554260"/>
            <a:ext cx="5254071" cy="330374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6A1467DE-ACF2-92E4-879A-D9B416A7B4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1166" y="3554260"/>
            <a:ext cx="6403079" cy="3132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892941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236</TotalTime>
  <Words>1349</Words>
  <Application>Microsoft Office PowerPoint</Application>
  <PresentationFormat>와이드스크린</PresentationFormat>
  <Paragraphs>118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0" baseType="lpstr">
      <vt:lpstr>Calibri</vt:lpstr>
      <vt:lpstr>Calibri Light</vt:lpstr>
      <vt:lpstr>Wingdings</vt:lpstr>
      <vt:lpstr>추억</vt:lpstr>
      <vt:lpstr>4일차 복습</vt:lpstr>
      <vt:lpstr>36강 내용 분석 전 35강 내용</vt:lpstr>
      <vt:lpstr>36강 정리 (결제 Flow 정리) -1</vt:lpstr>
      <vt:lpstr>36강 정리 (결제 Flow 정리) -2</vt:lpstr>
      <vt:lpstr>36강 정리 (결제 Flow 정리) -3</vt:lpstr>
      <vt:lpstr>PowerPoint 프레젠테이션</vt:lpstr>
      <vt:lpstr>37강 요약 - 리펙토링 </vt:lpstr>
      <vt:lpstr>38강 요약 - 안티패턴 제거(리펙토링)</vt:lpstr>
      <vt:lpstr>39강 요약 - DTO에서 mapping이 아니라 entitiy가 DTO를 반환하도록 변경</vt:lpstr>
      <vt:lpstr>40강 인터페이스를 통해 입력 및 반환 강제하기</vt:lpstr>
      <vt:lpstr>40강 인터페이스를 통해 입력 및 반환 강제하기-2</vt:lpstr>
      <vt:lpstr>41강 요약 - 정산 모듈 생성시 회원생성 이벤트를 통한 회원 복제 및 회원복제 이벤트 발행</vt:lpstr>
      <vt:lpstr>42강 요약 - createPayout 메소드와 결제완료후 받아온 OrderDto 처리 로직 구현</vt:lpstr>
      <vt:lpstr>43강 요약</vt:lpstr>
      <vt:lpstr>44강 요약 - 43강에서 받아온 orderItem 리스트의 각 항목 처리  정산 후보군 저장</vt:lpstr>
      <vt:lpstr>45강 요약 - 최종적으로 Payout 정보 저장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52</cp:revision>
  <dcterms:created xsi:type="dcterms:W3CDTF">2026-09-22T12:22:36Z</dcterms:created>
  <dcterms:modified xsi:type="dcterms:W3CDTF">2026-09-22T16:20:31Z</dcterms:modified>
</cp:coreProperties>
</file>