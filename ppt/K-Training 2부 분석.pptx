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308" r:id="rId14"/>
    <p:sldId id="309" r:id="rId15"/>
    <p:sldId id="269" r:id="rId16"/>
    <p:sldId id="270" r:id="rId17"/>
    <p:sldId id="271" r:id="rId18"/>
    <p:sldId id="272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57" r:id="rId29"/>
    <p:sldId id="286" r:id="rId30"/>
    <p:sldId id="287" r:id="rId31"/>
    <p:sldId id="288" r:id="rId32"/>
    <p:sldId id="291" r:id="rId33"/>
    <p:sldId id="293" r:id="rId34"/>
    <p:sldId id="294" r:id="rId35"/>
    <p:sldId id="295" r:id="rId36"/>
    <p:sldId id="296" r:id="rId37"/>
    <p:sldId id="297" r:id="rId38"/>
    <p:sldId id="299" r:id="rId39"/>
    <p:sldId id="301" r:id="rId40"/>
    <p:sldId id="300" r:id="rId41"/>
    <p:sldId id="302" r:id="rId42"/>
    <p:sldId id="303" r:id="rId43"/>
    <p:sldId id="304" r:id="rId44"/>
    <p:sldId id="305" r:id="rId45"/>
    <p:sldId id="306" r:id="rId46"/>
    <p:sldId id="307" r:id="rId47"/>
    <p:sldId id="311" r:id="rId48"/>
    <p:sldId id="310" r:id="rId49"/>
    <p:sldId id="312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C0EB431-03DB-4299-B413-F75F0764C1BD}">
          <p14:sldIdLst>
            <p14:sldId id="256"/>
            <p14:sldId id="258"/>
          </p14:sldIdLst>
        </p14:section>
        <p14:section name="23강" id="{8AC1C528-98CA-4850-A372-C34C7C99AC2B}">
          <p14:sldIdLst>
            <p14:sldId id="259"/>
            <p14:sldId id="262"/>
            <p14:sldId id="260"/>
            <p14:sldId id="261"/>
          </p14:sldIdLst>
        </p14:section>
        <p14:section name="24-25강" id="{CAC9ABD0-4E81-4A04-B5FA-BFB972BAA439}">
          <p14:sldIdLst>
            <p14:sldId id="263"/>
            <p14:sldId id="264"/>
            <p14:sldId id="265"/>
            <p14:sldId id="266"/>
            <p14:sldId id="267"/>
          </p14:sldIdLst>
        </p14:section>
        <p14:section name="26,27,28,29강" id="{544EFA9A-2758-4429-879C-C7538C02ED6E}">
          <p14:sldIdLst>
            <p14:sldId id="268"/>
            <p14:sldId id="308"/>
            <p14:sldId id="309"/>
            <p14:sldId id="269"/>
            <p14:sldId id="270"/>
          </p14:sldIdLst>
        </p14:section>
        <p14:section name="30강" id="{5596C617-4137-46E8-9D96-0A60ADB26306}">
          <p14:sldIdLst>
            <p14:sldId id="271"/>
          </p14:sldIdLst>
        </p14:section>
        <p14:section name="31강" id="{EB3040E6-A803-48EF-ACA5-DF1D3543E681}">
          <p14:sldIdLst>
            <p14:sldId id="272"/>
            <p14:sldId id="276"/>
          </p14:sldIdLst>
        </p14:section>
        <p14:section name="32강" id="{98B8E042-AB36-4725-ACDE-B6659F48F2A5}">
          <p14:sldIdLst>
            <p14:sldId id="277"/>
            <p14:sldId id="278"/>
          </p14:sldIdLst>
        </p14:section>
        <p14:section name="33강" id="{37ACD5BE-A256-449C-9196-96F389B2F995}">
          <p14:sldIdLst>
            <p14:sldId id="279"/>
            <p14:sldId id="280"/>
            <p14:sldId id="281"/>
          </p14:sldIdLst>
        </p14:section>
        <p14:section name="34강" id="{57740141-39DA-496A-A3D0-8DF7C6BE0F53}">
          <p14:sldIdLst>
            <p14:sldId id="282"/>
            <p14:sldId id="283"/>
            <p14:sldId id="284"/>
          </p14:sldIdLst>
        </p14:section>
        <p14:section name="35강" id="{9F41BA1C-3F9D-44C2-ACA0-ADBD99128C54}">
          <p14:sldIdLst>
            <p14:sldId id="257"/>
            <p14:sldId id="286"/>
            <p14:sldId id="287"/>
            <p14:sldId id="288"/>
          </p14:sldIdLst>
        </p14:section>
        <p14:section name="36강" id="{6D6AFEC3-53EE-45B1-842A-6ACB7D0D0DFC}">
          <p14:sldIdLst>
            <p14:sldId id="291"/>
            <p14:sldId id="293"/>
            <p14:sldId id="294"/>
            <p14:sldId id="295"/>
            <p14:sldId id="296"/>
            <p14:sldId id="297"/>
            <p14:sldId id="299"/>
            <p14:sldId id="301"/>
            <p14:sldId id="300"/>
          </p14:sldIdLst>
        </p14:section>
        <p14:section name="37강" id="{A851F247-A56B-419F-B76E-0780C8942DC1}">
          <p14:sldIdLst>
            <p14:sldId id="302"/>
            <p14:sldId id="303"/>
          </p14:sldIdLst>
        </p14:section>
        <p14:section name="38강" id="{DF795457-0CD8-4599-9E28-F1280A0F5092}">
          <p14:sldIdLst>
            <p14:sldId id="304"/>
            <p14:sldId id="305"/>
          </p14:sldIdLst>
        </p14:section>
        <p14:section name="39강" id="{93EAE41E-5ABF-4526-AD7A-FE3F09513F9F}">
          <p14:sldIdLst>
            <p14:sldId id="306"/>
            <p14:sldId id="307"/>
          </p14:sldIdLst>
        </p14:section>
        <p14:section name="40강" id="{2B1026BF-DD21-4588-9D35-06D7FB1A0092}">
          <p14:sldIdLst>
            <p14:sldId id="311"/>
            <p14:sldId id="310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8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6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5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23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0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1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29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4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2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64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01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FE713B-EA07-4C0E-999B-7E309B89D4BB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3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1/cash" TargetMode="External"/><Relationship Id="rId2" Type="http://schemas.openxmlformats.org/officeDocument/2006/relationships/hyperlink" Target="https://codepen.io/" TargetMode="Externa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8D566-F3BF-850B-03D3-2164BF763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K-Trainning 2</a:t>
            </a:r>
            <a:r>
              <a:rPr lang="ko-KR" altLang="en-US"/>
              <a:t>부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00723F-7291-35D2-10DA-CA76F5961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4A2D0-F0F0-CF5D-2F0C-81682780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효율적인 결제와 정산을 고려한 지갑 만들기</a:t>
            </a:r>
            <a:r>
              <a:rPr lang="en-US" altLang="ko-KR"/>
              <a:t>, 23</a:t>
            </a:r>
            <a:r>
              <a:rPr lang="ko-KR" altLang="en-US"/>
              <a:t>강 </a:t>
            </a:r>
            <a:r>
              <a:rPr lang="en-US" altLang="ko-KR"/>
              <a:t>~ 40</a:t>
            </a:r>
            <a:r>
              <a:rPr lang="ko-KR" altLang="en-US"/>
              <a:t>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478B0-A66C-2493-96BD-BC78759CA03D}"/>
              </a:ext>
            </a:extLst>
          </p:cNvPr>
          <p:cNvSpPr txBox="1"/>
          <p:nvPr/>
        </p:nvSpPr>
        <p:spPr>
          <a:xfrm>
            <a:off x="1175656" y="1990807"/>
            <a:ext cx="10058400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23 ~ 27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강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cash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모듈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회원마다 지갑을 만들고 입금한다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Facade, UseCase, Support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구조를 완성한다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28 ~ 29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강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같은 구조를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post, member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모듈에 적용한다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30 ~ 34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강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market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모듈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상품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장바구니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주문을 만든다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35 ~ 36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강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결제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market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과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cash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가 이벤트를 주고받으며 결제를 처리하고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토스 페이먼츠를 붙인다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37 ~ 40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강 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정리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설정값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이벤트 침투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shared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의 의존 방향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, </a:t>
            </a:r>
            <a:r>
              <a:rPr lang="ko-KR" altLang="en-US" b="0" i="0">
                <a:solidFill>
                  <a:srgbClr val="222222"/>
                </a:solidFill>
                <a:effectLst/>
                <a:latin typeface="Pretendard Variable"/>
              </a:rPr>
              <a:t>인터페이스</a:t>
            </a:r>
            <a:r>
              <a:rPr lang="en-US" altLang="ko-KR" b="0" i="0">
                <a:solidFill>
                  <a:srgbClr val="222222"/>
                </a:solidFill>
                <a:effectLst/>
                <a:latin typeface="Pretendard Variabl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245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6CA58-552D-51CC-72D8-E9486278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CashMember </a:t>
            </a:r>
            <a:r>
              <a:rPr lang="ko-KR" altLang="en-US"/>
              <a:t>도입하기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56B04-B0C7-A3F7-6F6F-63FBCC0926AA}"/>
              </a:ext>
            </a:extLst>
          </p:cNvPr>
          <p:cNvSpPr txBox="1"/>
          <p:nvPr/>
        </p:nvSpPr>
        <p:spPr>
          <a:xfrm>
            <a:off x="1194318" y="1810139"/>
            <a:ext cx="9961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Member</a:t>
            </a:r>
            <a:r>
              <a:rPr lang="ko-KR" altLang="en-US" sz="1200"/>
              <a:t>가 생성시에 </a:t>
            </a:r>
            <a:r>
              <a:rPr lang="en-US" altLang="ko-KR" sz="1200"/>
              <a:t>Cash</a:t>
            </a:r>
            <a:r>
              <a:rPr lang="ko-KR" altLang="en-US" sz="1200"/>
              <a:t>모듈로 이벤트를 발행하여 </a:t>
            </a:r>
            <a:r>
              <a:rPr lang="en-US" altLang="ko-KR" sz="1200"/>
              <a:t>Cash</a:t>
            </a:r>
            <a:r>
              <a:rPr lang="ko-KR" altLang="en-US" sz="1200"/>
              <a:t>모듈 전용</a:t>
            </a:r>
            <a:r>
              <a:rPr lang="en-US" altLang="ko-KR" sz="1200"/>
              <a:t> Replica </a:t>
            </a:r>
            <a:r>
              <a:rPr lang="ko-KR" altLang="en-US" sz="1200"/>
              <a:t>테이블인 </a:t>
            </a:r>
            <a:r>
              <a:rPr lang="en-US" altLang="ko-KR" sz="1200"/>
              <a:t>CashMember</a:t>
            </a:r>
            <a:r>
              <a:rPr lang="ko-KR" altLang="en-US" sz="1200"/>
              <a:t>를 생성한다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이벤트 정보 </a:t>
            </a:r>
            <a:r>
              <a:rPr lang="en-US" altLang="ko-KR" sz="1200"/>
              <a:t>: MemberJoinedEvent , MemberModifiedEvent </a:t>
            </a:r>
          </a:p>
          <a:p>
            <a:r>
              <a:rPr lang="en-US" altLang="ko-KR" sz="1200"/>
              <a:t>※ CashMember </a:t>
            </a:r>
            <a:r>
              <a:rPr lang="ko-KR" altLang="en-US" sz="1200"/>
              <a:t>필드 정보 </a:t>
            </a:r>
            <a:r>
              <a:rPr lang="en-US" altLang="ko-KR" sz="1200"/>
              <a:t>- Member</a:t>
            </a:r>
            <a:r>
              <a:rPr lang="ko-KR" altLang="en-US" sz="1200"/>
              <a:t>와 동일</a:t>
            </a:r>
            <a:r>
              <a:rPr lang="en-US" altLang="ko-KR" sz="1200"/>
              <a:t> </a:t>
            </a:r>
            <a:r>
              <a:rPr lang="ko-KR" altLang="en-US" sz="1200"/>
              <a:t>그러나 </a:t>
            </a:r>
            <a:r>
              <a:rPr lang="en-US" altLang="ko-KR" sz="1200"/>
              <a:t>Member </a:t>
            </a:r>
            <a:r>
              <a:rPr lang="ko-KR" altLang="en-US" sz="1200"/>
              <a:t>객체의 복제로써 동작해야함</a:t>
            </a:r>
            <a:r>
              <a:rPr lang="en-US" altLang="ko-KR" sz="1200"/>
              <a:t>.</a:t>
            </a:r>
            <a:endParaRPr lang="ko-KR" altLang="en-US" sz="1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A625294-1213-2304-2998-B987C5791D26}"/>
              </a:ext>
            </a:extLst>
          </p:cNvPr>
          <p:cNvGrpSpPr/>
          <p:nvPr/>
        </p:nvGrpSpPr>
        <p:grpSpPr>
          <a:xfrm>
            <a:off x="1194318" y="2666279"/>
            <a:ext cx="6780218" cy="2008358"/>
            <a:chOff x="1194318" y="2666279"/>
            <a:chExt cx="6780218" cy="200835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7DDE13C-BA76-E3D4-6595-82EE691EC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4318" y="2666279"/>
              <a:ext cx="6780218" cy="200835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842ED7D-9762-4098-D882-F9E770C5B33A}"/>
                </a:ext>
              </a:extLst>
            </p:cNvPr>
            <p:cNvSpPr/>
            <p:nvPr/>
          </p:nvSpPr>
          <p:spPr>
            <a:xfrm>
              <a:off x="1446245" y="4105469"/>
              <a:ext cx="4777273" cy="2052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5FC5C3-7DA0-6AEA-3495-F19BF0A4A82F}"/>
              </a:ext>
            </a:extLst>
          </p:cNvPr>
          <p:cNvSpPr txBox="1"/>
          <p:nvPr/>
        </p:nvSpPr>
        <p:spPr>
          <a:xfrm>
            <a:off x="1194318" y="4749282"/>
            <a:ext cx="10534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회원 생성시 </a:t>
            </a:r>
            <a:r>
              <a:rPr lang="en-US" altLang="ko-KR" sz="1200"/>
              <a:t>MemberJoinedEvent </a:t>
            </a:r>
            <a:r>
              <a:rPr lang="ko-KR" altLang="en-US" sz="1200"/>
              <a:t>발생 </a:t>
            </a:r>
            <a:r>
              <a:rPr lang="en-US" altLang="ko-KR" sz="1200">
                <a:sym typeface="Wingdings" panose="05000000000000000000" pitchFamily="2" charset="2"/>
              </a:rPr>
              <a:t> Cash </a:t>
            </a:r>
            <a:r>
              <a:rPr lang="ko-KR" altLang="en-US" sz="1200">
                <a:sym typeface="Wingdings" panose="05000000000000000000" pitchFamily="2" charset="2"/>
              </a:rPr>
              <a:t>모듈의 </a:t>
            </a:r>
            <a:r>
              <a:rPr lang="en-US" altLang="ko-KR" sz="1200">
                <a:sym typeface="Wingdings" panose="05000000000000000000" pitchFamily="2" charset="2"/>
              </a:rPr>
              <a:t>Listener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MemberJoinedEvent</a:t>
            </a:r>
            <a:r>
              <a:rPr lang="ko-KR" altLang="en-US" sz="1200">
                <a:sym typeface="Wingdings" panose="05000000000000000000" pitchFamily="2" charset="2"/>
              </a:rPr>
              <a:t>에 대한 처리</a:t>
            </a:r>
            <a:r>
              <a:rPr lang="en-US" altLang="ko-KR" sz="1200">
                <a:sym typeface="Wingdings" panose="05000000000000000000" pitchFamily="2" charset="2"/>
              </a:rPr>
              <a:t>( CashMember </a:t>
            </a:r>
            <a:r>
              <a:rPr lang="ko-KR" altLang="en-US" sz="1200">
                <a:sym typeface="Wingdings" panose="05000000000000000000" pitchFamily="2" charset="2"/>
              </a:rPr>
              <a:t>생성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를 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71098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331EC-D4F1-6998-94C7-D6B83FB2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CashMember </a:t>
            </a:r>
            <a:r>
              <a:rPr lang="ko-KR" altLang="en-US"/>
              <a:t>도입하기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6260E6-69CC-9D0C-4A6A-3B7B04A96C39}"/>
              </a:ext>
            </a:extLst>
          </p:cNvPr>
          <p:cNvGrpSpPr/>
          <p:nvPr/>
        </p:nvGrpSpPr>
        <p:grpSpPr>
          <a:xfrm>
            <a:off x="1097280" y="1894114"/>
            <a:ext cx="2038635" cy="2070186"/>
            <a:chOff x="1097280" y="1894114"/>
            <a:chExt cx="2038635" cy="20701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6A7C585-9C36-A509-DEB0-3952A6F27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844"/>
            <a:stretch>
              <a:fillRect/>
            </a:stretch>
          </p:blipFill>
          <p:spPr>
            <a:xfrm>
              <a:off x="1097280" y="1894114"/>
              <a:ext cx="2038635" cy="2070186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30CB527-46CA-C8CB-BA2D-0947E10C561E}"/>
                </a:ext>
              </a:extLst>
            </p:cNvPr>
            <p:cNvCxnSpPr/>
            <p:nvPr/>
          </p:nvCxnSpPr>
          <p:spPr>
            <a:xfrm>
              <a:off x="1856792" y="3401007"/>
              <a:ext cx="10543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117BD07-181B-AC60-DA2C-25EC40923A26}"/>
                </a:ext>
              </a:extLst>
            </p:cNvPr>
            <p:cNvCxnSpPr/>
            <p:nvPr/>
          </p:nvCxnSpPr>
          <p:spPr>
            <a:xfrm>
              <a:off x="1856792" y="3865983"/>
              <a:ext cx="10543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D8F652D-8C8F-497D-CC84-7C3BE3E96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471" y="1894114"/>
            <a:ext cx="3454111" cy="41974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6C77BB-67E3-28A5-2340-E19774ABB509}"/>
              </a:ext>
            </a:extLst>
          </p:cNvPr>
          <p:cNvSpPr txBox="1"/>
          <p:nvPr/>
        </p:nvSpPr>
        <p:spPr>
          <a:xfrm>
            <a:off x="6792686" y="1894114"/>
            <a:ext cx="4721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/>
              <a:t>CashMember </a:t>
            </a:r>
            <a:r>
              <a:rPr lang="ko-KR" altLang="en-US" sz="1200"/>
              <a:t>정보를 저장하기 위한 엔티티 작성하기</a:t>
            </a:r>
            <a:r>
              <a:rPr lang="en-US" altLang="ko-KR" sz="120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1</a:t>
            </a:r>
            <a:r>
              <a:rPr lang="ko-KR" altLang="en-US" sz="1200"/>
              <a:t>부에서 정의한 </a:t>
            </a:r>
            <a:r>
              <a:rPr lang="en-US" altLang="ko-KR" sz="1200"/>
              <a:t>ReplicaMember </a:t>
            </a:r>
            <a:r>
              <a:rPr lang="ko-KR" altLang="en-US" sz="1200"/>
              <a:t>를 상속받는 </a:t>
            </a:r>
            <a:r>
              <a:rPr lang="en-US" altLang="ko-KR" sz="1200"/>
              <a:t>CashMember</a:t>
            </a:r>
            <a:r>
              <a:rPr lang="ko-KR" altLang="en-US" sz="1200"/>
              <a:t>를 작성한다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( Id, createDate, modifiedDate </a:t>
            </a:r>
            <a:r>
              <a:rPr lang="ko-KR" altLang="en-US" sz="1200"/>
              <a:t>수동 입력 </a:t>
            </a:r>
            <a:r>
              <a:rPr lang="en-US" altLang="ko-KR" sz="1200"/>
              <a:t>- </a:t>
            </a:r>
            <a:r>
              <a:rPr lang="ko-KR" altLang="en-US" sz="1200"/>
              <a:t>복제</a:t>
            </a:r>
            <a:r>
              <a:rPr lang="en-US" altLang="ko-KR" sz="1200"/>
              <a:t>)</a:t>
            </a: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2008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CB8E8-7414-79A5-2647-21554C85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CashMember </a:t>
            </a:r>
            <a:r>
              <a:rPr lang="ko-KR" altLang="en-US"/>
              <a:t>도입하기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2B0A42-D618-1AC5-EA9A-FF9D01B00079}"/>
              </a:ext>
            </a:extLst>
          </p:cNvPr>
          <p:cNvGrpSpPr/>
          <p:nvPr/>
        </p:nvGrpSpPr>
        <p:grpSpPr>
          <a:xfrm>
            <a:off x="173226" y="1857156"/>
            <a:ext cx="1848108" cy="1571844"/>
            <a:chOff x="173226" y="1857156"/>
            <a:chExt cx="1848108" cy="15718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6D5D836-0C3A-760C-4AC3-9C7B85AE1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226" y="1857156"/>
              <a:ext cx="1848108" cy="157184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5D08E78-6FA9-4F73-D176-ABD2631E2476}"/>
                </a:ext>
              </a:extLst>
            </p:cNvPr>
            <p:cNvSpPr/>
            <p:nvPr/>
          </p:nvSpPr>
          <p:spPr>
            <a:xfrm>
              <a:off x="727788" y="3172408"/>
              <a:ext cx="1293546" cy="2565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0A27DFE-E628-09E6-3554-00B969FD2A7A}"/>
              </a:ext>
            </a:extLst>
          </p:cNvPr>
          <p:cNvGrpSpPr/>
          <p:nvPr/>
        </p:nvGrpSpPr>
        <p:grpSpPr>
          <a:xfrm>
            <a:off x="2195231" y="1857156"/>
            <a:ext cx="6346930" cy="2798820"/>
            <a:chOff x="2195231" y="1857156"/>
            <a:chExt cx="6346930" cy="279882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EF216BB-2487-172C-F93A-0CCD7D7E0E96}"/>
                </a:ext>
              </a:extLst>
            </p:cNvPr>
            <p:cNvGrpSpPr/>
            <p:nvPr/>
          </p:nvGrpSpPr>
          <p:grpSpPr>
            <a:xfrm>
              <a:off x="2195231" y="1857156"/>
              <a:ext cx="6346930" cy="2798820"/>
              <a:chOff x="2195231" y="1857156"/>
              <a:chExt cx="6346930" cy="279882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A61C0FE-DB56-1822-B07C-A432609EF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231" y="1857156"/>
                <a:ext cx="6346930" cy="2798820"/>
              </a:xfrm>
              <a:prstGeom prst="rect">
                <a:avLst/>
              </a:prstGeom>
            </p:spPr>
          </p:pic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0BF91AAE-0A8D-90CE-9D43-372797940854}"/>
                  </a:ext>
                </a:extLst>
              </p:cNvPr>
              <p:cNvCxnSpPr/>
              <p:nvPr/>
            </p:nvCxnSpPr>
            <p:spPr>
              <a:xfrm>
                <a:off x="3079102" y="3564294"/>
                <a:ext cx="2248678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CAB35FE-11A0-296A-A96C-8E56B2B13152}"/>
                </a:ext>
              </a:extLst>
            </p:cNvPr>
            <p:cNvGrpSpPr/>
            <p:nvPr/>
          </p:nvGrpSpPr>
          <p:grpSpPr>
            <a:xfrm>
              <a:off x="2836506" y="2817845"/>
              <a:ext cx="5635690" cy="1726164"/>
              <a:chOff x="2836506" y="2817845"/>
              <a:chExt cx="5635690" cy="1726164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E637DB4-6A9C-7A30-C6DE-AD3620C12728}"/>
                  </a:ext>
                </a:extLst>
              </p:cNvPr>
              <p:cNvSpPr/>
              <p:nvPr/>
            </p:nvSpPr>
            <p:spPr>
              <a:xfrm>
                <a:off x="2836506" y="2817845"/>
                <a:ext cx="4394718" cy="10170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5910E01-6654-1554-7595-FFE4EB482B89}"/>
                  </a:ext>
                </a:extLst>
              </p:cNvPr>
              <p:cNvSpPr/>
              <p:nvPr/>
            </p:nvSpPr>
            <p:spPr>
              <a:xfrm>
                <a:off x="2836506" y="3834883"/>
                <a:ext cx="5635690" cy="709126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B3F5731-4B13-298E-7E9F-237C365509B7}"/>
              </a:ext>
            </a:extLst>
          </p:cNvPr>
          <p:cNvSpPr txBox="1"/>
          <p:nvPr/>
        </p:nvSpPr>
        <p:spPr>
          <a:xfrm>
            <a:off x="173226" y="4907902"/>
            <a:ext cx="1179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- cashMemberListener</a:t>
            </a:r>
            <a:r>
              <a:rPr lang="ko-KR" altLang="en-US" sz="1200"/>
              <a:t>에서 </a:t>
            </a:r>
            <a:r>
              <a:rPr lang="en-US" altLang="ko-KR" sz="1200"/>
              <a:t>MemberJoinedEvent</a:t>
            </a:r>
            <a:r>
              <a:rPr lang="ko-KR" altLang="en-US" sz="1200"/>
              <a:t>를 감지하면 </a:t>
            </a:r>
            <a:r>
              <a:rPr lang="en-US" altLang="ko-KR" sz="1200"/>
              <a:t>CashMember</a:t>
            </a:r>
            <a:r>
              <a:rPr lang="ko-KR" altLang="en-US" sz="1200"/>
              <a:t>를 생성해야한다</a:t>
            </a:r>
            <a:r>
              <a:rPr lang="en-US" altLang="ko-KR" sz="1200"/>
              <a:t>. syncMember </a:t>
            </a:r>
            <a:r>
              <a:rPr lang="ko-KR" altLang="en-US" sz="1200"/>
              <a:t>메소드는 회원 정보가 없으면 새로 만들고 있을 경우 업데이트를 하는 </a:t>
            </a:r>
            <a:br>
              <a:rPr lang="en-US" altLang="ko-KR" sz="1200"/>
            </a:br>
            <a:r>
              <a:rPr lang="ko-KR" altLang="en-US" sz="1200"/>
              <a:t>메소드이다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r>
              <a:rPr lang="en-US" altLang="ko-KR" sz="1200"/>
              <a:t>- MemberModifiedEvent </a:t>
            </a:r>
            <a:r>
              <a:rPr lang="ko-KR" altLang="en-US" sz="1200"/>
              <a:t>또한 존재해야한다</a:t>
            </a:r>
            <a:r>
              <a:rPr lang="en-US" altLang="ko-KR" sz="1200"/>
              <a:t>. </a:t>
            </a:r>
            <a:r>
              <a:rPr lang="ko-KR" altLang="en-US" sz="1200"/>
              <a:t>회원 정보의 변경 시</a:t>
            </a:r>
            <a:r>
              <a:rPr lang="en-US" altLang="ko-KR" sz="1200"/>
              <a:t>. Cash</a:t>
            </a:r>
            <a:r>
              <a:rPr lang="ko-KR" altLang="en-US" sz="1200"/>
              <a:t>모듈 또한 올바른 회원정보를 가지고 있어야</a:t>
            </a:r>
            <a:r>
              <a:rPr lang="en-US" altLang="ko-KR" sz="1200"/>
              <a:t>. </a:t>
            </a:r>
            <a:r>
              <a:rPr lang="ko-KR" altLang="en-US" sz="1200"/>
              <a:t>서비스의 일관성이 유지된다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88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36283-D4C6-CB30-0E02-8E3B24F7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CashMember </a:t>
            </a:r>
            <a:r>
              <a:rPr lang="ko-KR" altLang="en-US"/>
              <a:t>도입하기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FCFEDC-4097-10E3-9770-96E12A55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58" y="1877119"/>
            <a:ext cx="1800476" cy="12003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186ECF2-EE77-FA1C-F137-1AD2D2FC9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82" y="1877119"/>
            <a:ext cx="4388777" cy="3665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04474D-2086-288F-D226-09315AC1C090}"/>
              </a:ext>
            </a:extLst>
          </p:cNvPr>
          <p:cNvSpPr txBox="1"/>
          <p:nvPr/>
        </p:nvSpPr>
        <p:spPr>
          <a:xfrm>
            <a:off x="6867331" y="1877119"/>
            <a:ext cx="4915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- MemberJoinedEvent </a:t>
            </a:r>
            <a:r>
              <a:rPr lang="ko-KR" altLang="en-US" sz="1200"/>
              <a:t>로 부터 받아온 </a:t>
            </a:r>
            <a:r>
              <a:rPr lang="en-US" altLang="ko-KR" sz="1200"/>
              <a:t>MemberDto </a:t>
            </a:r>
            <a:r>
              <a:rPr lang="ko-KR" altLang="en-US" sz="1200"/>
              <a:t>정보로 부터 </a:t>
            </a:r>
            <a:br>
              <a:rPr lang="en-US" altLang="ko-KR" sz="1200"/>
            </a:br>
            <a:r>
              <a:rPr lang="en-US" altLang="ko-KR" sz="1200"/>
              <a:t>  CashMember</a:t>
            </a:r>
            <a:r>
              <a:rPr lang="ko-KR" altLang="en-US" sz="1200"/>
              <a:t>를 등록한다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en-US" altLang="ko-KR" sz="1200"/>
              <a:t>- CashMember</a:t>
            </a:r>
            <a:r>
              <a:rPr lang="ko-KR" altLang="en-US" sz="1200"/>
              <a:t>를 등록하기 위해 </a:t>
            </a:r>
            <a:r>
              <a:rPr lang="en-US" altLang="ko-KR" sz="1200"/>
              <a:t>CashRepository </a:t>
            </a:r>
            <a:r>
              <a:rPr lang="ko-KR" altLang="en-US" sz="1200"/>
              <a:t>를 생성한다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(JpaRepository </a:t>
            </a:r>
            <a:r>
              <a:rPr lang="ko-KR" altLang="en-US" sz="1200"/>
              <a:t>상속 인터페이스</a:t>
            </a:r>
            <a:r>
              <a:rPr lang="en-US" altLang="ko-KR" sz="1200"/>
              <a:t>)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C1587D-2297-21B4-865A-C14902922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907" y="2922643"/>
            <a:ext cx="2276793" cy="26197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407275-1484-1D2E-454D-905F2A3E928B}"/>
              </a:ext>
            </a:extLst>
          </p:cNvPr>
          <p:cNvSpPr txBox="1"/>
          <p:nvPr/>
        </p:nvSpPr>
        <p:spPr>
          <a:xfrm>
            <a:off x="6947907" y="5542384"/>
            <a:ext cx="4659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syncMember</a:t>
            </a:r>
            <a:r>
              <a:rPr lang="ko-KR" altLang="en-US" sz="1200"/>
              <a:t>의 주요 로직이</a:t>
            </a:r>
            <a:r>
              <a:rPr lang="en-US" altLang="ko-KR" sz="1200"/>
              <a:t> CashFacade</a:t>
            </a:r>
            <a:r>
              <a:rPr lang="ko-KR" altLang="en-US" sz="1200"/>
              <a:t>에 작성되었으나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실제 복잡한 비지니스 로직은 </a:t>
            </a:r>
            <a:r>
              <a:rPr lang="en-US" altLang="ko-KR" sz="1200"/>
              <a:t>CashUseCase</a:t>
            </a:r>
            <a:r>
              <a:rPr lang="ko-KR" altLang="en-US" sz="1200"/>
              <a:t>에 작성되어야한다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추후에 나올 강의에서 리펙토링 되니 넘어간다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78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39D37-4851-5ED3-47EE-A214FA32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CashMember</a:t>
            </a:r>
            <a:r>
              <a:rPr lang="ko-KR" altLang="en-US" sz="4000"/>
              <a:t>와 </a:t>
            </a:r>
            <a:r>
              <a:rPr lang="en-US" altLang="ko-KR" sz="4000"/>
              <a:t>1:1 </a:t>
            </a:r>
            <a:r>
              <a:rPr lang="ko-KR" altLang="en-US" sz="4000"/>
              <a:t>관계인 </a:t>
            </a:r>
            <a:r>
              <a:rPr lang="en-US" altLang="ko-KR" sz="4000"/>
              <a:t>Wallet </a:t>
            </a:r>
            <a:r>
              <a:rPr lang="ko-KR" altLang="en-US" sz="4000"/>
              <a:t>생성하기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70709-883A-C386-7849-16CD90CCC896}"/>
              </a:ext>
            </a:extLst>
          </p:cNvPr>
          <p:cNvSpPr txBox="1"/>
          <p:nvPr/>
        </p:nvSpPr>
        <p:spPr>
          <a:xfrm>
            <a:off x="1194318" y="1810139"/>
            <a:ext cx="9961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각 회원당 </a:t>
            </a:r>
            <a:r>
              <a:rPr lang="en-US" altLang="ko-KR" sz="1200"/>
              <a:t>1:1 </a:t>
            </a:r>
            <a:r>
              <a:rPr lang="ko-KR" altLang="en-US" sz="1200"/>
              <a:t>관계가 형성된 </a:t>
            </a:r>
            <a:r>
              <a:rPr lang="en-US" altLang="ko-KR" sz="1200"/>
              <a:t>Wallet</a:t>
            </a:r>
            <a:r>
              <a:rPr lang="ko-KR" altLang="en-US" sz="1200"/>
              <a:t>을 생성한다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※ CashMember</a:t>
            </a:r>
            <a:r>
              <a:rPr lang="ko-KR" altLang="en-US" sz="1200"/>
              <a:t>에 </a:t>
            </a:r>
            <a:r>
              <a:rPr lang="en-US" altLang="ko-KR" sz="1200"/>
              <a:t>Wallet </a:t>
            </a:r>
            <a:r>
              <a:rPr lang="ko-KR" altLang="en-US" sz="1200"/>
              <a:t>정보를 넣지 않는다</a:t>
            </a:r>
            <a:r>
              <a:rPr lang="en-US" altLang="ko-KR" sz="1200"/>
              <a:t>. (</a:t>
            </a:r>
            <a:r>
              <a:rPr lang="ko-KR" altLang="en-US" sz="1200"/>
              <a:t>양방향 연관관계 설정을 하지 않는다</a:t>
            </a:r>
            <a:r>
              <a:rPr lang="en-US" altLang="ko-KR" sz="1200"/>
              <a:t>.)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/>
              <a:t>Wallet</a:t>
            </a:r>
            <a:r>
              <a:rPr lang="ko-KR" altLang="en-US" sz="1200"/>
              <a:t>은 데이터의 일관성을 위해 </a:t>
            </a:r>
            <a:r>
              <a:rPr lang="ko-KR" altLang="en-US" sz="1200" b="1">
                <a:solidFill>
                  <a:srgbClr val="FF0000"/>
                </a:solidFill>
              </a:rPr>
              <a:t>비관적 </a:t>
            </a:r>
            <a:r>
              <a:rPr lang="en-US" altLang="ko-KR" sz="1200" b="1">
                <a:solidFill>
                  <a:srgbClr val="FF0000"/>
                </a:solidFill>
              </a:rPr>
              <a:t>Lock</a:t>
            </a:r>
            <a:r>
              <a:rPr lang="ko-KR" altLang="en-US" sz="1200"/>
              <a:t>을 걸어야할 경우가 생길수 있다</a:t>
            </a:r>
            <a:r>
              <a:rPr lang="en-US" altLang="ko-KR" sz="1200"/>
              <a:t>. </a:t>
            </a:r>
            <a:r>
              <a:rPr lang="ko-KR" altLang="en-US" sz="1200"/>
              <a:t>이때</a:t>
            </a:r>
            <a:r>
              <a:rPr lang="en-US" altLang="ko-KR" sz="1200"/>
              <a:t>, </a:t>
            </a:r>
            <a:r>
              <a:rPr lang="ko-KR" altLang="en-US" sz="1200"/>
              <a:t>양방향 연관관계로 설정되어있으면</a:t>
            </a:r>
            <a:r>
              <a:rPr lang="en-US" altLang="ko-KR" sz="1200"/>
              <a:t>, CashMember</a:t>
            </a:r>
            <a:r>
              <a:rPr lang="ko-KR" altLang="en-US" sz="1200"/>
              <a:t>에서 </a:t>
            </a:r>
            <a:br>
              <a:rPr lang="en-US" altLang="ko-KR" sz="1200"/>
            </a:br>
            <a:r>
              <a:rPr lang="ko-KR" altLang="en-US" sz="1200"/>
              <a:t>저장하는 </a:t>
            </a:r>
            <a:r>
              <a:rPr lang="en-US" altLang="ko-KR" sz="1200"/>
              <a:t>Wallet</a:t>
            </a:r>
            <a:r>
              <a:rPr lang="ko-KR" altLang="en-US" sz="1200"/>
              <a:t>에 대해 </a:t>
            </a:r>
            <a:r>
              <a:rPr lang="en-US" altLang="ko-KR" sz="1200" b="1">
                <a:solidFill>
                  <a:srgbClr val="FF0000"/>
                </a:solidFill>
              </a:rPr>
              <a:t>Lock</a:t>
            </a:r>
            <a:r>
              <a:rPr lang="ko-KR" altLang="en-US" sz="1200"/>
              <a:t>이 걸리지 않는다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2225B6-4087-B6A4-C1BC-BABA4CC4C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18" y="2713915"/>
            <a:ext cx="2683966" cy="276554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0131CF2-7E90-40D2-5E60-8BC8052ABA79}"/>
              </a:ext>
            </a:extLst>
          </p:cNvPr>
          <p:cNvGrpSpPr/>
          <p:nvPr/>
        </p:nvGrpSpPr>
        <p:grpSpPr>
          <a:xfrm>
            <a:off x="4021502" y="2713915"/>
            <a:ext cx="6630325" cy="1267002"/>
            <a:chOff x="4021502" y="2713915"/>
            <a:chExt cx="6630325" cy="126700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623B5A8-6AE7-5EF1-7F5B-A687A1EED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1502" y="2713915"/>
              <a:ext cx="6630325" cy="126700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3C917-A562-12B5-5E8C-7BA5DB4282FA}"/>
                </a:ext>
              </a:extLst>
            </p:cNvPr>
            <p:cNvSpPr/>
            <p:nvPr/>
          </p:nvSpPr>
          <p:spPr>
            <a:xfrm>
              <a:off x="5271796" y="3564294"/>
              <a:ext cx="2873828" cy="2146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E164987-287C-6454-8AD0-889081D55DB4}"/>
              </a:ext>
            </a:extLst>
          </p:cNvPr>
          <p:cNvSpPr txBox="1"/>
          <p:nvPr/>
        </p:nvSpPr>
        <p:spPr>
          <a:xfrm>
            <a:off x="4021502" y="4058816"/>
            <a:ext cx="7707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/>
              <a:t>CashMember</a:t>
            </a:r>
            <a:r>
              <a:rPr lang="ko-KR" altLang="en-US" sz="1200"/>
              <a:t>의 생성시 지갑이 생성된다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(※ </a:t>
            </a:r>
            <a:r>
              <a:rPr lang="ko-KR" altLang="en-US" sz="1200"/>
              <a:t>현재는 </a:t>
            </a:r>
            <a:r>
              <a:rPr lang="en-US" altLang="ko-KR" sz="1200"/>
              <a:t>Event </a:t>
            </a:r>
            <a:r>
              <a:rPr lang="ko-KR" altLang="en-US" sz="1200"/>
              <a:t>로직 내 </a:t>
            </a:r>
            <a:r>
              <a:rPr lang="en-US" altLang="ko-KR" sz="1200"/>
              <a:t>Wallet</a:t>
            </a:r>
            <a:r>
              <a:rPr lang="ko-KR" altLang="en-US" sz="1200"/>
              <a:t> 생성이 되어있으나</a:t>
            </a:r>
            <a:r>
              <a:rPr lang="en-US" altLang="ko-KR" sz="1200"/>
              <a:t>, </a:t>
            </a:r>
            <a:r>
              <a:rPr lang="ko-KR" altLang="en-US" sz="1200"/>
              <a:t>이벤트는 정보의 가공</a:t>
            </a:r>
            <a:r>
              <a:rPr lang="en-US" altLang="ko-KR" sz="1200"/>
              <a:t>(DTO) </a:t>
            </a:r>
            <a:r>
              <a:rPr lang="ko-KR" altLang="en-US" sz="1200"/>
              <a:t>와 정보전달만 있어야한다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</a:t>
            </a:r>
            <a:r>
              <a:rPr lang="ko-KR" altLang="en-US" sz="1200"/>
              <a:t>안티 패턴임으로 수정해줘야하나 추후 강의에서 다루니 넘어간다</a:t>
            </a:r>
            <a:r>
              <a:rPr lang="en-US" altLang="ko-KR" sz="1200"/>
              <a:t>.)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70785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DD1C5-94A2-0D1C-8C4A-B0E13E02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CashMember</a:t>
            </a:r>
            <a:r>
              <a:rPr lang="ko-KR" altLang="en-US" sz="3200"/>
              <a:t>와 </a:t>
            </a:r>
            <a:r>
              <a:rPr lang="en-US" altLang="ko-KR" sz="3200"/>
              <a:t>1:1 </a:t>
            </a:r>
            <a:r>
              <a:rPr lang="ko-KR" altLang="en-US" sz="3200"/>
              <a:t>관계인 </a:t>
            </a:r>
            <a:r>
              <a:rPr lang="en-US" altLang="ko-KR" sz="3200"/>
              <a:t>Wallet </a:t>
            </a:r>
            <a:r>
              <a:rPr lang="ko-KR" altLang="en-US" sz="3200"/>
              <a:t>생성하기</a:t>
            </a:r>
            <a:r>
              <a:rPr lang="en-US" altLang="ko-KR" sz="3200"/>
              <a:t>(feat: CashLog)</a:t>
            </a:r>
            <a:endParaRPr lang="ko-KR" alt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A486F-8760-DDE3-ACD1-0D369545C98F}"/>
              </a:ext>
            </a:extLst>
          </p:cNvPr>
          <p:cNvSpPr txBox="1"/>
          <p:nvPr/>
        </p:nvSpPr>
        <p:spPr>
          <a:xfrm>
            <a:off x="3144416" y="1893413"/>
            <a:ext cx="721256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Wallet </a:t>
            </a:r>
            <a:r>
              <a:rPr lang="ko-KR" altLang="en-US" sz="1600" b="1"/>
              <a:t>정보 </a:t>
            </a:r>
            <a:r>
              <a:rPr lang="en-US" altLang="ko-KR" sz="1600" b="1"/>
              <a:t>( CreateDate, ModifyDate </a:t>
            </a:r>
            <a:r>
              <a:rPr lang="ko-KR" altLang="en-US" sz="1600" b="1"/>
              <a:t>생성시 </a:t>
            </a:r>
            <a:r>
              <a:rPr lang="en-US" altLang="ko-KR" sz="1600" b="1"/>
              <a:t>now() / ID</a:t>
            </a:r>
            <a:r>
              <a:rPr lang="ko-KR" altLang="en-US" sz="1600" b="1"/>
              <a:t> </a:t>
            </a:r>
            <a:r>
              <a:rPr lang="en-US" altLang="ko-KR" sz="1600" b="1"/>
              <a:t>=</a:t>
            </a:r>
            <a:r>
              <a:rPr lang="ko-KR" altLang="en-US" sz="1600" b="1"/>
              <a:t> </a:t>
            </a:r>
            <a:r>
              <a:rPr lang="en-US" altLang="ko-KR" sz="1600" b="1"/>
              <a:t>CashMemeber </a:t>
            </a:r>
            <a:r>
              <a:rPr lang="ko-KR" altLang="en-US" sz="1600" b="1"/>
              <a:t>복제 </a:t>
            </a:r>
            <a:r>
              <a:rPr lang="en-US" altLang="ko-KR" sz="1600" b="1"/>
              <a:t>)</a:t>
            </a:r>
          </a:p>
          <a:p>
            <a:r>
              <a:rPr lang="ko-KR" altLang="en-US" sz="1200"/>
              <a:t>● 멤버 필드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지갑 소유자 </a:t>
            </a:r>
            <a:r>
              <a:rPr lang="en-US" altLang="ko-KR" sz="1200"/>
              <a:t>= CashMember holder 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잔액 </a:t>
            </a:r>
            <a:r>
              <a:rPr lang="en-US" altLang="ko-KR" sz="1200"/>
              <a:t>= balance (</a:t>
            </a:r>
            <a:r>
              <a:rPr lang="ko-KR" altLang="en-US" sz="1200"/>
              <a:t>초기값 </a:t>
            </a:r>
            <a:r>
              <a:rPr lang="en-US" altLang="ko-KR" sz="1200"/>
              <a:t>0)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캐시 사용 기록 </a:t>
            </a:r>
            <a:r>
              <a:rPr lang="en-US" altLang="ko-KR" sz="1200"/>
              <a:t>= List&lt;CashLog&gt; cashLogs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200"/>
              <a:t>○ 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addCashLog</a:t>
            </a:r>
            <a:r>
              <a:rPr lang="ko-KR" altLang="en-US" sz="1200"/>
              <a:t> </a:t>
            </a:r>
            <a:r>
              <a:rPr lang="en-US" altLang="ko-KR" sz="1200"/>
              <a:t>= CashLog</a:t>
            </a:r>
            <a:r>
              <a:rPr lang="ko-KR" altLang="en-US" sz="1200"/>
              <a:t>를 쌓을 수 있는 편의성 메소드 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credit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ko-KR" altLang="en-US" sz="1200"/>
              <a:t>충전</a:t>
            </a:r>
            <a:r>
              <a:rPr lang="en-US" altLang="ko-KR" sz="1200"/>
              <a:t>) , debit(</a:t>
            </a:r>
            <a:r>
              <a:rPr lang="ko-KR" altLang="en-US" sz="1200"/>
              <a:t>차감</a:t>
            </a:r>
            <a:r>
              <a:rPr lang="en-US" altLang="ko-KR" sz="1200"/>
              <a:t>) </a:t>
            </a:r>
            <a:r>
              <a:rPr lang="ko-KR" altLang="en-US" sz="1200"/>
              <a:t>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잔액 확인 메소드 </a:t>
            </a:r>
            <a:r>
              <a:rPr lang="en-US" altLang="ko-KR" sz="1200"/>
              <a:t>( hasBalance - Boolean ) </a:t>
            </a:r>
          </a:p>
          <a:p>
            <a:endParaRPr lang="en-US" altLang="ko-KR" sz="1200"/>
          </a:p>
          <a:p>
            <a:r>
              <a:rPr lang="ko-KR" altLang="en-US" sz="1200"/>
              <a:t>★</a:t>
            </a:r>
            <a:r>
              <a:rPr lang="en-US" altLang="ko-KR" sz="1200"/>
              <a:t>( </a:t>
            </a:r>
            <a:r>
              <a:rPr lang="ko-KR" altLang="en-US" sz="1200"/>
              <a:t>중요 </a:t>
            </a:r>
            <a:r>
              <a:rPr lang="en-US" altLang="ko-KR" sz="1200"/>
              <a:t>) - credit / debit </a:t>
            </a:r>
            <a:r>
              <a:rPr lang="ko-KR" altLang="en-US" sz="1200"/>
              <a:t>의 경우 </a:t>
            </a:r>
            <a:r>
              <a:rPr lang="en-US" altLang="ko-KR" sz="1200"/>
              <a:t>Cash</a:t>
            </a:r>
            <a:r>
              <a:rPr lang="ko-KR" altLang="en-US" sz="1200"/>
              <a:t>에 대한 사용이며 이는 기록이기도 하다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즉</a:t>
            </a:r>
            <a:r>
              <a:rPr lang="en-US" altLang="ko-KR" sz="1200"/>
              <a:t>. credit, debit </a:t>
            </a:r>
            <a:r>
              <a:rPr lang="ko-KR" altLang="en-US" sz="1200"/>
              <a:t>메소드는 </a:t>
            </a:r>
            <a:r>
              <a:rPr lang="en-US" altLang="ko-KR" sz="1200"/>
              <a:t>CashLog</a:t>
            </a:r>
            <a:r>
              <a:rPr lang="ko-KR" altLang="en-US" sz="1200"/>
              <a:t>를 생성하며</a:t>
            </a:r>
            <a:r>
              <a:rPr lang="en-US" altLang="ko-KR" sz="1200"/>
              <a:t>, balance</a:t>
            </a:r>
            <a:r>
              <a:rPr lang="ko-KR" altLang="en-US" sz="1200"/>
              <a:t>를 조작한다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    ( CashLog</a:t>
            </a:r>
            <a:r>
              <a:rPr lang="ko-KR" altLang="en-US" sz="1200"/>
              <a:t>는 </a:t>
            </a:r>
            <a:r>
              <a:rPr lang="en-US" altLang="ko-KR" sz="1200"/>
              <a:t>Wallet</a:t>
            </a:r>
            <a:r>
              <a:rPr lang="ko-KR" altLang="en-US" sz="1200"/>
              <a:t>과 </a:t>
            </a:r>
            <a:r>
              <a:rPr lang="en-US" altLang="ko-KR" sz="1200"/>
              <a:t>N:1 </a:t>
            </a:r>
            <a:r>
              <a:rPr lang="ko-KR" altLang="en-US" sz="1200"/>
              <a:t>관계이다</a:t>
            </a:r>
            <a:r>
              <a:rPr lang="en-US" altLang="ko-KR" sz="1200"/>
              <a:t>. [Cash</a:t>
            </a:r>
            <a:r>
              <a:rPr lang="ko-KR" altLang="en-US" sz="1200"/>
              <a:t>가 </a:t>
            </a:r>
            <a:r>
              <a:rPr lang="en-US" altLang="ko-KR" sz="1200"/>
              <a:t>N / Wallet</a:t>
            </a:r>
            <a:r>
              <a:rPr lang="ko-KR" altLang="en-US" sz="1200"/>
              <a:t> 이 </a:t>
            </a:r>
            <a:r>
              <a:rPr lang="en-US" altLang="ko-KR" sz="1200"/>
              <a:t>1])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en-US" altLang="ko-KR" sz="1200" b="1">
                <a:solidFill>
                  <a:srgbClr val="FF0000"/>
                </a:solidFill>
              </a:rPr>
              <a:t>CashLog</a:t>
            </a:r>
            <a:r>
              <a:rPr lang="en-US" altLang="ko-KR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/>
              <a:t> EventType eventType = </a:t>
            </a:r>
            <a:r>
              <a:rPr lang="ko-KR" altLang="en-US" sz="1200"/>
              <a:t>캐시 사용 이벤트 정보</a:t>
            </a:r>
            <a:r>
              <a:rPr lang="en-US" altLang="ko-KR" sz="1200"/>
              <a:t>[EnumType] </a:t>
            </a:r>
            <a:br>
              <a:rPr lang="en-US" altLang="ko-KR" sz="1200"/>
            </a:br>
            <a:r>
              <a:rPr lang="en-US" altLang="ko-KR" sz="1200"/>
              <a:t>                           String relTypeCode  =</a:t>
            </a:r>
            <a:r>
              <a:rPr lang="ko-KR" altLang="en-US" sz="1200"/>
              <a:t>참조 엔티티 명</a:t>
            </a:r>
            <a:br>
              <a:rPr lang="en-US" altLang="ko-KR" sz="1200"/>
            </a:br>
            <a:r>
              <a:rPr lang="en-US" altLang="ko-KR" sz="1200"/>
              <a:t>                           long relId = </a:t>
            </a:r>
            <a:r>
              <a:rPr lang="ko-KR" altLang="en-US" sz="1200"/>
              <a:t>지갑 소유자 </a:t>
            </a:r>
            <a:r>
              <a:rPr lang="en-US" altLang="ko-KR" sz="1200"/>
              <a:t>Id</a:t>
            </a:r>
            <a:br>
              <a:rPr lang="en-US" altLang="ko-KR" sz="1200"/>
            </a:br>
            <a:r>
              <a:rPr lang="en-US" altLang="ko-KR" sz="1200"/>
              <a:t>                           CashMember holder</a:t>
            </a:r>
            <a:r>
              <a:rPr lang="ko-KR" altLang="en-US" sz="1200"/>
              <a:t> </a:t>
            </a:r>
            <a:r>
              <a:rPr lang="en-US" altLang="ko-KR" sz="1200"/>
              <a:t>=</a:t>
            </a:r>
            <a:r>
              <a:rPr lang="ko-KR" altLang="en-US" sz="1200"/>
              <a:t> 지갑 소유자 </a:t>
            </a:r>
            <a:br>
              <a:rPr lang="en-US" altLang="ko-KR" sz="1200"/>
            </a:br>
            <a:r>
              <a:rPr lang="en-US" altLang="ko-KR" sz="1200"/>
              <a:t>                           Wallet wallet= </a:t>
            </a:r>
            <a:r>
              <a:rPr lang="ko-KR" altLang="en-US" sz="1200"/>
              <a:t>지갑 </a:t>
            </a:r>
            <a:r>
              <a:rPr lang="en-US" altLang="ko-KR" sz="1200"/>
              <a:t>Id </a:t>
            </a:r>
            <a:r>
              <a:rPr lang="ko-KR" altLang="en-US" sz="1200"/>
              <a:t>정보</a:t>
            </a:r>
            <a:br>
              <a:rPr lang="en-US" altLang="ko-KR" sz="1200"/>
            </a:br>
            <a:r>
              <a:rPr lang="en-US" altLang="ko-KR" sz="1200"/>
              <a:t>                           long</a:t>
            </a:r>
            <a:r>
              <a:rPr lang="ko-KR" altLang="en-US" sz="1200"/>
              <a:t> </a:t>
            </a:r>
            <a:r>
              <a:rPr lang="en-US" altLang="ko-KR" sz="1200"/>
              <a:t>amount = </a:t>
            </a:r>
            <a:r>
              <a:rPr lang="ko-KR" altLang="en-US" sz="1200"/>
              <a:t>충전</a:t>
            </a:r>
            <a:r>
              <a:rPr lang="en-US" altLang="ko-KR" sz="1200"/>
              <a:t>, </a:t>
            </a:r>
            <a:r>
              <a:rPr lang="ko-KR" altLang="en-US" sz="1200"/>
              <a:t>차감 액</a:t>
            </a:r>
            <a:endParaRPr lang="en-US" altLang="ko-KR" sz="1200"/>
          </a:p>
          <a:p>
            <a:r>
              <a:rPr lang="en-US" altLang="ko-KR" sz="1200"/>
              <a:t>                           long balance = </a:t>
            </a:r>
            <a:r>
              <a:rPr lang="ko-KR" altLang="en-US" sz="1200"/>
              <a:t>충전</a:t>
            </a:r>
            <a:r>
              <a:rPr lang="en-US" altLang="ko-KR" sz="1200"/>
              <a:t>, </a:t>
            </a:r>
            <a:r>
              <a:rPr lang="ko-KR" altLang="en-US" sz="1200"/>
              <a:t>차감 후 금액</a:t>
            </a:r>
            <a:endParaRPr lang="en-US" altLang="ko-KR" sz="1200"/>
          </a:p>
          <a:p>
            <a:endParaRPr lang="en-US" altLang="ko-KR" sz="120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6B236AD-C56C-5E2C-ABA3-BC91CDB6C0F3}"/>
              </a:ext>
            </a:extLst>
          </p:cNvPr>
          <p:cNvGrpSpPr/>
          <p:nvPr/>
        </p:nvGrpSpPr>
        <p:grpSpPr>
          <a:xfrm>
            <a:off x="1193122" y="1972783"/>
            <a:ext cx="1733792" cy="1686160"/>
            <a:chOff x="704607" y="2035413"/>
            <a:chExt cx="1733792" cy="168616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01CF1FD-CB86-4AAE-CB65-24108D6E0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607" y="2035413"/>
              <a:ext cx="1733792" cy="168616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F74ACA-94A7-F000-DFA5-103BB9C01B5D}"/>
                </a:ext>
              </a:extLst>
            </p:cNvPr>
            <p:cNvSpPr/>
            <p:nvPr/>
          </p:nvSpPr>
          <p:spPr>
            <a:xfrm>
              <a:off x="1396481" y="3041778"/>
              <a:ext cx="877077" cy="1959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7CE18EF-C41D-6330-1165-8DEBC1FF9757}"/>
                </a:ext>
              </a:extLst>
            </p:cNvPr>
            <p:cNvSpPr/>
            <p:nvPr/>
          </p:nvSpPr>
          <p:spPr>
            <a:xfrm>
              <a:off x="1396481" y="3522308"/>
              <a:ext cx="877077" cy="1959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ECB3465A-7556-918A-36B1-DB2F0F79A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08" y="4448880"/>
            <a:ext cx="1944049" cy="163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11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7A33B-D1FA-0197-69D8-6B197516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Wallet</a:t>
            </a:r>
            <a:r>
              <a:rPr lang="ko-KR" altLang="en-US"/>
              <a:t>의 주요 메소드 기능 정리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A0257AE-6D10-C6D0-B8A8-87B0314A0CF8}"/>
              </a:ext>
            </a:extLst>
          </p:cNvPr>
          <p:cNvGrpSpPr/>
          <p:nvPr/>
        </p:nvGrpSpPr>
        <p:grpSpPr>
          <a:xfrm>
            <a:off x="448448" y="1959335"/>
            <a:ext cx="5451311" cy="2651657"/>
            <a:chOff x="448448" y="1959335"/>
            <a:chExt cx="5451311" cy="265165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8528458-763F-DAF2-454D-64B115A0A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448" y="1959336"/>
              <a:ext cx="5451311" cy="265165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C88E33C-0833-2F07-C4E6-AE3B054989CF}"/>
                </a:ext>
              </a:extLst>
            </p:cNvPr>
            <p:cNvSpPr/>
            <p:nvPr/>
          </p:nvSpPr>
          <p:spPr>
            <a:xfrm>
              <a:off x="1008345" y="4402899"/>
              <a:ext cx="4828784" cy="2080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55230B2-35E6-FAA6-7913-F9A2F1FC143F}"/>
                </a:ext>
              </a:extLst>
            </p:cNvPr>
            <p:cNvSpPr/>
            <p:nvPr/>
          </p:nvSpPr>
          <p:spPr>
            <a:xfrm>
              <a:off x="1008345" y="3324953"/>
              <a:ext cx="3407080" cy="99652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D834BAD-4FEE-62EB-6D8C-A33C16F6AC0B}"/>
                </a:ext>
              </a:extLst>
            </p:cNvPr>
            <p:cNvSpPr/>
            <p:nvPr/>
          </p:nvSpPr>
          <p:spPr>
            <a:xfrm>
              <a:off x="1008345" y="1959335"/>
              <a:ext cx="2774515" cy="128419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A1933C4-DC76-00E9-6EB9-BE0F56A3E732}"/>
              </a:ext>
            </a:extLst>
          </p:cNvPr>
          <p:cNvSpPr txBox="1"/>
          <p:nvPr/>
        </p:nvSpPr>
        <p:spPr>
          <a:xfrm>
            <a:off x="6096000" y="1959335"/>
            <a:ext cx="575362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Wallet</a:t>
            </a:r>
            <a:r>
              <a:rPr lang="ko-KR" altLang="en-US" sz="1200"/>
              <a:t>의 </a:t>
            </a:r>
            <a:r>
              <a:rPr lang="en-US" altLang="ko-KR" sz="1200"/>
              <a:t>credit</a:t>
            </a:r>
            <a:r>
              <a:rPr lang="ko-KR" altLang="en-US" sz="1200"/>
              <a:t>이나 </a:t>
            </a:r>
            <a:r>
              <a:rPr lang="en-US" altLang="ko-KR" sz="1200"/>
              <a:t>debit</a:t>
            </a:r>
            <a:r>
              <a:rPr lang="ko-KR" altLang="en-US" sz="1200"/>
              <a:t>을 살펴보면 </a:t>
            </a:r>
            <a:r>
              <a:rPr lang="en-US" altLang="ko-KR" sz="1200"/>
              <a:t>Overloading </a:t>
            </a:r>
            <a:r>
              <a:rPr lang="ko-KR" altLang="en-US" sz="1200"/>
              <a:t>을 적용하여 생성된 메소드가 각각 </a:t>
            </a:r>
            <a:r>
              <a:rPr lang="en-US" altLang="ko-KR" sz="1200"/>
              <a:t>3</a:t>
            </a:r>
            <a:r>
              <a:rPr lang="ko-KR" altLang="en-US" sz="1200"/>
              <a:t>개씩 존재하는걸 확인할 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요약하자면 다음과 같다</a:t>
            </a:r>
            <a:r>
              <a:rPr lang="en-US" altLang="ko-KR" sz="120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rgbClr val="FF0000"/>
                </a:solidFill>
              </a:rPr>
              <a:t>빨간색 박스 </a:t>
            </a:r>
            <a:r>
              <a:rPr lang="en-US" altLang="ko-KR" sz="1200"/>
              <a:t>: </a:t>
            </a:r>
            <a:r>
              <a:rPr lang="ko-KR" altLang="en-US" sz="1200"/>
              <a:t>지갑의 소유주의 캐시 충전에 사용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( </a:t>
            </a:r>
            <a:r>
              <a:rPr lang="ko-KR" altLang="en-US" sz="1200"/>
              <a:t>메소드 로직을 보면 인자가 </a:t>
            </a:r>
            <a:r>
              <a:rPr lang="en-US" altLang="ko-KR" sz="1200"/>
              <a:t>3</a:t>
            </a:r>
            <a:r>
              <a:rPr lang="ko-KR" altLang="en-US" sz="1200"/>
              <a:t>개인 동일 메소드에 지갑 주인 정보를 추가하여 </a:t>
            </a:r>
            <a:r>
              <a:rPr lang="en-US" altLang="ko-KR" sz="1200"/>
              <a:t>byPass</a:t>
            </a:r>
            <a:r>
              <a:rPr lang="ko-KR" altLang="en-US" sz="1200"/>
              <a:t>한다</a:t>
            </a:r>
            <a:r>
              <a:rPr lang="en-US" altLang="ko-KR" sz="1200"/>
              <a:t>.)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rgbClr val="FFC000"/>
                </a:solidFill>
              </a:rPr>
              <a:t>노란색 박스 </a:t>
            </a:r>
            <a:r>
              <a:rPr lang="en-US" altLang="ko-KR" sz="1200"/>
              <a:t>: </a:t>
            </a:r>
            <a:r>
              <a:rPr lang="ko-KR" altLang="en-US" sz="1200"/>
              <a:t>지갑 주인의 충전 정보를 최종적으로 저장하기 위해 초록색 박스 메소드로 </a:t>
            </a:r>
            <a:r>
              <a:rPr lang="en-US" altLang="ko-KR" sz="1200"/>
              <a:t>byPass </a:t>
            </a:r>
            <a:r>
              <a:rPr lang="ko-KR" altLang="en-US" sz="1200"/>
              <a:t>하는 메소드이며</a:t>
            </a:r>
            <a:r>
              <a:rPr lang="en-US" altLang="ko-KR" sz="1200"/>
              <a:t>, </a:t>
            </a:r>
            <a:r>
              <a:rPr lang="ko-KR" altLang="en-US" sz="1200"/>
              <a:t>이를 위해 </a:t>
            </a:r>
            <a:r>
              <a:rPr lang="en-US" altLang="ko-KR" sz="1200"/>
              <a:t>holder </a:t>
            </a:r>
            <a:r>
              <a:rPr lang="ko-KR" altLang="en-US" sz="1200"/>
              <a:t>정보를 이용하여 가공한다</a:t>
            </a:r>
            <a:r>
              <a:rPr lang="en-US" altLang="ko-KR" sz="1200"/>
              <a:t>.)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rgbClr val="00B050"/>
                </a:solidFill>
              </a:rPr>
              <a:t>초록색 박스 </a:t>
            </a:r>
            <a:r>
              <a:rPr lang="en-US" altLang="ko-KR" sz="1200"/>
              <a:t>: CashLog</a:t>
            </a:r>
            <a:r>
              <a:rPr lang="ko-KR" altLang="en-US" sz="1200"/>
              <a:t>가 생성되어 저장되는 메소드</a:t>
            </a:r>
            <a:r>
              <a:rPr lang="en-US" altLang="ko-KR" sz="1200"/>
              <a:t>. </a:t>
            </a:r>
            <a:r>
              <a:rPr lang="ko-KR" altLang="en-US" sz="1200"/>
              <a:t>충전 이외의 이벤트로도 </a:t>
            </a:r>
            <a:r>
              <a:rPr lang="en-US" altLang="ko-KR" sz="1200"/>
              <a:t>Cash</a:t>
            </a:r>
            <a:r>
              <a:rPr lang="ko-KR" altLang="en-US" sz="1200"/>
              <a:t>로그는 쌓일수있다</a:t>
            </a:r>
            <a:r>
              <a:rPr lang="en-US" altLang="ko-KR" sz="1200"/>
              <a:t>.  </a:t>
            </a:r>
            <a:r>
              <a:rPr lang="ko-KR" altLang="en-US" sz="1200"/>
              <a:t>판매자의 경우는 판매금액의 정산에 의해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이커머스에서 관리하는 계좌 계정의 경우는 수수료에 의해 </a:t>
            </a:r>
            <a:r>
              <a:rPr lang="en-US" altLang="ko-KR" sz="1200"/>
              <a:t>, </a:t>
            </a:r>
            <a:r>
              <a:rPr lang="ko-KR" altLang="en-US" sz="1200"/>
              <a:t>다양한 이유에서 </a:t>
            </a:r>
            <a:br>
              <a:rPr lang="en-US" altLang="ko-KR" sz="1200"/>
            </a:br>
            <a:r>
              <a:rPr lang="en-US" altLang="ko-KR" sz="1200"/>
              <a:t>CashLog</a:t>
            </a:r>
            <a:r>
              <a:rPr lang="ko-KR" altLang="en-US" sz="1200"/>
              <a:t>에 차감 및 충전이 이루어짐으로 이를 위한 메소드이다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(</a:t>
            </a:r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충전</a:t>
            </a:r>
            <a:r>
              <a:rPr lang="en-US" altLang="ko-KR" sz="1200"/>
              <a:t> </a:t>
            </a:r>
            <a:r>
              <a:rPr lang="ko-KR" altLang="en-US" sz="1200"/>
              <a:t>및 출금을 제외한 이벤트 지원 메소드</a:t>
            </a:r>
            <a:r>
              <a:rPr lang="en-US" altLang="ko-KR" sz="1200"/>
              <a:t>)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en-US" altLang="ko-KR" sz="1200" b="1"/>
              <a:t>※ credit </a:t>
            </a:r>
            <a:r>
              <a:rPr lang="ko-KR" altLang="en-US" sz="1200" b="1"/>
              <a:t>메소드 뿐만아니라 </a:t>
            </a:r>
            <a:r>
              <a:rPr lang="en-US" altLang="ko-KR" sz="1200" b="1"/>
              <a:t>debit </a:t>
            </a:r>
            <a:r>
              <a:rPr lang="ko-KR" altLang="en-US" sz="1200" b="1"/>
              <a:t>메소드도 동일하게 구성되어있다</a:t>
            </a:r>
            <a:r>
              <a:rPr lang="en-US" altLang="ko-KR" sz="1200" b="1"/>
              <a:t>.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66705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A414E-E195-5E8F-95EF-D57E11EB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CashMember</a:t>
            </a:r>
            <a:r>
              <a:rPr lang="ko-KR" altLang="en-US" sz="4000"/>
              <a:t>와 </a:t>
            </a:r>
            <a:r>
              <a:rPr lang="en-US" altLang="ko-KR" sz="4000"/>
              <a:t>1:1 </a:t>
            </a:r>
            <a:r>
              <a:rPr lang="ko-KR" altLang="en-US" sz="4000"/>
              <a:t>관계인 </a:t>
            </a:r>
            <a:r>
              <a:rPr lang="en-US" altLang="ko-KR" sz="4000"/>
              <a:t>Wallet </a:t>
            </a:r>
            <a:r>
              <a:rPr lang="ko-KR" altLang="en-US" sz="4000"/>
              <a:t>생성하기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7261D7-4969-99AE-05B0-E4EC7271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692" y="1864199"/>
            <a:ext cx="4001058" cy="10955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A8151B-EC4F-C2EB-AE70-DF7952F3E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662"/>
          <a:stretch>
            <a:fillRect/>
          </a:stretch>
        </p:blipFill>
        <p:spPr>
          <a:xfrm>
            <a:off x="1237238" y="1864199"/>
            <a:ext cx="190717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59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11055-A186-AAE5-0C02-2532C7DB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사용기록 저장하기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FB3F6E-59CC-E262-1293-9216768A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39" y="1737360"/>
            <a:ext cx="1905266" cy="262926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6E546F4-A0E2-FA06-D832-CC437F389639}"/>
              </a:ext>
            </a:extLst>
          </p:cNvPr>
          <p:cNvGrpSpPr/>
          <p:nvPr/>
        </p:nvGrpSpPr>
        <p:grpSpPr>
          <a:xfrm>
            <a:off x="2733455" y="1737360"/>
            <a:ext cx="4119526" cy="5120640"/>
            <a:chOff x="2733455" y="1737360"/>
            <a:chExt cx="4119526" cy="512064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DF4B445-8B88-0C19-EA33-D275C3A30351}"/>
                </a:ext>
              </a:extLst>
            </p:cNvPr>
            <p:cNvGrpSpPr/>
            <p:nvPr/>
          </p:nvGrpSpPr>
          <p:grpSpPr>
            <a:xfrm>
              <a:off x="2733455" y="1737360"/>
              <a:ext cx="4119526" cy="5120640"/>
              <a:chOff x="2733455" y="1737360"/>
              <a:chExt cx="4119526" cy="5120640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9E2B5D15-7755-9D66-E5B5-7B19257EC5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455" y="1737360"/>
                <a:ext cx="4119526" cy="5120640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18D956F-A8DB-7290-6841-C512C7057928}"/>
                  </a:ext>
                </a:extLst>
              </p:cNvPr>
              <p:cNvSpPr/>
              <p:nvPr/>
            </p:nvSpPr>
            <p:spPr>
              <a:xfrm>
                <a:off x="4622103" y="4803731"/>
                <a:ext cx="2230877" cy="2943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FF0000"/>
                    </a:solidFill>
                  </a:ln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3B415007-D6F8-90C7-B357-11E708E96CCB}"/>
                  </a:ext>
                </a:extLst>
              </p:cNvPr>
              <p:cNvSpPr/>
              <p:nvPr/>
            </p:nvSpPr>
            <p:spPr>
              <a:xfrm>
                <a:off x="4421689" y="5185775"/>
                <a:ext cx="2298525" cy="14405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FF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43A7C8-BB18-4167-5AF4-D26AB6EA20AE}"/>
                </a:ext>
              </a:extLst>
            </p:cNvPr>
            <p:cNvSpPr/>
            <p:nvPr/>
          </p:nvSpPr>
          <p:spPr>
            <a:xfrm>
              <a:off x="4421688" y="6183682"/>
              <a:ext cx="2298525" cy="14405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00"/>
                  </a:solidFill>
                </a:ln>
                <a:solidFill>
                  <a:srgbClr val="00B05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E3B42A5-0793-2192-D37D-3CE9FF774E71}"/>
              </a:ext>
            </a:extLst>
          </p:cNvPr>
          <p:cNvSpPr txBox="1"/>
          <p:nvPr/>
        </p:nvSpPr>
        <p:spPr>
          <a:xfrm>
            <a:off x="6852980" y="1737360"/>
            <a:ext cx="4852593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Wallet</a:t>
            </a:r>
            <a:r>
              <a:rPr lang="ko-KR" altLang="en-US" sz="1050"/>
              <a:t>의 초기 데이터를 저장하기를 저장하기 위해</a:t>
            </a:r>
            <a:endParaRPr lang="en-US" altLang="ko-KR" sz="1050"/>
          </a:p>
          <a:p>
            <a:endParaRPr lang="en-US" altLang="ko-KR" sz="1050"/>
          </a:p>
          <a:p>
            <a:pPr marL="171450" indent="-171450">
              <a:buFontTx/>
              <a:buChar char="-"/>
            </a:pPr>
            <a:r>
              <a:rPr lang="ko-KR" altLang="en-US" sz="1050"/>
              <a:t>사용자 명으로부터 캐시 회원을 찾는 메소드</a:t>
            </a:r>
            <a:r>
              <a:rPr lang="en-US" altLang="ko-KR" sz="1050"/>
              <a:t>[= findMemberByUser] </a:t>
            </a:r>
            <a:r>
              <a:rPr lang="ko-KR" altLang="en-US" sz="1050"/>
              <a:t>가 필요하다</a:t>
            </a:r>
            <a:r>
              <a:rPr lang="en-US" altLang="ko-KR" sz="105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050"/>
              <a:t>CashMember</a:t>
            </a:r>
            <a:r>
              <a:rPr lang="ko-KR" altLang="en-US" sz="1050"/>
              <a:t>로 부터 </a:t>
            </a:r>
            <a:r>
              <a:rPr lang="en-US" altLang="ko-KR" sz="1050"/>
              <a:t>Wallet </a:t>
            </a:r>
            <a:r>
              <a:rPr lang="ko-KR" altLang="en-US" sz="1050"/>
              <a:t>정보를 찾는 메소드</a:t>
            </a:r>
            <a:r>
              <a:rPr lang="en-US" altLang="ko-KR" sz="1050"/>
              <a:t>[=findWalletByHolder] </a:t>
            </a:r>
            <a:r>
              <a:rPr lang="ko-KR" altLang="en-US" sz="1050"/>
              <a:t>가 필요하다</a:t>
            </a:r>
            <a:r>
              <a:rPr lang="en-US" altLang="ko-KR" sz="1050"/>
              <a:t>.</a:t>
            </a:r>
          </a:p>
          <a:p>
            <a:pPr marL="171450" indent="-171450">
              <a:buFontTx/>
              <a:buChar char="-"/>
            </a:pPr>
            <a:endParaRPr lang="ko-KR" altLang="en-US" sz="105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1EAB778-A2CA-AEB0-9634-849500A45582}"/>
              </a:ext>
            </a:extLst>
          </p:cNvPr>
          <p:cNvGrpSpPr/>
          <p:nvPr/>
        </p:nvGrpSpPr>
        <p:grpSpPr>
          <a:xfrm>
            <a:off x="6916901" y="2960772"/>
            <a:ext cx="5090578" cy="1008121"/>
            <a:chOff x="6916901" y="2960772"/>
            <a:chExt cx="5090578" cy="100812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D52B179-DED9-958C-472F-052C708E6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8012" y="2960772"/>
              <a:ext cx="3579467" cy="1008121"/>
            </a:xfrm>
            <a:prstGeom prst="rect">
              <a:avLst/>
            </a:prstGeom>
          </p:spPr>
        </p:pic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438BDBB-F701-CD14-48F5-50DE2A6D33B9}"/>
                </a:ext>
              </a:extLst>
            </p:cNvPr>
            <p:cNvGrpSpPr/>
            <p:nvPr/>
          </p:nvGrpSpPr>
          <p:grpSpPr>
            <a:xfrm>
              <a:off x="6916901" y="2960772"/>
              <a:ext cx="1447190" cy="765742"/>
              <a:chOff x="6916901" y="2960772"/>
              <a:chExt cx="1447190" cy="765742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ED7C6958-0869-0513-0966-D54C416EE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61658"/>
              <a:stretch>
                <a:fillRect/>
              </a:stretch>
            </p:blipFill>
            <p:spPr>
              <a:xfrm>
                <a:off x="6916901" y="2960772"/>
                <a:ext cx="1447190" cy="765742"/>
              </a:xfrm>
              <a:prstGeom prst="rect">
                <a:avLst/>
              </a:prstGeom>
            </p:spPr>
          </p:pic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C91CA09-2100-C563-0828-D1FCC6A28A63}"/>
                  </a:ext>
                </a:extLst>
              </p:cNvPr>
              <p:cNvSpPr/>
              <p:nvPr/>
            </p:nvSpPr>
            <p:spPr>
              <a:xfrm>
                <a:off x="7471775" y="3519814"/>
                <a:ext cx="713984" cy="18789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E624B0C-C85D-A1A7-A9CD-CB5A4775AF28}"/>
              </a:ext>
            </a:extLst>
          </p:cNvPr>
          <p:cNvGrpSpPr/>
          <p:nvPr/>
        </p:nvGrpSpPr>
        <p:grpSpPr>
          <a:xfrm>
            <a:off x="6916901" y="4882082"/>
            <a:ext cx="5176978" cy="1301600"/>
            <a:chOff x="6916901" y="4159749"/>
            <a:chExt cx="5176978" cy="13016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4872679-D40B-9844-6BAC-061494206D74}"/>
                </a:ext>
              </a:extLst>
            </p:cNvPr>
            <p:cNvGrpSpPr/>
            <p:nvPr/>
          </p:nvGrpSpPr>
          <p:grpSpPr>
            <a:xfrm>
              <a:off x="6916901" y="4159749"/>
              <a:ext cx="1598920" cy="1301600"/>
              <a:chOff x="6916901" y="4159749"/>
              <a:chExt cx="1598920" cy="1301600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BD56E93-A4CA-4AD4-550D-D18173998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16901" y="4159749"/>
                <a:ext cx="1598920" cy="1301600"/>
              </a:xfrm>
              <a:prstGeom prst="rect">
                <a:avLst/>
              </a:prstGeom>
            </p:spPr>
          </p:pic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28F4A1C-65A9-1CAE-32F5-6CECC1A56F08}"/>
                  </a:ext>
                </a:extLst>
              </p:cNvPr>
              <p:cNvSpPr/>
              <p:nvPr/>
            </p:nvSpPr>
            <p:spPr>
              <a:xfrm>
                <a:off x="7359042" y="5098092"/>
                <a:ext cx="1049406" cy="36325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2404717-B17C-E600-5C4D-4F3B558A5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79741" y="4160385"/>
              <a:ext cx="3514138" cy="35580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47F762E-D54A-5F5A-D9D6-7C5E82BEF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79741" y="4580731"/>
              <a:ext cx="3514138" cy="617570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B3CD0B-A3E4-1C07-F9E1-D44123B86337}"/>
              </a:ext>
            </a:extLst>
          </p:cNvPr>
          <p:cNvSpPr/>
          <p:nvPr/>
        </p:nvSpPr>
        <p:spPr>
          <a:xfrm>
            <a:off x="3472840" y="5684728"/>
            <a:ext cx="3247373" cy="41749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486667-D1FA-5E6E-8D3E-CBD033A05C8D}"/>
              </a:ext>
            </a:extLst>
          </p:cNvPr>
          <p:cNvSpPr txBox="1"/>
          <p:nvPr/>
        </p:nvSpPr>
        <p:spPr>
          <a:xfrm>
            <a:off x="6916901" y="4077478"/>
            <a:ext cx="509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노랑색 박스 </a:t>
            </a:r>
            <a:r>
              <a:rPr lang="en-US" altLang="ko-KR" sz="1200"/>
              <a:t>: </a:t>
            </a:r>
            <a:r>
              <a:rPr lang="ko-KR" altLang="en-US" sz="1200"/>
              <a:t>지갑 저장</a:t>
            </a:r>
          </a:p>
        </p:txBody>
      </p:sp>
    </p:spTree>
    <p:extLst>
      <p:ext uri="{BB962C8B-B14F-4D97-AF65-F5344CB8AC3E}">
        <p14:creationId xmlns:p14="http://schemas.microsoft.com/office/powerpoint/2010/main" val="14724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007CC-D9B2-ED50-DC68-AEF69051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26</a:t>
            </a:r>
            <a:r>
              <a:rPr lang="ko-KR" altLang="en-US" sz="4000"/>
              <a:t>강 </a:t>
            </a:r>
            <a:r>
              <a:rPr lang="en-US" altLang="ko-KR" sz="4000"/>
              <a:t>cash</a:t>
            </a:r>
            <a:r>
              <a:rPr lang="ko-KR" altLang="en-US" sz="4000"/>
              <a:t>모듈 </a:t>
            </a:r>
            <a:r>
              <a:rPr lang="en-US" altLang="ko-KR" sz="4000"/>
              <a:t>Facade / UseCase / Support </a:t>
            </a:r>
            <a:r>
              <a:rPr lang="ko-KR" altLang="en-US" sz="4000"/>
              <a:t>분리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25667-49F1-929F-2769-D5C302E73DEB}"/>
              </a:ext>
            </a:extLst>
          </p:cNvPr>
          <p:cNvSpPr txBox="1"/>
          <p:nvPr/>
        </p:nvSpPr>
        <p:spPr>
          <a:xfrm>
            <a:off x="1194318" y="1810139"/>
            <a:ext cx="996136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1. CashFacade</a:t>
            </a:r>
            <a:r>
              <a:rPr lang="ko-KR" altLang="en-US" sz="1200"/>
              <a:t>의 복잡한 비지니스 로직</a:t>
            </a:r>
            <a:r>
              <a:rPr lang="en-US" altLang="ko-KR" sz="1200"/>
              <a:t> </a:t>
            </a:r>
            <a:r>
              <a:rPr lang="ko-KR" altLang="en-US" sz="1200"/>
              <a:t>메소드을 </a:t>
            </a:r>
            <a:r>
              <a:rPr lang="en-US" altLang="ko-KR" sz="1200"/>
              <a:t>CashUseCase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2. CashFacade</a:t>
            </a:r>
            <a:r>
              <a:rPr lang="ko-KR" altLang="en-US" sz="1200"/>
              <a:t>의 단순 조회 메소드를 </a:t>
            </a:r>
            <a:r>
              <a:rPr lang="en-US" altLang="ko-KR" sz="1200"/>
              <a:t>CashSupport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        3. CashFacade</a:t>
            </a:r>
            <a:r>
              <a:rPr lang="ko-KR" altLang="en-US" sz="1200"/>
              <a:t>는 </a:t>
            </a:r>
            <a:r>
              <a:rPr lang="en-US" altLang="ko-KR" sz="1200"/>
              <a:t>Cash</a:t>
            </a:r>
            <a:r>
              <a:rPr lang="ko-KR" altLang="en-US" sz="1200"/>
              <a:t>관련 서비스들을 사용하게 해주는 통로 역할을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endParaRPr lang="en-US" altLang="ko-KR" sz="1200"/>
          </a:p>
          <a:p>
            <a:r>
              <a:rPr lang="en-US" altLang="ko-KR" sz="1100">
                <a:latin typeface="+mn-ea"/>
              </a:rPr>
              <a:t>- CashCreateWalletUseCase [CashMember </a:t>
            </a:r>
            <a:r>
              <a:rPr lang="ko-KR" altLang="en-US" sz="1100">
                <a:latin typeface="+mn-ea"/>
              </a:rPr>
              <a:t>생성 이벤트에서 </a:t>
            </a:r>
            <a:r>
              <a:rPr lang="en-US" altLang="ko-KR" sz="1100">
                <a:latin typeface="+mn-ea"/>
              </a:rPr>
              <a:t>Wallet </a:t>
            </a:r>
            <a:r>
              <a:rPr lang="ko-KR" altLang="en-US" sz="1100">
                <a:latin typeface="+mn-ea"/>
              </a:rPr>
              <a:t>생성 </a:t>
            </a:r>
            <a:r>
              <a:rPr lang="en-US" altLang="ko-KR" sz="1100">
                <a:latin typeface="+mn-ea"/>
              </a:rPr>
              <a:t>]</a:t>
            </a:r>
          </a:p>
          <a:p>
            <a:r>
              <a:rPr lang="en-US" altLang="ko-KR" sz="1100">
                <a:latin typeface="+mn-ea"/>
              </a:rPr>
              <a:t>- CashSyncMemberUseCase [ Member </a:t>
            </a:r>
            <a:r>
              <a:rPr lang="ko-KR" altLang="en-US" sz="1100">
                <a:latin typeface="+mn-ea"/>
              </a:rPr>
              <a:t>생성 이벤트에서 </a:t>
            </a:r>
            <a:r>
              <a:rPr lang="en-US" altLang="ko-KR" sz="1100">
                <a:latin typeface="+mn-ea"/>
              </a:rPr>
              <a:t>CashMember </a:t>
            </a:r>
            <a:r>
              <a:rPr lang="ko-KR" altLang="en-US" sz="1100">
                <a:latin typeface="+mn-ea"/>
              </a:rPr>
              <a:t>생성</a:t>
            </a:r>
            <a:r>
              <a:rPr lang="en-US" altLang="ko-KR" sz="1100">
                <a:latin typeface="+mn-ea"/>
              </a:rPr>
              <a:t>]</a:t>
            </a:r>
          </a:p>
          <a:p>
            <a:r>
              <a:rPr lang="en-US" altLang="ko-KR" sz="1100">
                <a:latin typeface="+mn-ea"/>
              </a:rPr>
              <a:t>- CashSupport [CashFacade</a:t>
            </a:r>
            <a:r>
              <a:rPr lang="ko-KR" altLang="en-US" sz="1100">
                <a:latin typeface="+mn-ea"/>
              </a:rPr>
              <a:t>에서 사용할 수 있는 단순 검색용 클래스</a:t>
            </a:r>
            <a:r>
              <a:rPr lang="en-US" altLang="ko-KR" sz="1100">
                <a:latin typeface="+mn-ea"/>
              </a:rPr>
              <a:t>]</a:t>
            </a:r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C1A007-D6F9-A65A-6F74-8A4A3319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175" y="3702965"/>
            <a:ext cx="3944533" cy="27071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42E32-0114-1F12-CFBA-D295DBC13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0" y="3702965"/>
            <a:ext cx="4108962" cy="31166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5C23C7-6393-6062-6697-48D8A3DC8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027" y="3702965"/>
            <a:ext cx="3718292" cy="198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0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5CDF7-648D-E30F-8A7E-4D891BE4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27</a:t>
            </a:r>
            <a:r>
              <a:rPr lang="ko-KR" altLang="en-US" sz="4000"/>
              <a:t>강 </a:t>
            </a:r>
            <a:r>
              <a:rPr lang="en-US" altLang="ko-KR" sz="4000"/>
              <a:t>CashEventListener wallet </a:t>
            </a:r>
            <a:r>
              <a:rPr lang="ko-KR" altLang="en-US" sz="4000"/>
              <a:t>생성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20FB2-4E6C-FA55-A8AA-2D378EC57F9C}"/>
              </a:ext>
            </a:extLst>
          </p:cNvPr>
          <p:cNvSpPr txBox="1"/>
          <p:nvPr/>
        </p:nvSpPr>
        <p:spPr>
          <a:xfrm>
            <a:off x="1097280" y="1737359"/>
            <a:ext cx="10058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요약 </a:t>
            </a:r>
            <a:r>
              <a:rPr lang="en-US" altLang="ko-KR" sz="1100"/>
              <a:t>: CashEventListener</a:t>
            </a:r>
            <a:r>
              <a:rPr lang="ko-KR" altLang="en-US" sz="1100"/>
              <a:t>는 </a:t>
            </a:r>
            <a:r>
              <a:rPr lang="en-US" altLang="ko-KR" sz="1100"/>
              <a:t>Facade</a:t>
            </a:r>
            <a:r>
              <a:rPr lang="ko-KR" altLang="en-US" sz="1100"/>
              <a:t>에 정보를 넘기는 역할만해야한다</a:t>
            </a:r>
            <a:r>
              <a:rPr lang="en-US" altLang="ko-KR" sz="1100"/>
              <a:t>. </a:t>
            </a:r>
            <a:r>
              <a:rPr lang="ko-KR" altLang="en-US" sz="1100"/>
              <a:t>지갑을 생성하는 일을 해선 안된다</a:t>
            </a:r>
            <a:r>
              <a:rPr lang="en-US" altLang="ko-KR" sz="1100"/>
              <a:t>. (</a:t>
            </a:r>
            <a:r>
              <a:rPr lang="ko-KR" altLang="en-US" sz="1100"/>
              <a:t>일관성을 해침</a:t>
            </a:r>
            <a:r>
              <a:rPr lang="en-US" altLang="ko-KR" sz="1100"/>
              <a:t>)</a:t>
            </a:r>
            <a:br>
              <a:rPr lang="en-US" altLang="ko-KR" sz="1100"/>
            </a:br>
            <a:r>
              <a:rPr lang="en-US" altLang="ko-KR" sz="1100"/>
              <a:t>           CashMemberCreatedEvent</a:t>
            </a:r>
            <a:r>
              <a:rPr lang="ko-KR" altLang="en-US" sz="1100"/>
              <a:t>를 발생시켜 </a:t>
            </a:r>
            <a:r>
              <a:rPr lang="en-US" altLang="ko-KR" sz="1100"/>
              <a:t>createWallet</a:t>
            </a:r>
            <a:r>
              <a:rPr lang="ko-KR" altLang="en-US" sz="1100"/>
              <a:t>을 호출하고</a:t>
            </a:r>
            <a:r>
              <a:rPr lang="en-US" altLang="ko-KR" sz="1100"/>
              <a:t>, Wallet</a:t>
            </a:r>
            <a:r>
              <a:rPr lang="ko-KR" altLang="en-US" sz="1100"/>
              <a:t>을 생성한다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 ※ </a:t>
            </a:r>
            <a:r>
              <a:rPr lang="ko-KR" altLang="en-US" sz="1100"/>
              <a:t>신규 생성시 </a:t>
            </a:r>
            <a:r>
              <a:rPr lang="en-US" altLang="ko-KR" sz="1100"/>
              <a:t>Wallet</a:t>
            </a:r>
            <a:r>
              <a:rPr lang="ko-KR" altLang="en-US" sz="1100"/>
              <a:t>이 만들어짐으로 </a:t>
            </a:r>
            <a:r>
              <a:rPr lang="en-US" altLang="ko-KR" sz="1100"/>
              <a:t>CashMember</a:t>
            </a:r>
            <a:r>
              <a:rPr lang="ko-KR" altLang="en-US" sz="1100"/>
              <a:t>가 신규 생성인지 수정인지를 판단하는 메소드가 필요하다</a:t>
            </a:r>
            <a:r>
              <a:rPr lang="en-US" altLang="ko-KR" sz="11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92AE-DEDD-049C-9193-DD5DEC475A7A}"/>
              </a:ext>
            </a:extLst>
          </p:cNvPr>
          <p:cNvSpPr txBox="1"/>
          <p:nvPr/>
        </p:nvSpPr>
        <p:spPr>
          <a:xfrm>
            <a:off x="1194318" y="2440159"/>
            <a:ext cx="2808515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CashMemberDto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CashMemberCreatedEvent</a:t>
            </a:r>
          </a:p>
          <a:p>
            <a:pPr marL="171450" indent="-171450">
              <a:buFontTx/>
              <a:buChar char="-"/>
            </a:pPr>
            <a:endParaRPr lang="en-US" altLang="ko-KR" sz="1100" b="1">
              <a:ea typeface="+mj-ea"/>
            </a:endParaRPr>
          </a:p>
          <a:p>
            <a:r>
              <a:rPr lang="en-US" altLang="ko-KR" sz="1100" b="1">
                <a:ea typeface="+mj-ea"/>
              </a:rPr>
              <a:t>※ </a:t>
            </a:r>
            <a:r>
              <a:rPr lang="ko-KR" altLang="en-US" sz="1100" b="1">
                <a:ea typeface="+mj-ea"/>
              </a:rPr>
              <a:t>수정 파일</a:t>
            </a:r>
            <a:endParaRPr lang="en-US" altLang="ko-KR" sz="1100" b="1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/>
              <a:t>CashCreateWalletUseCase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CashFacade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CashSyncMemberUseCase</a:t>
            </a:r>
          </a:p>
        </p:txBody>
      </p:sp>
    </p:spTree>
    <p:extLst>
      <p:ext uri="{BB962C8B-B14F-4D97-AF65-F5344CB8AC3E}">
        <p14:creationId xmlns:p14="http://schemas.microsoft.com/office/powerpoint/2010/main" val="402839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75543-F6D4-0B0D-1625-76DAEED9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27</a:t>
            </a:r>
            <a:r>
              <a:rPr lang="ko-KR" altLang="en-US"/>
              <a:t>강 주요 코드 사진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81A135-27C9-157E-7F6F-C3FD8234B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1" y="1737360"/>
            <a:ext cx="12045198" cy="11732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450523-3B8A-3AE3-6593-5A2F6229E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66" y="3099114"/>
            <a:ext cx="5087060" cy="1295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5315E4-17D9-0D47-18B8-56D6180EC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266" y="4520220"/>
            <a:ext cx="4955799" cy="23377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7FBA0F-1B7F-4FC4-2E8D-ECA1FADF8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1" y="3065769"/>
            <a:ext cx="3639195" cy="370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33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C1893-CDCA-7A8F-F1B0-53BDF4D9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9AB21-CE01-ABE8-423A-82DC2749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28</a:t>
            </a:r>
            <a:r>
              <a:rPr lang="ko-KR" altLang="en-US" sz="4000"/>
              <a:t>강 </a:t>
            </a:r>
            <a:r>
              <a:rPr lang="en-US" altLang="ko-KR" sz="4000"/>
              <a:t>post</a:t>
            </a:r>
            <a:r>
              <a:rPr lang="ko-KR" altLang="en-US" sz="4000"/>
              <a:t>모듈 </a:t>
            </a:r>
            <a:r>
              <a:rPr lang="en-US" altLang="ko-KR" sz="4000"/>
              <a:t>Facade / UseCase / Support </a:t>
            </a:r>
            <a:r>
              <a:rPr lang="ko-KR" altLang="en-US" sz="4000"/>
              <a:t>분리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CB00E-CAC4-F072-3935-418CBB783EE9}"/>
              </a:ext>
            </a:extLst>
          </p:cNvPr>
          <p:cNvSpPr txBox="1"/>
          <p:nvPr/>
        </p:nvSpPr>
        <p:spPr>
          <a:xfrm>
            <a:off x="1194318" y="1810139"/>
            <a:ext cx="996136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1. PostFacade</a:t>
            </a:r>
            <a:r>
              <a:rPr lang="ko-KR" altLang="en-US" sz="1200"/>
              <a:t>의 복잡한 비지니스 로직</a:t>
            </a:r>
            <a:r>
              <a:rPr lang="en-US" altLang="ko-KR" sz="1200"/>
              <a:t> </a:t>
            </a:r>
            <a:r>
              <a:rPr lang="ko-KR" altLang="en-US" sz="1200"/>
              <a:t>메소드을 </a:t>
            </a:r>
            <a:r>
              <a:rPr lang="en-US" altLang="ko-KR" sz="1200"/>
              <a:t>Cash___UseCase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2. PostFacade</a:t>
            </a:r>
            <a:r>
              <a:rPr lang="ko-KR" altLang="en-US" sz="1200"/>
              <a:t>의 단순 조회 메소드를 </a:t>
            </a:r>
            <a:r>
              <a:rPr lang="en-US" altLang="ko-KR" sz="1200"/>
              <a:t>PostSupport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        3. PostFacade</a:t>
            </a:r>
            <a:r>
              <a:rPr lang="ko-KR" altLang="en-US" sz="1200"/>
              <a:t>는 </a:t>
            </a:r>
            <a:r>
              <a:rPr lang="en-US" altLang="ko-KR" sz="1200"/>
              <a:t>Post</a:t>
            </a:r>
            <a:r>
              <a:rPr lang="ko-KR" altLang="en-US" sz="1200"/>
              <a:t>관련 서비스들을 사용하게 해주는 통로 역할을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r>
              <a:rPr lang="en-US" altLang="ko-KR" sz="1100">
                <a:latin typeface="+mj-ea"/>
                <a:ea typeface="+mj-ea"/>
              </a:rPr>
              <a:t>- PostSyncMemberUseCase [Member </a:t>
            </a:r>
            <a:r>
              <a:rPr lang="ko-KR" altLang="en-US" sz="1100">
                <a:latin typeface="+mj-ea"/>
                <a:ea typeface="+mj-ea"/>
              </a:rPr>
              <a:t>생성 이벤트에서 </a:t>
            </a:r>
            <a:r>
              <a:rPr lang="en-US" altLang="ko-KR" sz="1100">
                <a:latin typeface="+mj-ea"/>
                <a:ea typeface="+mj-ea"/>
              </a:rPr>
              <a:t>PostMember </a:t>
            </a:r>
            <a:r>
              <a:rPr lang="ko-KR" altLang="en-US" sz="1100">
                <a:latin typeface="+mj-ea"/>
                <a:ea typeface="+mj-ea"/>
              </a:rPr>
              <a:t>생성</a:t>
            </a:r>
            <a:r>
              <a:rPr lang="en-US" altLang="ko-KR" sz="1100">
                <a:latin typeface="+mj-ea"/>
                <a:ea typeface="+mj-ea"/>
              </a:rPr>
              <a:t>]</a:t>
            </a:r>
          </a:p>
          <a:p>
            <a:r>
              <a:rPr lang="en-US" altLang="ko-KR" sz="1100">
                <a:latin typeface="+mj-ea"/>
                <a:ea typeface="+mj-ea"/>
              </a:rPr>
              <a:t>- PostWriteUseCase [ </a:t>
            </a:r>
            <a:r>
              <a:rPr lang="ko-KR" altLang="en-US" sz="1100">
                <a:latin typeface="+mj-ea"/>
                <a:ea typeface="+mj-ea"/>
              </a:rPr>
              <a:t>게시글 생성 </a:t>
            </a:r>
            <a:r>
              <a:rPr lang="en-US" altLang="ko-KR" sz="1100">
                <a:latin typeface="+mj-ea"/>
                <a:ea typeface="+mj-ea"/>
              </a:rPr>
              <a:t>]</a:t>
            </a:r>
          </a:p>
          <a:p>
            <a:r>
              <a:rPr lang="en-US" altLang="ko-KR" sz="1100">
                <a:latin typeface="+mj-ea"/>
                <a:ea typeface="+mj-ea"/>
              </a:rPr>
              <a:t>- PostSupport [PostFacade</a:t>
            </a:r>
            <a:r>
              <a:rPr lang="ko-KR" altLang="en-US" sz="1100">
                <a:latin typeface="+mj-ea"/>
                <a:ea typeface="+mj-ea"/>
              </a:rPr>
              <a:t>에서 사용할 수 있는 단순 검색용 클래스</a:t>
            </a:r>
            <a:r>
              <a:rPr lang="en-US" altLang="ko-KR" sz="1100">
                <a:latin typeface="+mj-ea"/>
                <a:ea typeface="+mj-ea"/>
              </a:rPr>
              <a:t>]</a:t>
            </a:r>
          </a:p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 b="1"/>
          </a:p>
          <a:p>
            <a:r>
              <a:rPr lang="en-US" altLang="ko-KR" sz="1200"/>
              <a:t>- PostFacade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0D1EE0-A0B8-1E75-D0F1-A3C7894BF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90" y="3661076"/>
            <a:ext cx="3944534" cy="31969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3ABCC9-BB8D-126E-6558-7A271E219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66" y="3661077"/>
            <a:ext cx="4441910" cy="31969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6B17F5-2662-1B28-9F7D-7F589A894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994" y="2058078"/>
            <a:ext cx="5211716" cy="207324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36241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A492-D397-99B6-F3B3-AA748464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AD102-8FD0-3B8D-9E8E-5D2753E2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29</a:t>
            </a:r>
            <a:r>
              <a:rPr lang="ko-KR" altLang="en-US" sz="3600"/>
              <a:t>강 </a:t>
            </a:r>
            <a:r>
              <a:rPr lang="en-US" altLang="ko-KR" sz="3600"/>
              <a:t>Member</a:t>
            </a:r>
            <a:r>
              <a:rPr lang="ko-KR" altLang="en-US" sz="3600"/>
              <a:t>모듈 </a:t>
            </a:r>
            <a:r>
              <a:rPr lang="en-US" altLang="ko-KR" sz="3600"/>
              <a:t>Facade / UseCase / Support </a:t>
            </a:r>
            <a:r>
              <a:rPr lang="ko-KR" altLang="en-US" sz="3600"/>
              <a:t>분리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43946-7A76-E63F-F5FF-31BE1B03DC50}"/>
              </a:ext>
            </a:extLst>
          </p:cNvPr>
          <p:cNvSpPr txBox="1"/>
          <p:nvPr/>
        </p:nvSpPr>
        <p:spPr>
          <a:xfrm>
            <a:off x="1194318" y="1810139"/>
            <a:ext cx="996136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1. MemberFacade</a:t>
            </a:r>
            <a:r>
              <a:rPr lang="ko-KR" altLang="en-US" sz="1200"/>
              <a:t>의 복잡한 비지니스 로직</a:t>
            </a:r>
            <a:r>
              <a:rPr lang="en-US" altLang="ko-KR" sz="1200"/>
              <a:t> </a:t>
            </a:r>
            <a:r>
              <a:rPr lang="ko-KR" altLang="en-US" sz="1200"/>
              <a:t>메소드을 </a:t>
            </a:r>
            <a:r>
              <a:rPr lang="en-US" altLang="ko-KR" sz="1200"/>
              <a:t>Member___UseCase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2. MemberFacade</a:t>
            </a:r>
            <a:r>
              <a:rPr lang="ko-KR" altLang="en-US" sz="1200"/>
              <a:t>의 단순 조회 메소드를 </a:t>
            </a:r>
            <a:r>
              <a:rPr lang="en-US" altLang="ko-KR" sz="1200"/>
              <a:t>MemberSupport</a:t>
            </a:r>
            <a:r>
              <a:rPr lang="ko-KR" altLang="en-US" sz="1200"/>
              <a:t>로 옮긴다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        3. MemberFacade</a:t>
            </a:r>
            <a:r>
              <a:rPr lang="ko-KR" altLang="en-US" sz="1200"/>
              <a:t>는 </a:t>
            </a:r>
            <a:r>
              <a:rPr lang="en-US" altLang="ko-KR" sz="1200"/>
              <a:t>Member</a:t>
            </a:r>
            <a:r>
              <a:rPr lang="ko-KR" altLang="en-US" sz="1200"/>
              <a:t>관련 서비스들을 사용하게 해주는 통로 역할을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r>
              <a:rPr lang="en-US" altLang="ko-KR" sz="1100">
                <a:ea typeface="+mj-ea"/>
              </a:rPr>
              <a:t>- </a:t>
            </a:r>
            <a:r>
              <a:rPr lang="en-US" altLang="ko-KR" sz="1100"/>
              <a:t>MemberJoinUseCase</a:t>
            </a:r>
            <a:r>
              <a:rPr lang="en-US" altLang="ko-KR" sz="1100">
                <a:ea typeface="+mj-ea"/>
              </a:rPr>
              <a:t> [Member </a:t>
            </a:r>
            <a:r>
              <a:rPr lang="ko-KR" altLang="en-US" sz="1100">
                <a:ea typeface="+mj-ea"/>
              </a:rPr>
              <a:t>생성</a:t>
            </a:r>
            <a:r>
              <a:rPr lang="en-US" altLang="ko-KR" sz="1100">
                <a:ea typeface="+mj-ea"/>
              </a:rPr>
              <a:t>]</a:t>
            </a:r>
          </a:p>
          <a:p>
            <a:r>
              <a:rPr lang="en-US" altLang="ko-KR" sz="1100">
                <a:ea typeface="+mj-ea"/>
              </a:rPr>
              <a:t>- </a:t>
            </a:r>
            <a:r>
              <a:rPr lang="en-US" altLang="ko-KR" sz="1100"/>
              <a:t>MemberGetRandomSecureTipUseCase</a:t>
            </a:r>
            <a:r>
              <a:rPr lang="en-US" altLang="ko-KR" sz="1100">
                <a:ea typeface="+mj-ea"/>
              </a:rPr>
              <a:t> [ </a:t>
            </a:r>
            <a:r>
              <a:rPr lang="ko-KR" altLang="en-US" sz="1100">
                <a:ea typeface="+mj-ea"/>
              </a:rPr>
              <a:t>회원 정책</a:t>
            </a:r>
            <a:r>
              <a:rPr lang="en-US" altLang="ko-KR" sz="1100">
                <a:ea typeface="+mj-ea"/>
              </a:rPr>
              <a:t>(</a:t>
            </a:r>
            <a:r>
              <a:rPr lang="ko-KR" altLang="en-US" sz="1100">
                <a:ea typeface="+mj-ea"/>
              </a:rPr>
              <a:t>보안팁</a:t>
            </a:r>
            <a:r>
              <a:rPr lang="en-US" altLang="ko-KR" sz="1100">
                <a:ea typeface="+mj-ea"/>
              </a:rPr>
              <a:t>) </a:t>
            </a:r>
            <a:r>
              <a:rPr lang="ko-KR" altLang="en-US" sz="1100">
                <a:ea typeface="+mj-ea"/>
              </a:rPr>
              <a:t>반환</a:t>
            </a:r>
            <a:r>
              <a:rPr lang="en-US" altLang="ko-KR" sz="1100">
                <a:ea typeface="+mj-ea"/>
              </a:rPr>
              <a:t>]</a:t>
            </a:r>
          </a:p>
          <a:p>
            <a:r>
              <a:rPr lang="en-US" altLang="ko-KR" sz="1100">
                <a:ea typeface="+mj-ea"/>
              </a:rPr>
              <a:t>- MemberSupport [MemberFacade</a:t>
            </a:r>
            <a:r>
              <a:rPr lang="ko-KR" altLang="en-US" sz="1100">
                <a:ea typeface="+mj-ea"/>
              </a:rPr>
              <a:t>에서 사용할 수 있는 단순 검색용 클래스</a:t>
            </a:r>
            <a:r>
              <a:rPr lang="en-US" altLang="ko-KR" sz="1100">
                <a:ea typeface="+mj-ea"/>
              </a:rPr>
              <a:t>]</a:t>
            </a:r>
          </a:p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 b="1"/>
          </a:p>
          <a:p>
            <a:r>
              <a:rPr lang="en-US" altLang="ko-KR" sz="1200"/>
              <a:t>- MemberFacade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77CC5E-D4EF-0FB5-BFA5-575FBD448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90" y="3661076"/>
            <a:ext cx="3944534" cy="31969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BC5AEA-3EB0-3FE3-E324-1AB5E3803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66" y="3661077"/>
            <a:ext cx="4441910" cy="319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62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645F0-1747-EA5C-048B-1A5719E5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30</a:t>
            </a:r>
            <a:r>
              <a:rPr lang="ko-KR" altLang="en-US" sz="3600"/>
              <a:t>강 </a:t>
            </a:r>
            <a:r>
              <a:rPr lang="en-US" altLang="ko-KR" sz="3600"/>
              <a:t>Market</a:t>
            </a:r>
            <a:r>
              <a:rPr lang="ko-KR" altLang="en-US" sz="3600"/>
              <a:t>모듈 추가 </a:t>
            </a:r>
            <a:r>
              <a:rPr lang="en-US" altLang="ko-KR" sz="3600"/>
              <a:t>- </a:t>
            </a:r>
            <a:r>
              <a:rPr lang="ko-KR" altLang="en-US" sz="3600"/>
              <a:t>마켓복제회원생성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955BE-ACFE-1A7D-B115-D3B8224050F1}"/>
              </a:ext>
            </a:extLst>
          </p:cNvPr>
          <p:cNvSpPr txBox="1"/>
          <p:nvPr/>
        </p:nvSpPr>
        <p:spPr>
          <a:xfrm>
            <a:off x="1194318" y="1810139"/>
            <a:ext cx="99613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1</a:t>
            </a:r>
            <a:r>
              <a:rPr lang="ko-KR" altLang="en-US" sz="1200"/>
              <a:t>부 </a:t>
            </a:r>
            <a:r>
              <a:rPr lang="en-US" altLang="ko-KR" sz="1200"/>
              <a:t>PostMember / 2</a:t>
            </a:r>
            <a:r>
              <a:rPr lang="ko-KR" altLang="en-US" sz="1200"/>
              <a:t>부 </a:t>
            </a:r>
            <a:r>
              <a:rPr lang="en-US" altLang="ko-KR" sz="1200"/>
              <a:t>CashMember </a:t>
            </a:r>
            <a:r>
              <a:rPr lang="ko-KR" altLang="en-US" sz="1200"/>
              <a:t>생성처럼 </a:t>
            </a:r>
            <a:r>
              <a:rPr lang="en-US" altLang="ko-KR" sz="1200"/>
              <a:t>MemberJoinedEvent</a:t>
            </a:r>
            <a:r>
              <a:rPr lang="ko-KR" altLang="en-US" sz="1200"/>
              <a:t>를 감지하여</a:t>
            </a:r>
            <a:r>
              <a:rPr lang="en-US" altLang="ko-KR" sz="1200"/>
              <a:t> MarketMember </a:t>
            </a:r>
            <a:r>
              <a:rPr lang="ko-KR" altLang="en-US" sz="1200"/>
              <a:t>동기화 객체를 생성한다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( </a:t>
            </a:r>
            <a:r>
              <a:rPr lang="ko-KR" altLang="en-US" sz="1200"/>
              <a:t>회원의 생성 동기화 </a:t>
            </a:r>
            <a:r>
              <a:rPr lang="en-US" altLang="ko-KR" sz="1200"/>
              <a:t>/ </a:t>
            </a:r>
            <a:r>
              <a:rPr lang="ko-KR" altLang="en-US" sz="1200"/>
              <a:t>수정 동기화 이벤트 필요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ko-KR" altLang="en-US" sz="1200" b="1"/>
              <a:t>★</a:t>
            </a:r>
            <a:r>
              <a:rPr lang="en-US" altLang="ko-KR" sz="1200" b="1"/>
              <a:t> </a:t>
            </a:r>
            <a:r>
              <a:rPr lang="ko-KR" altLang="en-US" sz="1200" b="1"/>
              <a:t>편의를 위해 </a:t>
            </a:r>
            <a:r>
              <a:rPr lang="en-US" altLang="ko-KR" sz="1200" b="1"/>
              <a:t>Repository</a:t>
            </a:r>
            <a:r>
              <a:rPr lang="ko-KR" altLang="en-US" sz="1200" b="1"/>
              <a:t>를 작성시에는 </a:t>
            </a:r>
            <a:r>
              <a:rPr lang="en-US" altLang="ko-KR" sz="1200" b="1"/>
              <a:t>findBy...name()</a:t>
            </a:r>
            <a:r>
              <a:rPr lang="ko-KR" altLang="en-US" sz="1200" b="1"/>
              <a:t>은 필수로 작성하도록 하자</a:t>
            </a:r>
            <a:endParaRPr lang="en-US" altLang="ko-KR" sz="1200" b="1"/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r>
              <a:rPr lang="en-US" altLang="ko-KR" sz="1100">
                <a:ea typeface="+mj-ea"/>
              </a:rPr>
              <a:t>- MarketMember</a:t>
            </a:r>
          </a:p>
          <a:p>
            <a:r>
              <a:rPr lang="en-US" altLang="ko-KR" sz="1100">
                <a:ea typeface="+mj-ea"/>
              </a:rPr>
              <a:t>- MarketFacade</a:t>
            </a:r>
          </a:p>
          <a:p>
            <a:r>
              <a:rPr lang="en-US" altLang="ko-KR" sz="1100">
                <a:ea typeface="+mj-ea"/>
              </a:rPr>
              <a:t>- MarketSyncMemberUseCase</a:t>
            </a:r>
          </a:p>
          <a:p>
            <a:r>
              <a:rPr lang="en-US" altLang="ko-KR" sz="1100">
                <a:ea typeface="+mj-ea"/>
              </a:rPr>
              <a:t>- MarketEventListener</a:t>
            </a:r>
          </a:p>
          <a:p>
            <a:r>
              <a:rPr lang="en-US" altLang="ko-KR" sz="1100">
                <a:ea typeface="+mj-ea"/>
              </a:rPr>
              <a:t>- MarketMemberRepository</a:t>
            </a:r>
          </a:p>
          <a:p>
            <a:pPr marL="171450" indent="-171450">
              <a:buFontTx/>
              <a:buChar char="-"/>
            </a:pPr>
            <a:endParaRPr lang="en-US" altLang="ko-KR" sz="1100">
              <a:ea typeface="+mj-ea"/>
            </a:endParaRPr>
          </a:p>
          <a:p>
            <a:r>
              <a:rPr lang="en-US" altLang="ko-KR" sz="1100" b="1"/>
              <a:t>MarketMember </a:t>
            </a:r>
            <a:r>
              <a:rPr lang="ko-KR" altLang="en-US" sz="1100" b="1"/>
              <a:t>정보 </a:t>
            </a:r>
            <a:r>
              <a:rPr lang="en-US" altLang="ko-KR" sz="1100" b="1"/>
              <a:t>= CashMember, PostMember </a:t>
            </a:r>
            <a:r>
              <a:rPr lang="ko-KR" altLang="en-US" sz="1100" b="1"/>
              <a:t>등 </a:t>
            </a:r>
            <a:r>
              <a:rPr lang="en-US" altLang="ko-KR" sz="1100" b="1"/>
              <a:t>ReplicaMember </a:t>
            </a:r>
            <a:r>
              <a:rPr lang="ko-KR" altLang="en-US" sz="1100" b="1"/>
              <a:t>들과 구성 동일</a:t>
            </a:r>
            <a:endParaRPr lang="en-US" altLang="ko-KR" sz="1100" b="1"/>
          </a:p>
          <a:p>
            <a:r>
              <a:rPr lang="ko-KR" altLang="en-US" sz="1100" b="1"/>
              <a:t>동기화 메소드 명 </a:t>
            </a:r>
            <a:r>
              <a:rPr lang="en-US" altLang="ko-KR" sz="1100" b="1"/>
              <a:t>= syncMember() </a:t>
            </a:r>
            <a:r>
              <a:rPr lang="ko-KR" altLang="en-US" sz="1100" b="1"/>
              <a:t>다른 모듈에서의 동기화 메소드 명과 동일 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32869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54717-8DAA-2458-15B2-FB7639B0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31</a:t>
            </a:r>
            <a:r>
              <a:rPr lang="ko-KR" altLang="en-US"/>
              <a:t>강 글 조회를 위한 </a:t>
            </a:r>
            <a:r>
              <a:rPr lang="en-US" altLang="ko-KR"/>
              <a:t>PostApiClient</a:t>
            </a:r>
            <a:r>
              <a:rPr lang="ko-KR" altLang="en-US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7A80-3CBE-945F-C9E6-6091A8F7AC55}"/>
              </a:ext>
            </a:extLst>
          </p:cNvPr>
          <p:cNvSpPr txBox="1"/>
          <p:nvPr/>
        </p:nvSpPr>
        <p:spPr>
          <a:xfrm>
            <a:off x="1194318" y="1810139"/>
            <a:ext cx="99613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해당 교안에서는 상품이 글</a:t>
            </a:r>
            <a:r>
              <a:rPr lang="en-US" altLang="ko-KR" sz="1200"/>
              <a:t>(Post)</a:t>
            </a:r>
            <a:r>
              <a:rPr lang="ko-KR" altLang="en-US" sz="1200"/>
              <a:t>이다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	- </a:t>
            </a:r>
            <a:r>
              <a:rPr lang="ko-KR" altLang="en-US" sz="1200"/>
              <a:t>잘 정리되거나 유용한 글을 글 작성자가 유료화 상품으로 등록할수 있는 서비스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- </a:t>
            </a:r>
            <a:r>
              <a:rPr lang="ko-KR" altLang="en-US" sz="1200"/>
              <a:t>상품으로 등록하기 위한 글 조회 </a:t>
            </a:r>
            <a:r>
              <a:rPr lang="en-US" altLang="ko-KR" sz="1200"/>
              <a:t>API</a:t>
            </a:r>
            <a:r>
              <a:rPr lang="ko-KR" altLang="en-US" sz="1200"/>
              <a:t>를 만들어야한다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- GET /api/v1/post/posts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전체 글 조회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	- GET /api/v1/post/posts/{id}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글 상세 조회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 b="1">
                <a:sym typeface="Wingdings" panose="05000000000000000000" pitchFamily="2" charset="2"/>
              </a:rPr>
              <a:t>※ </a:t>
            </a:r>
            <a:r>
              <a:rPr lang="ko-KR" altLang="en-US" sz="1200" b="1">
                <a:sym typeface="Wingdings" panose="05000000000000000000" pitchFamily="2" charset="2"/>
              </a:rPr>
              <a:t>생성 파일</a:t>
            </a:r>
            <a:endParaRPr lang="en-US" altLang="ko-KR" sz="1200" b="1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MarketDataInit 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marketDataInitApplicationRunner()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makeBaseProducts() [ </a:t>
            </a:r>
            <a:r>
              <a:rPr lang="ko-KR" altLang="en-US" sz="1200">
                <a:sym typeface="Wingdings" panose="05000000000000000000" pitchFamily="2" charset="2"/>
              </a:rPr>
              <a:t>전체 조회에서 </a:t>
            </a:r>
            <a:r>
              <a:rPr lang="en-US" altLang="ko-KR" sz="1200">
                <a:sym typeface="Wingdings" panose="05000000000000000000" pitchFamily="2" charset="2"/>
              </a:rPr>
              <a:t>postId </a:t>
            </a:r>
            <a:r>
              <a:rPr lang="ko-KR" altLang="en-US" sz="1200">
                <a:sym typeface="Wingdings" panose="05000000000000000000" pitchFamily="2" charset="2"/>
              </a:rPr>
              <a:t>만 콘솔 출력</a:t>
            </a:r>
            <a:r>
              <a:rPr lang="en-US" altLang="ko-KR" sz="1200">
                <a:sym typeface="Wingdings" panose="05000000000000000000" pitchFamily="2" charset="2"/>
              </a:rPr>
              <a:t>]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PostFacade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findByOrderByIdDesc()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findById()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PostSupport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ApiV1PostController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PostRepostitory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PostDto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PostApiClient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getItems()</a:t>
            </a:r>
          </a:p>
          <a:p>
            <a:pPr marL="628650" lvl="1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getItem(id)</a:t>
            </a:r>
          </a:p>
          <a:p>
            <a:pPr marL="628650" lvl="1" indent="-171450">
              <a:buFontTx/>
              <a:buChar char="-"/>
            </a:pP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※ </a:t>
            </a:r>
            <a:r>
              <a:rPr lang="ko-KR" altLang="en-US" sz="1200">
                <a:sym typeface="Wingdings" panose="05000000000000000000" pitchFamily="2" charset="2"/>
              </a:rPr>
              <a:t>전체 글 조회는 </a:t>
            </a:r>
            <a:r>
              <a:rPr lang="en-US" altLang="ko-KR" sz="1200">
                <a:sym typeface="Wingdings" panose="05000000000000000000" pitchFamily="2" charset="2"/>
              </a:rPr>
              <a:t>Id</a:t>
            </a:r>
            <a:r>
              <a:rPr lang="ko-KR" altLang="en-US" sz="1200">
                <a:sym typeface="Wingdings" panose="05000000000000000000" pitchFamily="2" charset="2"/>
              </a:rPr>
              <a:t>기준 최신순으로</a:t>
            </a:r>
            <a:endParaRPr lang="en-US" altLang="ko-KR" sz="12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47324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7CB2B-EC3D-7DEA-D872-E896463B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글 조회를 위한 </a:t>
            </a:r>
            <a:r>
              <a:rPr lang="en-US" altLang="ko-KR" sz="3200"/>
              <a:t>PostApiClient</a:t>
            </a:r>
            <a:r>
              <a:rPr lang="ko-KR" altLang="en-US" sz="3200"/>
              <a:t>구현 </a:t>
            </a:r>
            <a:r>
              <a:rPr lang="en-US" altLang="ko-KR" sz="3200"/>
              <a:t>- </a:t>
            </a:r>
            <a:r>
              <a:rPr lang="ko-KR" altLang="en-US" sz="3200"/>
              <a:t>핵심 기능 사진 자료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A33AED-CA4B-884E-D6EB-F7243A84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90" y="1903444"/>
            <a:ext cx="3579178" cy="40476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8EF5A5-33D6-0357-DBFB-4E5117C5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953" y="1903444"/>
            <a:ext cx="3440475" cy="404761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0443B89D-A4F5-68EA-8D53-48F2F8D37E2C}"/>
              </a:ext>
            </a:extLst>
          </p:cNvPr>
          <p:cNvGrpSpPr/>
          <p:nvPr/>
        </p:nvGrpSpPr>
        <p:grpSpPr>
          <a:xfrm>
            <a:off x="7842413" y="1903444"/>
            <a:ext cx="3654757" cy="4166174"/>
            <a:chOff x="7842413" y="1903444"/>
            <a:chExt cx="3654757" cy="416617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00DC89A-B618-4C29-9FF9-E2ED8926F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2413" y="1903444"/>
              <a:ext cx="3654757" cy="416617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E708AAF-1AA9-7BBC-63AE-9DE84041BA28}"/>
                </a:ext>
              </a:extLst>
            </p:cNvPr>
            <p:cNvSpPr/>
            <p:nvPr/>
          </p:nvSpPr>
          <p:spPr>
            <a:xfrm>
              <a:off x="8052318" y="5047861"/>
              <a:ext cx="2827176" cy="9032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2A86DF-AE20-E2C8-8EF4-DD9B55FF5911}"/>
              </a:ext>
            </a:extLst>
          </p:cNvPr>
          <p:cNvSpPr/>
          <p:nvPr/>
        </p:nvSpPr>
        <p:spPr>
          <a:xfrm>
            <a:off x="1166327" y="2677886"/>
            <a:ext cx="1875453" cy="279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C8053-AC31-F0B3-B9EA-101D7226792B}"/>
              </a:ext>
            </a:extLst>
          </p:cNvPr>
          <p:cNvSpPr txBox="1"/>
          <p:nvPr/>
        </p:nvSpPr>
        <p:spPr>
          <a:xfrm>
            <a:off x="490790" y="5951062"/>
            <a:ext cx="3579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빨간색 박스 </a:t>
            </a:r>
            <a:r>
              <a:rPr lang="en-US" altLang="ko-KR" sz="1200"/>
              <a:t>: final </a:t>
            </a:r>
            <a:r>
              <a:rPr lang="ko-KR" altLang="en-US" sz="1200"/>
              <a:t>놓침 붙여주자</a:t>
            </a:r>
          </a:p>
        </p:txBody>
      </p:sp>
    </p:spTree>
    <p:extLst>
      <p:ext uri="{BB962C8B-B14F-4D97-AF65-F5344CB8AC3E}">
        <p14:creationId xmlns:p14="http://schemas.microsoft.com/office/powerpoint/2010/main" val="3265969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C3358-058B-B1A2-F93C-54EB210E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32</a:t>
            </a:r>
            <a:r>
              <a:rPr lang="ko-KR" altLang="en-US"/>
              <a:t>강</a:t>
            </a:r>
            <a:r>
              <a:rPr lang="en-US" altLang="ko-KR"/>
              <a:t>: </a:t>
            </a:r>
            <a:r>
              <a:rPr lang="ko-KR" altLang="en-US"/>
              <a:t>글 </a:t>
            </a:r>
            <a:r>
              <a:rPr lang="en-US" altLang="ko-KR"/>
              <a:t>6</a:t>
            </a:r>
            <a:r>
              <a:rPr lang="ko-KR" altLang="en-US"/>
              <a:t>개로 부터 상품</a:t>
            </a:r>
            <a:r>
              <a:rPr lang="en-US" altLang="ko-KR"/>
              <a:t>6</a:t>
            </a:r>
            <a:r>
              <a:rPr lang="ko-KR" altLang="en-US"/>
              <a:t>개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7414E-1C44-CF81-421B-6EA4E2F731BA}"/>
              </a:ext>
            </a:extLst>
          </p:cNvPr>
          <p:cNvSpPr txBox="1"/>
          <p:nvPr/>
        </p:nvSpPr>
        <p:spPr>
          <a:xfrm>
            <a:off x="1194318" y="1802675"/>
            <a:ext cx="996136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MarketDataInit </a:t>
            </a:r>
            <a:r>
              <a:rPr lang="ko-KR" altLang="en-US" sz="1200"/>
              <a:t>에서 </a:t>
            </a:r>
            <a:r>
              <a:rPr lang="en-US" altLang="ko-KR" sz="1200"/>
              <a:t>PostApiClient</a:t>
            </a:r>
            <a:r>
              <a:rPr lang="ko-KR" altLang="en-US" sz="1200"/>
              <a:t>로 가져온 글 </a:t>
            </a:r>
            <a:r>
              <a:rPr lang="en-US" altLang="ko-KR" sz="1200"/>
              <a:t>6</a:t>
            </a:r>
            <a:r>
              <a:rPr lang="ko-KR" altLang="en-US" sz="1200"/>
              <a:t>개의 정보를 상품으로 등록한다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(PostApiClient</a:t>
            </a:r>
            <a:r>
              <a:rPr lang="ko-KR" altLang="en-US" sz="1200"/>
              <a:t>로 가져온 </a:t>
            </a:r>
            <a:r>
              <a:rPr lang="en-US" altLang="ko-KR" sz="1200"/>
              <a:t>List&lt;PostDto&gt; </a:t>
            </a:r>
            <a:r>
              <a:rPr lang="ko-KR" altLang="en-US" sz="1200"/>
              <a:t>정보로 </a:t>
            </a:r>
            <a:r>
              <a:rPr lang="en-US" altLang="ko-KR" sz="1200"/>
              <a:t>createProduct </a:t>
            </a:r>
            <a:r>
              <a:rPr lang="ko-KR" altLang="en-US" sz="1200"/>
              <a:t>생성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MarketCreateProductUseCase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createProduct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Product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ProductRepository</a:t>
            </a:r>
          </a:p>
          <a:p>
            <a:pPr marL="171450" indent="-171450">
              <a:buFontTx/>
              <a:buChar char="-"/>
            </a:pPr>
            <a:endParaRPr lang="en-US" altLang="ko-KR" sz="1100" b="1">
              <a:ea typeface="+mj-ea"/>
            </a:endParaRPr>
          </a:p>
          <a:p>
            <a:r>
              <a:rPr lang="en-US" altLang="ko-KR" sz="1100" b="1">
                <a:ea typeface="+mj-ea"/>
              </a:rPr>
              <a:t>※ </a:t>
            </a:r>
            <a:r>
              <a:rPr lang="ko-KR" altLang="en-US" sz="1100" b="1">
                <a:ea typeface="+mj-ea"/>
              </a:rPr>
              <a:t>수정 파일</a:t>
            </a:r>
            <a:endParaRPr lang="en-US" altLang="ko-KR" sz="1100" b="1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/>
              <a:t>MarketFacade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findMemberByUsername (Optional)</a:t>
            </a:r>
            <a:endParaRPr lang="en-US" altLang="ko-KR"/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MarketSupport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countProducts()</a:t>
            </a:r>
          </a:p>
          <a:p>
            <a:pPr lvl="1"/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MarketDataInit </a:t>
            </a:r>
            <a:br>
              <a:rPr lang="en-US" altLang="ko-KR" sz="1100"/>
            </a:br>
            <a:r>
              <a:rPr lang="ko-KR" altLang="en-US" sz="1100"/>
              <a:t>하기 정보 전달</a:t>
            </a: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seller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"Post"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post.getId()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post.getTitle()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post.getContent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price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saleprice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6A6D9-D737-5C88-CF8C-19CEA8D65AE7}"/>
              </a:ext>
            </a:extLst>
          </p:cNvPr>
          <p:cNvSpPr txBox="1"/>
          <p:nvPr/>
        </p:nvSpPr>
        <p:spPr>
          <a:xfrm>
            <a:off x="7173688" y="1737360"/>
            <a:ext cx="38239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Product </a:t>
            </a:r>
            <a:r>
              <a:rPr lang="ko-KR" altLang="en-US" sz="1600" b="1"/>
              <a:t>정보 </a:t>
            </a:r>
            <a:endParaRPr lang="en-US" altLang="ko-KR" sz="1600" b="1"/>
          </a:p>
          <a:p>
            <a:pPr marL="171450" indent="-171450">
              <a:buFontTx/>
              <a:buChar char="-"/>
            </a:pPr>
            <a:r>
              <a:rPr lang="en-US" altLang="ko-KR" sz="1200"/>
              <a:t>MarketMember seller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String sourceTypeCode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클래스 명 </a:t>
            </a:r>
            <a:r>
              <a:rPr lang="en-US" altLang="ko-KR" sz="1200">
                <a:sym typeface="Wingdings" panose="05000000000000000000" pitchFamily="2" charset="2"/>
              </a:rPr>
              <a:t>[</a:t>
            </a:r>
            <a:r>
              <a:rPr lang="ko-KR" altLang="en-US" sz="1200">
                <a:sym typeface="Wingdings" panose="05000000000000000000" pitchFamily="2" charset="2"/>
              </a:rPr>
              <a:t>상품 타입 </a:t>
            </a:r>
            <a:r>
              <a:rPr lang="en-US" altLang="ko-KR" sz="1200">
                <a:sym typeface="Wingdings" panose="05000000000000000000" pitchFamily="2" charset="2"/>
              </a:rPr>
              <a:t>: Post]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int sourceId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등록할 상품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글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Id (PostId)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String name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상품 명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String description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상품 설명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long price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가격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long salePrice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현재 할인 판매가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116353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4CAFD-7084-B747-F7F3-AEEFA081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글 </a:t>
            </a:r>
            <a:r>
              <a:rPr lang="en-US" altLang="ko-KR" sz="3600"/>
              <a:t>6</a:t>
            </a:r>
            <a:r>
              <a:rPr lang="ko-KR" altLang="en-US" sz="3600"/>
              <a:t>개로 부터 상품</a:t>
            </a:r>
            <a:r>
              <a:rPr lang="en-US" altLang="ko-KR" sz="3600"/>
              <a:t>6</a:t>
            </a:r>
            <a:r>
              <a:rPr lang="ko-KR" altLang="en-US" sz="3600"/>
              <a:t>개 생성 </a:t>
            </a:r>
            <a:r>
              <a:rPr lang="en-US" altLang="ko-KR" sz="3600"/>
              <a:t>- </a:t>
            </a:r>
            <a:r>
              <a:rPr lang="ko-KR" altLang="en-US" sz="3600"/>
              <a:t>핵심 기능 사진 자료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A2CF6E-45AF-8F32-9094-456AD9D78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694" y="1978089"/>
            <a:ext cx="3623506" cy="46796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DC0007-182A-80A7-DFC9-9D1881D09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00" y="1978089"/>
            <a:ext cx="4730654" cy="37817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34D0BB-63FA-F884-E66C-14E1D7775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307" y="5043577"/>
            <a:ext cx="4209826" cy="161419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59241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41BE7-0A1C-E096-67A5-E3025145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33</a:t>
            </a:r>
            <a:r>
              <a:rPr lang="ko-KR" altLang="en-US" sz="2400"/>
              <a:t>강 </a:t>
            </a:r>
            <a:r>
              <a:rPr lang="en-US" altLang="ko-KR" sz="2400"/>
              <a:t>MarketMember</a:t>
            </a:r>
            <a:r>
              <a:rPr lang="ko-KR" altLang="en-US" sz="2400"/>
              <a:t>와 </a:t>
            </a:r>
            <a:r>
              <a:rPr lang="en-US" altLang="ko-KR" sz="2400"/>
              <a:t>1:1</a:t>
            </a:r>
            <a:r>
              <a:rPr lang="ko-KR" altLang="en-US" sz="2400"/>
              <a:t>관계인 장바구니 생성</a:t>
            </a:r>
            <a:r>
              <a:rPr lang="en-US" altLang="ko-KR" sz="2400"/>
              <a:t>, </a:t>
            </a:r>
            <a:r>
              <a:rPr lang="ko-KR" altLang="en-US" sz="2400"/>
              <a:t>장바구니 품목추가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E49ED-35AE-8156-E71E-EF0AF7239CBF}"/>
              </a:ext>
            </a:extLst>
          </p:cNvPr>
          <p:cNvSpPr txBox="1"/>
          <p:nvPr/>
        </p:nvSpPr>
        <p:spPr>
          <a:xfrm>
            <a:off x="1194318" y="1810139"/>
            <a:ext cx="9961362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MarketMember</a:t>
            </a:r>
            <a:r>
              <a:rPr lang="ko-KR" altLang="en-US" sz="1200"/>
              <a:t>에 묶인  </a:t>
            </a:r>
            <a:r>
              <a:rPr lang="en-US" altLang="ko-KR" sz="1200"/>
              <a:t>Cart</a:t>
            </a:r>
            <a:r>
              <a:rPr lang="ko-KR" altLang="en-US" sz="1200"/>
              <a:t>와 </a:t>
            </a:r>
            <a:r>
              <a:rPr lang="en-US" altLang="ko-KR" sz="1200"/>
              <a:t>CartItem </a:t>
            </a:r>
            <a:r>
              <a:rPr lang="ko-KR" altLang="en-US" sz="1200"/>
              <a:t>을 생성한다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             </a:t>
            </a:r>
            <a:r>
              <a:rPr lang="ko-KR" altLang="en-US" sz="1200"/>
              <a:t>카트에 추가된 품목 </a:t>
            </a:r>
            <a:r>
              <a:rPr lang="en-US" altLang="ko-KR" sz="1200"/>
              <a:t>: User1 </a:t>
            </a:r>
            <a:r>
              <a:rPr lang="ko-KR" altLang="en-US" sz="1200"/>
              <a:t>이 상품 </a:t>
            </a:r>
            <a:r>
              <a:rPr lang="en-US" altLang="ko-KR" sz="1200"/>
              <a:t>4</a:t>
            </a:r>
            <a:r>
              <a:rPr lang="ko-KR" altLang="en-US" sz="1200"/>
              <a:t>개</a:t>
            </a:r>
            <a:r>
              <a:rPr lang="en-US" altLang="ko-KR" sz="1200"/>
              <a:t>, User2</a:t>
            </a:r>
            <a:r>
              <a:rPr lang="ko-KR" altLang="en-US" sz="1200"/>
              <a:t>가 </a:t>
            </a:r>
            <a:r>
              <a:rPr lang="en-US" altLang="ko-KR" sz="1200"/>
              <a:t>3</a:t>
            </a:r>
            <a:r>
              <a:rPr lang="ko-KR" altLang="en-US" sz="1200"/>
              <a:t>개</a:t>
            </a:r>
            <a:r>
              <a:rPr lang="en-US" altLang="ko-KR" sz="1200"/>
              <a:t>, User3</a:t>
            </a:r>
            <a:r>
              <a:rPr lang="ko-KR" altLang="en-US" sz="1200"/>
              <a:t>가 </a:t>
            </a:r>
            <a:r>
              <a:rPr lang="en-US" altLang="ko-KR" sz="1200"/>
              <a:t>2</a:t>
            </a:r>
            <a:r>
              <a:rPr lang="ko-KR" altLang="en-US" sz="1200"/>
              <a:t>개 </a:t>
            </a:r>
            <a:endParaRPr lang="en-US" altLang="ko-KR" sz="1200"/>
          </a:p>
          <a:p>
            <a:r>
              <a:rPr lang="en-US" altLang="ko-KR" sz="1200"/>
              <a:t>	(MarketMember</a:t>
            </a:r>
            <a:r>
              <a:rPr lang="ko-KR" altLang="en-US" sz="1200"/>
              <a:t> 가 생성되는 이벤트 </a:t>
            </a:r>
            <a:r>
              <a:rPr lang="en-US" altLang="ko-KR" sz="1200"/>
              <a:t>-&gt; Cart</a:t>
            </a:r>
            <a:r>
              <a:rPr lang="ko-KR" altLang="en-US" sz="1200"/>
              <a:t> 생성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en-US" altLang="ko-KR" sz="1200"/>
              <a:t>	(CartItem</a:t>
            </a:r>
            <a:r>
              <a:rPr lang="ko-KR" altLang="en-US" sz="1200"/>
              <a:t>은 </a:t>
            </a:r>
            <a:r>
              <a:rPr lang="en-US" altLang="ko-KR" sz="1200"/>
              <a:t>Cart</a:t>
            </a:r>
            <a:r>
              <a:rPr lang="ko-KR" altLang="en-US" sz="1200"/>
              <a:t>에서 </a:t>
            </a:r>
            <a:r>
              <a:rPr lang="en-US" altLang="ko-KR" sz="1200"/>
              <a:t>addItems</a:t>
            </a:r>
            <a:r>
              <a:rPr lang="ko-KR" altLang="en-US" sz="1200"/>
              <a:t>에 의해 추가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ko-KR" altLang="en-US" sz="1200" b="1"/>
              <a:t>★</a:t>
            </a:r>
            <a:r>
              <a:rPr lang="en-US" altLang="ko-KR" sz="1200" b="1"/>
              <a:t> </a:t>
            </a:r>
            <a:r>
              <a:rPr lang="ko-KR" altLang="en-US" sz="1200" b="1"/>
              <a:t>편의를 위해 </a:t>
            </a:r>
            <a:r>
              <a:rPr lang="en-US" altLang="ko-KR" sz="1200" b="1"/>
              <a:t>Repository</a:t>
            </a:r>
            <a:r>
              <a:rPr lang="ko-KR" altLang="en-US" sz="1200" b="1"/>
              <a:t>를 작성시에는 </a:t>
            </a:r>
            <a:r>
              <a:rPr lang="en-US" altLang="ko-KR" sz="1200" b="1"/>
              <a:t>findBy...name()</a:t>
            </a:r>
            <a:r>
              <a:rPr lang="ko-KR" altLang="en-US" sz="1200" b="1"/>
              <a:t>은 필수로 작성하도록 하자</a:t>
            </a:r>
            <a:endParaRPr lang="en-US" altLang="ko-KR" sz="1200" b="1"/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Cart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CartItem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CartRepository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findByBuyer()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MarketCreateCartUseCase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createCart() (RsData&lt;Cart&gt;)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MarketMemberDto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MarketMemberCreatedEvent</a:t>
            </a:r>
          </a:p>
          <a:p>
            <a:endParaRPr lang="en-US" altLang="ko-KR" sz="1100">
              <a:ea typeface="+mj-ea"/>
            </a:endParaRPr>
          </a:p>
          <a:p>
            <a:r>
              <a:rPr lang="en-US" altLang="ko-KR" sz="1100" b="1">
                <a:ea typeface="+mj-ea"/>
              </a:rPr>
              <a:t>※ </a:t>
            </a:r>
            <a:r>
              <a:rPr lang="ko-KR" altLang="en-US" sz="1100" b="1">
                <a:ea typeface="+mj-ea"/>
              </a:rPr>
              <a:t>수정 파일</a:t>
            </a:r>
            <a:endParaRPr lang="en-US" altLang="ko-KR" sz="1100" b="1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createCart()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findProductById()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findMemberByUsername()</a:t>
            </a: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MarketSupport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MarketSyncMemberUseCase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MarketDataInit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makeBaseCartItems()</a:t>
            </a: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MarketEventListener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MarketMemberRepository</a:t>
            </a:r>
          </a:p>
          <a:p>
            <a:pPr marL="628650" lvl="1" indent="-171450">
              <a:buFontTx/>
              <a:buChar char="-"/>
            </a:pPr>
            <a:r>
              <a:rPr lang="en-US" altLang="ko-KR" sz="1200"/>
              <a:t>existsById(id)</a:t>
            </a:r>
            <a:endParaRPr lang="ko-KR" alt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EA594-0EF8-26B0-F104-AE0293252949}"/>
              </a:ext>
            </a:extLst>
          </p:cNvPr>
          <p:cNvSpPr txBox="1"/>
          <p:nvPr/>
        </p:nvSpPr>
        <p:spPr>
          <a:xfrm>
            <a:off x="7173688" y="1737360"/>
            <a:ext cx="38239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Cart </a:t>
            </a:r>
            <a:r>
              <a:rPr lang="ko-KR" altLang="en-US" sz="1600" b="1"/>
              <a:t>정보 </a:t>
            </a:r>
            <a:r>
              <a:rPr lang="en-US" altLang="ko-KR" sz="1600" b="1"/>
              <a:t>(BaseManualIdAndTime)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MarketMember buyer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List&lt;CartItem&gt; items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int itemsCount</a:t>
            </a:r>
          </a:p>
          <a:p>
            <a:endParaRPr lang="en-US" altLang="ko-KR" sz="1200"/>
          </a:p>
          <a:p>
            <a:r>
              <a:rPr lang="ko-KR" altLang="en-US" sz="1200"/>
              <a:t>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addItem (void)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hasItems (Boolean)</a:t>
            </a:r>
          </a:p>
          <a:p>
            <a:endParaRPr lang="en-US" altLang="ko-KR" sz="1200"/>
          </a:p>
          <a:p>
            <a:r>
              <a:rPr lang="ko-KR" altLang="en-US" sz="1600" b="1"/>
              <a:t>★ </a:t>
            </a:r>
            <a:r>
              <a:rPr lang="en-US" altLang="ko-KR" sz="1600" b="1"/>
              <a:t>CartItem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Cart cart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587277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D641-2FDF-7606-B4BE-D3E58494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1:1</a:t>
            </a:r>
            <a:r>
              <a:rPr lang="ko-KR" altLang="en-US" sz="2800"/>
              <a:t>관계인 장바구니 생성</a:t>
            </a:r>
            <a:r>
              <a:rPr lang="en-US" altLang="ko-KR" sz="2800"/>
              <a:t>, </a:t>
            </a:r>
            <a:r>
              <a:rPr lang="ko-KR" altLang="en-US" sz="2800"/>
              <a:t>장바구니 품목추가 </a:t>
            </a:r>
            <a:r>
              <a:rPr lang="en-US" altLang="ko-KR" sz="2800"/>
              <a:t>- </a:t>
            </a:r>
            <a:r>
              <a:rPr lang="ko-KR" altLang="en-US" sz="2800"/>
              <a:t>핵심 기능 사진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A0BDDC4-1775-9128-5A91-805C396783AD}"/>
              </a:ext>
            </a:extLst>
          </p:cNvPr>
          <p:cNvGrpSpPr/>
          <p:nvPr/>
        </p:nvGrpSpPr>
        <p:grpSpPr>
          <a:xfrm>
            <a:off x="378823" y="1863242"/>
            <a:ext cx="5136716" cy="2994744"/>
            <a:chOff x="378823" y="1863242"/>
            <a:chExt cx="5136716" cy="299474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1DB4864-5058-13DD-1144-22AB5512A732}"/>
                </a:ext>
              </a:extLst>
            </p:cNvPr>
            <p:cNvGrpSpPr/>
            <p:nvPr/>
          </p:nvGrpSpPr>
          <p:grpSpPr>
            <a:xfrm>
              <a:off x="378823" y="1863242"/>
              <a:ext cx="5136716" cy="2994744"/>
              <a:chOff x="1097280" y="1835250"/>
              <a:chExt cx="5136716" cy="2994744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2B5103F3-0001-7ADF-07FA-38CBF33F26E7}"/>
                  </a:ext>
                </a:extLst>
              </p:cNvPr>
              <p:cNvGrpSpPr/>
              <p:nvPr/>
            </p:nvGrpSpPr>
            <p:grpSpPr>
              <a:xfrm>
                <a:off x="1097280" y="1835250"/>
                <a:ext cx="4229690" cy="1590897"/>
                <a:chOff x="1097280" y="1844581"/>
                <a:chExt cx="4229690" cy="1590897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21E8531F-BE4B-A440-F8FC-15CBA183B0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97280" y="1844581"/>
                  <a:ext cx="1390844" cy="295316"/>
                </a:xfrm>
                <a:prstGeom prst="rect">
                  <a:avLst/>
                </a:prstGeom>
              </p:spPr>
            </p:pic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35ED548B-98A8-5F5C-6CF4-A5443EEB31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7280" y="2139897"/>
                  <a:ext cx="4229690" cy="1295581"/>
                </a:xfrm>
                <a:prstGeom prst="rect">
                  <a:avLst/>
                </a:prstGeom>
              </p:spPr>
            </p:pic>
          </p:grp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E520CB2E-515F-F3E1-F343-84EC6B8E9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280" y="3721463"/>
                <a:ext cx="5136716" cy="1108531"/>
              </a:xfrm>
              <a:prstGeom prst="rect">
                <a:avLst/>
              </a:prstGeom>
            </p:spPr>
          </p:pic>
        </p:grp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75EC044-DC6D-987A-301D-394CBCC2B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823" y="3496714"/>
              <a:ext cx="1686160" cy="266737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400E141-A050-7B99-90A1-BC8BEA92CC53}"/>
              </a:ext>
            </a:extLst>
          </p:cNvPr>
          <p:cNvSpPr txBox="1"/>
          <p:nvPr/>
        </p:nvSpPr>
        <p:spPr>
          <a:xfrm>
            <a:off x="378823" y="4857986"/>
            <a:ext cx="5136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Cart </a:t>
            </a:r>
            <a:r>
              <a:rPr lang="ko-KR" altLang="en-US" sz="1400"/>
              <a:t>처럼 다른 테이블의 외래키 </a:t>
            </a:r>
            <a:r>
              <a:rPr lang="en-US" altLang="ko-KR" sz="1400"/>
              <a:t>Id</a:t>
            </a:r>
            <a:r>
              <a:rPr lang="ko-KR" altLang="en-US" sz="1400"/>
              <a:t>를 참조하여 덮어쓰는 경우</a:t>
            </a:r>
            <a:br>
              <a:rPr lang="en-US" altLang="ko-KR" sz="1400"/>
            </a:br>
            <a:r>
              <a:rPr lang="en-US" altLang="ko-KR" sz="1400"/>
              <a:t>getReferenceId</a:t>
            </a:r>
            <a:r>
              <a:rPr lang="ko-KR" altLang="en-US" sz="1400"/>
              <a:t>를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487DEE5-83CE-002A-376E-CD0B38364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348" y="2014040"/>
            <a:ext cx="3481734" cy="394203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5EADE19-CDC3-CD28-E49F-CDA49182D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891" y="2010900"/>
            <a:ext cx="2974464" cy="18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56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F03A8-1F03-1458-006E-44E9447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1:1</a:t>
            </a:r>
            <a:r>
              <a:rPr lang="ko-KR" altLang="en-US" sz="2800"/>
              <a:t>관계인 장바구니 생성</a:t>
            </a:r>
            <a:r>
              <a:rPr lang="en-US" altLang="ko-KR" sz="2800"/>
              <a:t>, </a:t>
            </a:r>
            <a:r>
              <a:rPr lang="ko-KR" altLang="en-US" sz="2800"/>
              <a:t>장바구니 품목추가 </a:t>
            </a:r>
            <a:r>
              <a:rPr lang="en-US" altLang="ko-KR" sz="2800"/>
              <a:t>- </a:t>
            </a:r>
            <a:r>
              <a:rPr lang="ko-KR" altLang="en-US" sz="2800"/>
              <a:t>핵심 기능 사진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AA6552F-06D6-E8A9-9132-2FB23F3D1306}"/>
              </a:ext>
            </a:extLst>
          </p:cNvPr>
          <p:cNvGrpSpPr/>
          <p:nvPr/>
        </p:nvGrpSpPr>
        <p:grpSpPr>
          <a:xfrm>
            <a:off x="1222085" y="1752153"/>
            <a:ext cx="4696008" cy="5105847"/>
            <a:chOff x="1222085" y="1752153"/>
            <a:chExt cx="4696008" cy="5105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E4410D0-960A-3BCD-866C-0DAE2748F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2085" y="2006082"/>
              <a:ext cx="4696008" cy="485191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63F67F4-60E2-3655-3E46-FB28BC9DC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148"/>
            <a:stretch>
              <a:fillRect/>
            </a:stretch>
          </p:blipFill>
          <p:spPr>
            <a:xfrm>
              <a:off x="1222085" y="1752153"/>
              <a:ext cx="1038370" cy="253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757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12C72-1D22-D8FD-8515-EC94F1D6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34</a:t>
            </a:r>
            <a:r>
              <a:rPr lang="ko-KR" altLang="en-US"/>
              <a:t>강 주문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D8C24-041A-193C-1F7A-7E31CEB93295}"/>
              </a:ext>
            </a:extLst>
          </p:cNvPr>
          <p:cNvSpPr txBox="1"/>
          <p:nvPr/>
        </p:nvSpPr>
        <p:spPr>
          <a:xfrm>
            <a:off x="1194318" y="1810139"/>
            <a:ext cx="9961362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Cart </a:t>
            </a:r>
            <a:r>
              <a:rPr lang="ko-KR" altLang="en-US" sz="1200"/>
              <a:t>내용으로 </a:t>
            </a:r>
            <a:r>
              <a:rPr lang="en-US" altLang="ko-KR" sz="1200"/>
              <a:t>Order</a:t>
            </a:r>
            <a:r>
              <a:rPr lang="ko-KR" altLang="en-US" sz="1200"/>
              <a:t>를 만들고 장바구니를 비운다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Order</a:t>
            </a:r>
            <a:r>
              <a:rPr lang="ko-KR" altLang="en-US" sz="1200"/>
              <a:t>내 </a:t>
            </a:r>
            <a:r>
              <a:rPr lang="en-US" altLang="ko-KR" sz="1200"/>
              <a:t>OrderItem</a:t>
            </a:r>
            <a:r>
              <a:rPr lang="ko-KR" altLang="en-US" sz="1200"/>
              <a:t>은 상품을 참조하면서도 상품의 정가와 판매가를 따로 복사해 저장한다</a:t>
            </a:r>
            <a:r>
              <a:rPr lang="en-US" altLang="ko-KR" sz="1200"/>
              <a:t>.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판매당시의 주문 가격 유지를 위해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	(Cart</a:t>
            </a:r>
            <a:r>
              <a:rPr lang="ko-KR" altLang="en-US" sz="1200">
                <a:sym typeface="Wingdings" panose="05000000000000000000" pitchFamily="2" charset="2"/>
              </a:rPr>
              <a:t>를 찾고 </a:t>
            </a:r>
            <a:r>
              <a:rPr lang="en-US" altLang="ko-KR" sz="1200">
                <a:sym typeface="Wingdings" panose="05000000000000000000" pitchFamily="2" charset="2"/>
              </a:rPr>
              <a:t>createOrder</a:t>
            </a:r>
            <a:r>
              <a:rPr lang="ko-KR" altLang="en-US" sz="1200">
                <a:sym typeface="Wingdings" panose="05000000000000000000" pitchFamily="2" charset="2"/>
              </a:rPr>
              <a:t>를 통해 </a:t>
            </a:r>
            <a:r>
              <a:rPr lang="en-US" altLang="ko-KR" sz="1200">
                <a:sym typeface="Wingdings" panose="05000000000000000000" pitchFamily="2" charset="2"/>
              </a:rPr>
              <a:t>Order</a:t>
            </a:r>
            <a:r>
              <a:rPr lang="ko-KR" altLang="en-US" sz="1200">
                <a:sym typeface="Wingdings" panose="05000000000000000000" pitchFamily="2" charset="2"/>
              </a:rPr>
              <a:t> 생성 및 </a:t>
            </a:r>
            <a:r>
              <a:rPr lang="en-US" altLang="ko-KR" sz="1200">
                <a:sym typeface="Wingdings" panose="05000000000000000000" pitchFamily="2" charset="2"/>
              </a:rPr>
              <a:t>Order</a:t>
            </a:r>
            <a:r>
              <a:rPr lang="ko-KR" altLang="en-US" sz="1200">
                <a:sym typeface="Wingdings" panose="05000000000000000000" pitchFamily="2" charset="2"/>
              </a:rPr>
              <a:t>에 </a:t>
            </a:r>
            <a:r>
              <a:rPr lang="en-US" altLang="ko-KR" sz="1200">
                <a:sym typeface="Wingdings" panose="05000000000000000000" pitchFamily="2" charset="2"/>
              </a:rPr>
              <a:t>OrderItem </a:t>
            </a:r>
            <a:r>
              <a:rPr lang="ko-KR" altLang="en-US" sz="1200">
                <a:sym typeface="Wingdings" panose="05000000000000000000" pitchFamily="2" charset="2"/>
              </a:rPr>
              <a:t>추가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	(OrderItem</a:t>
            </a:r>
            <a:r>
              <a:rPr lang="ko-KR" altLang="en-US" sz="1200">
                <a:sym typeface="Wingdings" panose="05000000000000000000" pitchFamily="2" charset="2"/>
              </a:rPr>
              <a:t>은 </a:t>
            </a:r>
            <a:r>
              <a:rPr lang="en-US" altLang="ko-KR" sz="1200">
                <a:sym typeface="Wingdings" panose="05000000000000000000" pitchFamily="2" charset="2"/>
              </a:rPr>
              <a:t>CartItem</a:t>
            </a:r>
            <a:r>
              <a:rPr lang="ko-KR" altLang="en-US" sz="1200">
                <a:sym typeface="Wingdings" panose="05000000000000000000" pitchFamily="2" charset="2"/>
              </a:rPr>
              <a:t>으로 부터 </a:t>
            </a:r>
            <a:r>
              <a:rPr lang="en-US" altLang="ko-KR" sz="1200">
                <a:sym typeface="Wingdings" panose="05000000000000000000" pitchFamily="2" charset="2"/>
              </a:rPr>
              <a:t>product</a:t>
            </a:r>
            <a:r>
              <a:rPr lang="ko-KR" altLang="en-US" sz="1200">
                <a:sym typeface="Wingdings" panose="05000000000000000000" pitchFamily="2" charset="2"/>
              </a:rPr>
              <a:t>의 정가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할인가 복사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	(Order</a:t>
            </a:r>
            <a:r>
              <a:rPr lang="ko-KR" altLang="en-US" sz="1200">
                <a:sym typeface="Wingdings" panose="05000000000000000000" pitchFamily="2" charset="2"/>
              </a:rPr>
              <a:t>셋팅이 끝난 후에는 </a:t>
            </a:r>
            <a:r>
              <a:rPr lang="en-US" altLang="ko-KR" sz="1200">
                <a:sym typeface="Wingdings" panose="05000000000000000000" pitchFamily="2" charset="2"/>
              </a:rPr>
              <a:t>Cart</a:t>
            </a:r>
            <a:r>
              <a:rPr lang="ko-KR" altLang="en-US" sz="1200">
                <a:sym typeface="Wingdings" panose="05000000000000000000" pitchFamily="2" charset="2"/>
              </a:rPr>
              <a:t>를 비움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 b="1"/>
              <a:t>★</a:t>
            </a:r>
            <a:r>
              <a:rPr lang="en-US" altLang="ko-KR" sz="1200" b="1"/>
              <a:t> </a:t>
            </a:r>
            <a:r>
              <a:rPr lang="ko-KR" altLang="en-US" sz="1200" b="1"/>
              <a:t>편의를 위해 </a:t>
            </a:r>
            <a:r>
              <a:rPr lang="en-US" altLang="ko-KR" sz="1200" b="1"/>
              <a:t>Repository</a:t>
            </a:r>
            <a:r>
              <a:rPr lang="ko-KR" altLang="en-US" sz="1200" b="1"/>
              <a:t>를 작성시에는 </a:t>
            </a:r>
            <a:r>
              <a:rPr lang="en-US" altLang="ko-KR" sz="1200" b="1"/>
              <a:t>findBy...name()</a:t>
            </a:r>
            <a:r>
              <a:rPr lang="ko-KR" altLang="en-US" sz="1200" b="1"/>
              <a:t>은 필수로 작성하도록 하자</a:t>
            </a:r>
            <a:endParaRPr lang="en-US" altLang="ko-KR" sz="1200" b="1"/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MarketCreateOrderUseCase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PRODUCT_PAYOUT_RATE = 90;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Order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OrderItem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OrderRepository</a:t>
            </a:r>
          </a:p>
          <a:p>
            <a:pPr marL="171450" indent="-171450">
              <a:buFontTx/>
              <a:buChar char="-"/>
            </a:pPr>
            <a:endParaRPr lang="en-US" altLang="ko-KR" sz="1100">
              <a:ea typeface="+mj-ea"/>
            </a:endParaRPr>
          </a:p>
          <a:p>
            <a:r>
              <a:rPr lang="en-US" altLang="ko-KR" sz="1100" b="1">
                <a:ea typeface="+mj-ea"/>
              </a:rPr>
              <a:t>※ </a:t>
            </a:r>
            <a:r>
              <a:rPr lang="ko-KR" altLang="en-US" sz="1100" b="1">
                <a:ea typeface="+mj-ea"/>
              </a:rPr>
              <a:t>수정 파일</a:t>
            </a:r>
            <a:endParaRPr lang="en-US" altLang="ko-KR" sz="1100" b="1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ordersCount()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createOrder(Cart cart)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MarketSupport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countOrders()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Cart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clearItems(void)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MarketDataInit</a:t>
            </a:r>
          </a:p>
          <a:p>
            <a:r>
              <a:rPr lang="en-US" altLang="ko-KR" sz="1100" b="1">
                <a:ea typeface="+mj-ea"/>
              </a:rPr>
              <a:t>	- </a:t>
            </a:r>
            <a:r>
              <a:rPr lang="en-US" altLang="ko-KR" sz="1100">
                <a:ea typeface="+mj-ea"/>
              </a:rPr>
              <a:t>makeBaseOrder(cart)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088E1-1DDB-9C50-50A5-7F1A5FF531DE}"/>
              </a:ext>
            </a:extLst>
          </p:cNvPr>
          <p:cNvSpPr txBox="1"/>
          <p:nvPr/>
        </p:nvSpPr>
        <p:spPr>
          <a:xfrm>
            <a:off x="7640219" y="2521131"/>
            <a:ext cx="382399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Order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MarketMember buyer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price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salePrice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List&lt;OrderItems&gt; items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200"/>
              <a:t>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addItem (void)</a:t>
            </a:r>
          </a:p>
          <a:p>
            <a:endParaRPr lang="en-US" altLang="ko-KR" sz="1200"/>
          </a:p>
          <a:p>
            <a:r>
              <a:rPr lang="ko-KR" altLang="en-US" sz="1600" b="1"/>
              <a:t>★ </a:t>
            </a:r>
            <a:r>
              <a:rPr lang="en-US" altLang="ko-KR" sz="1600" b="1"/>
              <a:t>OrderItem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Order order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Product product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price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salePrice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double payoutRate </a:t>
            </a:r>
            <a:r>
              <a:rPr lang="en-US" altLang="ko-KR" sz="1200">
                <a:sym typeface="Wingdings" panose="05000000000000000000" pitchFamily="2" charset="2"/>
              </a:rPr>
              <a:t> MarketPolicy.</a:t>
            </a:r>
            <a:r>
              <a:rPr lang="en-US" altLang="ko-KR" sz="1200"/>
              <a:t> PRODUCT_PAYOUT_RATE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6F76A-F936-19D0-89F4-869F713C033B}"/>
              </a:ext>
            </a:extLst>
          </p:cNvPr>
          <p:cNvSpPr txBox="1"/>
          <p:nvPr/>
        </p:nvSpPr>
        <p:spPr>
          <a:xfrm>
            <a:off x="4943669" y="3721459"/>
            <a:ext cx="23046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</a:t>
            </a:r>
            <a:r>
              <a:rPr lang="ko-KR" altLang="en-US" sz="1400"/>
              <a:t>번 주문 </a:t>
            </a:r>
            <a:r>
              <a:rPr lang="en-US" altLang="ko-KR" sz="1400"/>
              <a:t>user1 : 70,000</a:t>
            </a:r>
            <a:br>
              <a:rPr lang="en-US" altLang="ko-KR" sz="1400"/>
            </a:br>
            <a:endParaRPr lang="en-US" altLang="ko-KR" sz="1400"/>
          </a:p>
          <a:p>
            <a:r>
              <a:rPr lang="en-US" altLang="ko-KR" sz="1400"/>
              <a:t>2</a:t>
            </a:r>
            <a:r>
              <a:rPr lang="ko-KR" altLang="en-US" sz="1400"/>
              <a:t>번 주문 </a:t>
            </a:r>
            <a:r>
              <a:rPr lang="en-US" altLang="ko-KR" sz="1400"/>
              <a:t>user2 : 45,000</a:t>
            </a:r>
          </a:p>
          <a:p>
            <a:r>
              <a:rPr lang="en-US" altLang="ko-KR" sz="1400"/>
              <a:t>- </a:t>
            </a:r>
          </a:p>
          <a:p>
            <a:r>
              <a:rPr lang="en-US" altLang="ko-KR" sz="1400"/>
              <a:t>3</a:t>
            </a:r>
            <a:r>
              <a:rPr lang="ko-KR" altLang="en-US" sz="1400"/>
              <a:t>번 주문 </a:t>
            </a:r>
            <a:r>
              <a:rPr lang="en-US" altLang="ko-KR" sz="1400"/>
              <a:t>user3 : 25,000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40258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C8727-3F75-3AD8-8CBA-7D4ED528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34</a:t>
            </a:r>
            <a:r>
              <a:rPr lang="ko-KR" altLang="en-US" sz="3200"/>
              <a:t>강 </a:t>
            </a:r>
            <a:r>
              <a:rPr lang="en-US" altLang="ko-KR" sz="3200"/>
              <a:t>Cart</a:t>
            </a:r>
            <a:r>
              <a:rPr lang="ko-KR" altLang="en-US" sz="3200"/>
              <a:t>로 주문 및 주문 아이템 생성 주요 코드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B5C1FA-7C74-C865-69E6-D9E0494AD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64" y="1741610"/>
            <a:ext cx="3159235" cy="51163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7B7E3D-DC2B-CD8F-E025-20F7FF88A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964" y="1737360"/>
            <a:ext cx="4249891" cy="51206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4F148C-BC17-DFA1-D253-EF6537B7A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008" y="1737361"/>
            <a:ext cx="5361992" cy="175640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86200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ADDDF-3B6B-3A9E-1472-DA7B7C18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34</a:t>
            </a:r>
            <a:r>
              <a:rPr lang="ko-KR" altLang="en-US" sz="3200"/>
              <a:t>강 </a:t>
            </a:r>
            <a:r>
              <a:rPr lang="en-US" altLang="ko-KR" sz="3200"/>
              <a:t>Cart</a:t>
            </a:r>
            <a:r>
              <a:rPr lang="ko-KR" altLang="en-US" sz="3200"/>
              <a:t>로 주문 및 주문 아이템 생성 주요 코드</a:t>
            </a:r>
            <a:r>
              <a:rPr lang="en-US" altLang="ko-KR" sz="3200"/>
              <a:t>(2)</a:t>
            </a:r>
            <a:endParaRPr lang="ko-KR" altLang="en-US" sz="3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CC03B1-14EC-4FBA-1658-143BCB1F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914"/>
          <a:stretch>
            <a:fillRect/>
          </a:stretch>
        </p:blipFill>
        <p:spPr>
          <a:xfrm>
            <a:off x="504349" y="1737360"/>
            <a:ext cx="4459765" cy="37023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8BE7F9-08CA-9F0A-994D-7E8C1BC16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547" y="1737360"/>
            <a:ext cx="4810796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39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64E67-3D7A-5B00-0989-D6ED8BA1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주문 결제 분석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684CC91-0530-511A-814B-71F3B8DEB7C8}"/>
              </a:ext>
            </a:extLst>
          </p:cNvPr>
          <p:cNvGrpSpPr/>
          <p:nvPr/>
        </p:nvGrpSpPr>
        <p:grpSpPr>
          <a:xfrm>
            <a:off x="1206393" y="1875195"/>
            <a:ext cx="2174583" cy="768963"/>
            <a:chOff x="1206393" y="1875195"/>
            <a:chExt cx="2174583" cy="76896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B7F514-DB66-BC22-A638-8A41CFFCA0B9}"/>
                </a:ext>
              </a:extLst>
            </p:cNvPr>
            <p:cNvSpPr/>
            <p:nvPr/>
          </p:nvSpPr>
          <p:spPr>
            <a:xfrm>
              <a:off x="1206393" y="1875195"/>
              <a:ext cx="2174582" cy="3534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/>
                <a:t>1.MarketFacade.requestPayment</a:t>
              </a:r>
              <a:endParaRPr lang="ko-KR" altLang="en-US" sz="11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BBD1D9-F053-AB69-679F-979091A970C7}"/>
                </a:ext>
              </a:extLst>
            </p:cNvPr>
            <p:cNvSpPr txBox="1"/>
            <p:nvPr/>
          </p:nvSpPr>
          <p:spPr>
            <a:xfrm>
              <a:off x="1206394" y="2228660"/>
              <a:ext cx="217458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/>
                <a:t>주문 결제 요청 시작 </a:t>
              </a:r>
              <a:br>
                <a:rPr lang="en-US" altLang="ko-KR" sz="1050"/>
              </a:br>
              <a:r>
                <a:rPr lang="en-US" altLang="ko-KR" sz="1050"/>
                <a:t>(Order, pgPaymentAmount)</a:t>
              </a:r>
              <a:r>
                <a:rPr lang="ko-KR" altLang="en-US" sz="1050"/>
                <a:t>전달</a:t>
              </a:r>
            </a:p>
          </p:txBody>
        </p: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1D4E2A-99F1-AA63-6EE9-CF016B1B3E0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380975" y="2051927"/>
            <a:ext cx="5404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A6B38-ECCB-DF70-7B97-B5C69B46A204}"/>
              </a:ext>
            </a:extLst>
          </p:cNvPr>
          <p:cNvSpPr/>
          <p:nvPr/>
        </p:nvSpPr>
        <p:spPr>
          <a:xfrm>
            <a:off x="3921418" y="1763386"/>
            <a:ext cx="2796988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2. order.requestPayment(pgPaymentAmount)</a:t>
            </a:r>
            <a:endParaRPr lang="ko-KR" alt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D3756-1151-7AFE-95AC-1FAEB3BA9D7D}"/>
              </a:ext>
            </a:extLst>
          </p:cNvPr>
          <p:cNvSpPr txBox="1"/>
          <p:nvPr/>
        </p:nvSpPr>
        <p:spPr>
          <a:xfrm>
            <a:off x="5724605" y="161365"/>
            <a:ext cx="640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용어 정리 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pgPaymentAmount </a:t>
            </a:r>
            <a:r>
              <a:rPr lang="en-US" altLang="ko-KR" sz="1200">
                <a:sym typeface="Wingdings" panose="05000000000000000000" pitchFamily="2" charset="2"/>
              </a:rPr>
              <a:t> Wallet</a:t>
            </a:r>
            <a:r>
              <a:rPr lang="ko-KR" altLang="en-US" sz="1200">
                <a:sym typeface="Wingdings" panose="05000000000000000000" pitchFamily="2" charset="2"/>
              </a:rPr>
              <a:t>내 </a:t>
            </a:r>
            <a:r>
              <a:rPr lang="en-US" altLang="ko-KR" sz="1200">
                <a:sym typeface="Wingdings" panose="05000000000000000000" pitchFamily="2" charset="2"/>
              </a:rPr>
              <a:t>balance(</a:t>
            </a:r>
            <a:r>
              <a:rPr lang="ko-KR" altLang="en-US" sz="1200">
                <a:sym typeface="Wingdings" panose="05000000000000000000" pitchFamily="2" charset="2"/>
              </a:rPr>
              <a:t>잔액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충전 금액 </a:t>
            </a:r>
            <a:r>
              <a:rPr lang="en-US" altLang="ko-KR" sz="1200">
                <a:sym typeface="Wingdings" panose="05000000000000000000" pitchFamily="2" charset="2"/>
              </a:rPr>
              <a:t>[1. </a:t>
            </a:r>
            <a:r>
              <a:rPr lang="ko-KR" altLang="en-US" sz="1200">
                <a:sym typeface="Wingdings" panose="05000000000000000000" pitchFamily="2" charset="2"/>
              </a:rPr>
              <a:t>주문과 동시에 잔액 충전금 전달</a:t>
            </a:r>
            <a:r>
              <a:rPr lang="en-US" altLang="ko-KR" sz="1200">
                <a:sym typeface="Wingdings" panose="05000000000000000000" pitchFamily="2" charset="2"/>
              </a:rPr>
              <a:t>]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endParaRPr lang="ko-KR" alt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D3445-BA3C-8C43-E233-017375D6B8B4}"/>
              </a:ext>
            </a:extLst>
          </p:cNvPr>
          <p:cNvSpPr txBox="1"/>
          <p:nvPr/>
        </p:nvSpPr>
        <p:spPr>
          <a:xfrm>
            <a:off x="3921418" y="2366493"/>
            <a:ext cx="27969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order. requestPayment </a:t>
            </a:r>
            <a:r>
              <a:rPr lang="ko-KR" altLang="en-US" sz="1050"/>
              <a:t>에선</a:t>
            </a:r>
            <a:endParaRPr lang="en-US" altLang="ko-KR" sz="1050"/>
          </a:p>
          <a:p>
            <a:r>
              <a:rPr lang="ko-KR" altLang="en-US" sz="1050"/>
              <a:t>자신과 </a:t>
            </a:r>
            <a:r>
              <a:rPr lang="en-US" altLang="ko-KR" sz="1050"/>
              <a:t>pgPaymentAmount</a:t>
            </a:r>
            <a:r>
              <a:rPr lang="ko-KR" altLang="en-US" sz="1050"/>
              <a:t>를 조합하여</a:t>
            </a:r>
            <a:br>
              <a:rPr lang="en-US" altLang="ko-KR" sz="1050"/>
            </a:br>
            <a:r>
              <a:rPr lang="en-US" altLang="ko-KR" sz="1050"/>
              <a:t>MarketOrderPaymentRequestedEvent </a:t>
            </a:r>
            <a:br>
              <a:rPr lang="en-US" altLang="ko-KR" sz="1050"/>
            </a:br>
            <a:r>
              <a:rPr lang="en-US" altLang="ko-KR" sz="1050"/>
              <a:t>(</a:t>
            </a:r>
            <a:r>
              <a:rPr lang="ko-KR" altLang="en-US" sz="1050"/>
              <a:t>마켓주문 결제요청 이벤트</a:t>
            </a:r>
            <a:r>
              <a:rPr lang="en-US" altLang="ko-KR" sz="1050"/>
              <a:t>) </a:t>
            </a:r>
            <a:r>
              <a:rPr lang="ko-KR" altLang="en-US" sz="1050"/>
              <a:t>발행 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369330C-9C8F-2E7E-2317-D2ABE11BEE1F}"/>
              </a:ext>
            </a:extLst>
          </p:cNvPr>
          <p:cNvCxnSpPr>
            <a:stCxn id="9" idx="3"/>
          </p:cNvCxnSpPr>
          <p:nvPr/>
        </p:nvCxnSpPr>
        <p:spPr>
          <a:xfrm>
            <a:off x="6718406" y="2051927"/>
            <a:ext cx="5967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80BD18-98BF-9606-F511-98BD982113AA}"/>
              </a:ext>
            </a:extLst>
          </p:cNvPr>
          <p:cNvSpPr/>
          <p:nvPr/>
        </p:nvSpPr>
        <p:spPr>
          <a:xfrm>
            <a:off x="7315200" y="1763385"/>
            <a:ext cx="4026434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3. cashListener.handle(MarketOrderPaymentRequestedEvent event)</a:t>
            </a:r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D0B9E-DF41-8AA2-DCD0-E6D5B1525941}"/>
              </a:ext>
            </a:extLst>
          </p:cNvPr>
          <p:cNvSpPr txBox="1"/>
          <p:nvPr/>
        </p:nvSpPr>
        <p:spPr>
          <a:xfrm>
            <a:off x="7315200" y="2366493"/>
            <a:ext cx="4026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마켓 주문 결제 요청 이벤트를 </a:t>
            </a:r>
            <a:r>
              <a:rPr lang="en-US" altLang="ko-KR" sz="1000"/>
              <a:t>CashListener</a:t>
            </a:r>
            <a:r>
              <a:rPr lang="ko-KR" altLang="en-US" sz="1000"/>
              <a:t>에서 받음</a:t>
            </a:r>
            <a:r>
              <a:rPr lang="en-US" altLang="ko-KR" sz="1000"/>
              <a:t>.</a:t>
            </a:r>
            <a:br>
              <a:rPr lang="en-US" altLang="ko-KR" sz="1000"/>
            </a:br>
            <a:r>
              <a:rPr lang="en-US" altLang="ko-KR" sz="1000"/>
              <a:t>cashFacade.handle(event) </a:t>
            </a:r>
            <a:r>
              <a:rPr lang="en-US" altLang="ko-KR" sz="1000">
                <a:sym typeface="Wingdings" panose="05000000000000000000" pitchFamily="2" charset="2"/>
              </a:rPr>
              <a:t>[</a:t>
            </a:r>
            <a:r>
              <a:rPr lang="ko-KR" altLang="en-US" sz="1000">
                <a:sym typeface="Wingdings" panose="05000000000000000000" pitchFamily="2" charset="2"/>
              </a:rPr>
              <a:t>이벤트를 </a:t>
            </a:r>
            <a:r>
              <a:rPr lang="en-US" altLang="ko-KR" sz="1000">
                <a:sym typeface="Wingdings" panose="05000000000000000000" pitchFamily="2" charset="2"/>
              </a:rPr>
              <a:t>cashFacade</a:t>
            </a:r>
            <a:r>
              <a:rPr lang="ko-KR" altLang="en-US" sz="1000">
                <a:sym typeface="Wingdings" panose="05000000000000000000" pitchFamily="2" charset="2"/>
              </a:rPr>
              <a:t>로 전달</a:t>
            </a:r>
            <a:r>
              <a:rPr lang="en-US" altLang="ko-KR" sz="1000">
                <a:sym typeface="Wingdings" panose="05000000000000000000" pitchFamily="2" charset="2"/>
              </a:rPr>
              <a:t>]</a:t>
            </a:r>
            <a:endParaRPr lang="ko-KR" altLang="en-US" sz="100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83E1C5F-22F5-3B6F-A143-AFA78D48817E}"/>
              </a:ext>
            </a:extLst>
          </p:cNvPr>
          <p:cNvCxnSpPr>
            <a:cxnSpLocks/>
          </p:cNvCxnSpPr>
          <p:nvPr/>
        </p:nvCxnSpPr>
        <p:spPr>
          <a:xfrm>
            <a:off x="9328417" y="2766603"/>
            <a:ext cx="0" cy="441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91A645-8FB1-04A4-48AB-320B9BA04125}"/>
              </a:ext>
            </a:extLst>
          </p:cNvPr>
          <p:cNvSpPr/>
          <p:nvPr/>
        </p:nvSpPr>
        <p:spPr>
          <a:xfrm>
            <a:off x="7315200" y="3320109"/>
            <a:ext cx="4026434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4. cashFacade.handle(event) -&gt; cashCompleteOrderPaymentUseCase.handle(event)</a:t>
            </a:r>
            <a:endParaRPr lang="ko-KR" altLang="en-US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C2935-CEE7-1D6F-2B8E-891F165AED19}"/>
              </a:ext>
            </a:extLst>
          </p:cNvPr>
          <p:cNvSpPr txBox="1"/>
          <p:nvPr/>
        </p:nvSpPr>
        <p:spPr>
          <a:xfrm>
            <a:off x="7315200" y="3939017"/>
            <a:ext cx="45105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cashFacade.handle(event)</a:t>
            </a:r>
            <a:r>
              <a:rPr lang="ko-KR" altLang="en-US" sz="1000"/>
              <a:t>에서 </a:t>
            </a:r>
            <a:br>
              <a:rPr lang="en-US" altLang="ko-KR" sz="1000"/>
            </a:br>
            <a:r>
              <a:rPr lang="en-US" altLang="ko-KR" sz="1000"/>
              <a:t>     cashCompleteOrderPaymentUseCase.handle(event)</a:t>
            </a:r>
            <a:r>
              <a:rPr lang="ko-KR" altLang="en-US" sz="1000"/>
              <a:t>로 </a:t>
            </a:r>
            <a:r>
              <a:rPr lang="en-US" altLang="ko-KR" sz="1000"/>
              <a:t>byPass</a:t>
            </a:r>
            <a:r>
              <a:rPr lang="ko-KR" altLang="en-US" sz="1000"/>
              <a:t> 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1C60E5C-AEAD-C383-9A19-6B3B49969725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639005" y="3608650"/>
            <a:ext cx="676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8281B2-B5DE-7344-2936-B82F45B657F0}"/>
              </a:ext>
            </a:extLst>
          </p:cNvPr>
          <p:cNvSpPr/>
          <p:nvPr/>
        </p:nvSpPr>
        <p:spPr>
          <a:xfrm>
            <a:off x="3921418" y="3208540"/>
            <a:ext cx="2717585" cy="1663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5. cashCompleteOrderPaymentUseCase.handle(event) </a:t>
            </a:r>
            <a:r>
              <a:rPr lang="ko-KR" altLang="en-US" sz="1050"/>
              <a:t>에서 실질적인 결제 가능 상태 파악</a:t>
            </a:r>
            <a:r>
              <a:rPr lang="en-US" altLang="ko-KR" sz="1050"/>
              <a:t>.</a:t>
            </a:r>
            <a:br>
              <a:rPr lang="en-US" altLang="ko-KR" sz="1050"/>
            </a:br>
            <a:endParaRPr lang="en-US" altLang="ko-KR" sz="1050"/>
          </a:p>
          <a:p>
            <a:pPr algn="ctr"/>
            <a:r>
              <a:rPr lang="ko-KR" altLang="en-US" sz="1050" b="1">
                <a:solidFill>
                  <a:srgbClr val="92D050"/>
                </a:solidFill>
              </a:rPr>
              <a:t>결제 가능일 경우 </a:t>
            </a:r>
            <a:r>
              <a:rPr lang="en-US" altLang="ko-KR" sz="1050" b="1">
                <a:solidFill>
                  <a:srgbClr val="92D050"/>
                </a:solidFill>
              </a:rPr>
              <a:t>-&gt; CashOrderPaymentSucceededEvent </a:t>
            </a:r>
            <a:r>
              <a:rPr lang="ko-KR" altLang="en-US" sz="1050" b="1">
                <a:solidFill>
                  <a:srgbClr val="92D050"/>
                </a:solidFill>
              </a:rPr>
              <a:t>발행</a:t>
            </a:r>
            <a:endParaRPr lang="en-US" altLang="ko-KR" sz="1050" b="1">
              <a:solidFill>
                <a:srgbClr val="92D050"/>
              </a:solidFill>
            </a:endParaRPr>
          </a:p>
          <a:p>
            <a:pPr algn="ctr"/>
            <a:endParaRPr lang="en-US" altLang="ko-KR" sz="1050" b="1">
              <a:solidFill>
                <a:srgbClr val="92D050"/>
              </a:solidFill>
            </a:endParaRPr>
          </a:p>
          <a:p>
            <a:pPr algn="ctr"/>
            <a:r>
              <a:rPr lang="ko-KR" altLang="en-US" sz="1050" b="1">
                <a:solidFill>
                  <a:srgbClr val="FF0000"/>
                </a:solidFill>
              </a:rPr>
              <a:t>결제 불가일 경우 </a:t>
            </a:r>
            <a:r>
              <a:rPr lang="en-US" altLang="ko-KR" sz="1050" b="1">
                <a:solidFill>
                  <a:srgbClr val="FF0000"/>
                </a:solidFill>
              </a:rPr>
              <a:t>-&gt;  CashOrderPaymentFailedEvent </a:t>
            </a:r>
            <a:r>
              <a:rPr lang="ko-KR" altLang="en-US" sz="1050" b="1">
                <a:solidFill>
                  <a:srgbClr val="FF0000"/>
                </a:solidFill>
              </a:rPr>
              <a:t>발행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94A8CF-F276-B6A3-2DDD-0268882C6BD9}"/>
              </a:ext>
            </a:extLst>
          </p:cNvPr>
          <p:cNvSpPr txBox="1"/>
          <p:nvPr/>
        </p:nvSpPr>
        <p:spPr>
          <a:xfrm>
            <a:off x="3921417" y="4940834"/>
            <a:ext cx="821167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1. event</a:t>
            </a:r>
            <a:r>
              <a:rPr lang="ko-KR" altLang="en-US" sz="1050"/>
              <a:t>로부터 받은 </a:t>
            </a:r>
            <a:r>
              <a:rPr lang="en-US" altLang="ko-KR" sz="1050"/>
              <a:t>orderDto</a:t>
            </a:r>
            <a:r>
              <a:rPr lang="ko-KR" altLang="en-US" sz="1050"/>
              <a:t>로 부터 </a:t>
            </a:r>
            <a:r>
              <a:rPr lang="en-US" altLang="ko-KR" sz="1050"/>
              <a:t>buyer</a:t>
            </a:r>
            <a:r>
              <a:rPr lang="ko-KR" altLang="en-US" sz="1050"/>
              <a:t>의 회원 </a:t>
            </a:r>
            <a:r>
              <a:rPr lang="en-US" altLang="ko-KR" sz="1050"/>
              <a:t>Id</a:t>
            </a:r>
            <a:r>
              <a:rPr lang="ko-KR" altLang="en-US" sz="1050"/>
              <a:t>를 통해 </a:t>
            </a:r>
            <a:r>
              <a:rPr lang="en-US" altLang="ko-KR" sz="1050"/>
              <a:t>Buyer</a:t>
            </a:r>
            <a:r>
              <a:rPr lang="ko-KR" altLang="en-US" sz="1050"/>
              <a:t>의 </a:t>
            </a:r>
            <a:r>
              <a:rPr lang="en-US" altLang="ko-KR" sz="1050"/>
              <a:t>Wallet</a:t>
            </a:r>
            <a:r>
              <a:rPr lang="ko-KR" altLang="en-US" sz="1050"/>
              <a:t>을 가져옴</a:t>
            </a:r>
            <a:r>
              <a:rPr lang="en-US" altLang="ko-KR" sz="1050"/>
              <a:t>. </a:t>
            </a:r>
            <a:br>
              <a:rPr lang="en-US" altLang="ko-KR" sz="1050"/>
            </a:br>
            <a:r>
              <a:rPr lang="en-US" altLang="ko-KR" sz="1050"/>
              <a:t>- [cashSupport</a:t>
            </a:r>
            <a:r>
              <a:rPr lang="ko-KR" altLang="en-US" sz="1050"/>
              <a:t>에 </a:t>
            </a:r>
            <a:r>
              <a:rPr lang="en-US" altLang="ko-KR" sz="1050"/>
              <a:t>findWalletByHolderId(id) </a:t>
            </a:r>
            <a:r>
              <a:rPr lang="ko-KR" altLang="en-US" sz="1050"/>
              <a:t>추가</a:t>
            </a:r>
            <a:r>
              <a:rPr lang="en-US" altLang="ko-KR" sz="1050"/>
              <a:t>]</a:t>
            </a:r>
          </a:p>
          <a:p>
            <a:r>
              <a:rPr lang="en-US" altLang="ko-KR" sz="1050"/>
              <a:t>2. </a:t>
            </a:r>
            <a:r>
              <a:rPr lang="ko-KR" altLang="en-US" sz="1050"/>
              <a:t>이커머스 회사 전용 계좌 계정</a:t>
            </a:r>
            <a:r>
              <a:rPr lang="en-US" altLang="ko-KR" sz="1050"/>
              <a:t>(</a:t>
            </a:r>
            <a:r>
              <a:rPr lang="ko-KR" altLang="en-US" sz="1050"/>
              <a:t>무통장 입금 같은 계정 </a:t>
            </a:r>
            <a:r>
              <a:rPr lang="en-US" altLang="ko-KR" sz="1050"/>
              <a:t>= holding</a:t>
            </a:r>
            <a:r>
              <a:rPr lang="ko-KR" altLang="en-US" sz="1050"/>
              <a:t> 계정</a:t>
            </a:r>
            <a:r>
              <a:rPr lang="en-US" altLang="ko-KR" sz="1050"/>
              <a:t>) </a:t>
            </a:r>
            <a:r>
              <a:rPr lang="ko-KR" altLang="en-US" sz="1050"/>
              <a:t>준비 </a:t>
            </a:r>
            <a:endParaRPr lang="en-US" altLang="ko-KR" sz="1050"/>
          </a:p>
          <a:p>
            <a:r>
              <a:rPr lang="en-US" altLang="ko-KR" sz="1050"/>
              <a:t>- [cashSupport</a:t>
            </a:r>
            <a:r>
              <a:rPr lang="ko-KR" altLang="en-US" sz="1050"/>
              <a:t>에 </a:t>
            </a:r>
            <a:r>
              <a:rPr lang="en-US" altLang="ko-KR" sz="1050"/>
              <a:t>findHoldingWallet() </a:t>
            </a:r>
            <a:r>
              <a:rPr lang="ko-KR" altLang="en-US" sz="1050"/>
              <a:t>추가 </a:t>
            </a:r>
            <a:r>
              <a:rPr lang="en-US" altLang="ko-KR" sz="1050"/>
              <a:t>= walletRepository</a:t>
            </a:r>
            <a:r>
              <a:rPr lang="ko-KR" altLang="en-US" sz="1050"/>
              <a:t>에 </a:t>
            </a:r>
            <a:r>
              <a:rPr lang="en-US" altLang="ko-KR" sz="1050"/>
              <a:t>findByHolderId(CashPolicy.HOLDING_MEMBER_ID) </a:t>
            </a:r>
            <a:r>
              <a:rPr lang="ko-KR" altLang="en-US" sz="1050"/>
              <a:t>추가</a:t>
            </a:r>
            <a:r>
              <a:rPr lang="en-US" altLang="ko-KR" sz="1050"/>
              <a:t>]</a:t>
            </a:r>
            <a:br>
              <a:rPr lang="en-US" altLang="ko-KR" sz="1050"/>
            </a:br>
            <a:r>
              <a:rPr lang="en-US" altLang="ko-KR" sz="1050"/>
              <a:t>3. event</a:t>
            </a:r>
            <a:r>
              <a:rPr lang="ko-KR" altLang="en-US" sz="1050"/>
              <a:t>로 부터 받은 </a:t>
            </a:r>
            <a:r>
              <a:rPr lang="en-US" altLang="ko-KR" sz="1050"/>
              <a:t>pgPaymentAmount </a:t>
            </a:r>
            <a:r>
              <a:rPr lang="ko-KR" altLang="en-US" sz="1050"/>
              <a:t>가 </a:t>
            </a:r>
            <a:r>
              <a:rPr lang="en-US" altLang="ko-KR" sz="1050"/>
              <a:t>0</a:t>
            </a:r>
            <a:r>
              <a:rPr lang="ko-KR" altLang="en-US" sz="1050"/>
              <a:t>보다 크면 </a:t>
            </a:r>
            <a:r>
              <a:rPr lang="en-US" altLang="ko-KR" sz="1050"/>
              <a:t>buyer </a:t>
            </a:r>
            <a:r>
              <a:rPr lang="ko-KR" altLang="en-US" sz="1050"/>
              <a:t>지갑의 잔액을 먼저 증가 시켜줘야함</a:t>
            </a:r>
            <a:r>
              <a:rPr lang="en-US" altLang="ko-KR" sz="1050"/>
              <a:t>. </a:t>
            </a:r>
          </a:p>
          <a:p>
            <a:r>
              <a:rPr lang="en-US" altLang="ko-KR" sz="1050"/>
              <a:t>4.buyer</a:t>
            </a:r>
            <a:r>
              <a:rPr lang="ko-KR" altLang="en-US" sz="1050"/>
              <a:t>의 </a:t>
            </a:r>
            <a:r>
              <a:rPr lang="en-US" altLang="ko-KR" sz="1050"/>
              <a:t>balance</a:t>
            </a:r>
            <a:r>
              <a:rPr lang="ko-KR" altLang="en-US" sz="1050"/>
              <a:t>가 </a:t>
            </a:r>
            <a:r>
              <a:rPr lang="en-US" altLang="ko-KR" sz="1050"/>
              <a:t>Order</a:t>
            </a:r>
            <a:r>
              <a:rPr lang="ko-KR" altLang="en-US" sz="1050"/>
              <a:t>의 주문 시점 판매금액보다 큰 지 비교</a:t>
            </a:r>
            <a:endParaRPr lang="en-US" altLang="ko-KR" sz="1050"/>
          </a:p>
          <a:p>
            <a:r>
              <a:rPr lang="en-US" altLang="ko-KR" sz="1050"/>
              <a:t>5. balance</a:t>
            </a:r>
            <a:r>
              <a:rPr lang="ko-KR" altLang="en-US" sz="1050"/>
              <a:t>가 더 클 경우 </a:t>
            </a:r>
            <a:r>
              <a:rPr lang="en-US" altLang="ko-KR" sz="1050"/>
              <a:t>: order.getSalePrice() </a:t>
            </a:r>
            <a:r>
              <a:rPr lang="ko-KR" altLang="en-US" sz="1050"/>
              <a:t>만큼 </a:t>
            </a:r>
            <a:r>
              <a:rPr lang="en-US" altLang="ko-KR" sz="1050"/>
              <a:t>balance </a:t>
            </a:r>
            <a:r>
              <a:rPr lang="ko-KR" altLang="en-US" sz="1050"/>
              <a:t>차감</a:t>
            </a:r>
            <a:r>
              <a:rPr lang="en-US" altLang="ko-KR" sz="1050"/>
              <a:t>. </a:t>
            </a:r>
            <a:r>
              <a:rPr lang="en-US" altLang="ko-KR" sz="1050">
                <a:sym typeface="Wingdings" panose="05000000000000000000" pitchFamily="2" charset="2"/>
              </a:rPr>
              <a:t> holding</a:t>
            </a:r>
            <a:r>
              <a:rPr lang="ko-KR" altLang="en-US" sz="1050">
                <a:sym typeface="Wingdings" panose="05000000000000000000" pitchFamily="2" charset="2"/>
              </a:rPr>
              <a:t>계정 </a:t>
            </a:r>
            <a:r>
              <a:rPr lang="en-US" altLang="ko-KR" sz="1050">
                <a:sym typeface="Wingdings" panose="05000000000000000000" pitchFamily="2" charset="2"/>
              </a:rPr>
              <a:t>balance </a:t>
            </a:r>
            <a:r>
              <a:rPr lang="ko-KR" altLang="en-US" sz="1050">
                <a:sym typeface="Wingdings" panose="05000000000000000000" pitchFamily="2" charset="2"/>
              </a:rPr>
              <a:t>증가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주문 결제 성공 이벤트</a:t>
            </a:r>
            <a:r>
              <a:rPr lang="en-US" altLang="ko-KR" sz="1050">
                <a:sym typeface="Wingdings" panose="05000000000000000000" pitchFamily="2" charset="2"/>
              </a:rPr>
              <a:t>(CashOrderPaymentSucceededEvent)</a:t>
            </a:r>
            <a:r>
              <a:rPr lang="ko-KR" altLang="en-US" sz="1050">
                <a:sym typeface="Wingdings" panose="05000000000000000000" pitchFamily="2" charset="2"/>
              </a:rPr>
              <a:t> 발행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( </a:t>
            </a:r>
            <a:r>
              <a:rPr lang="ko-KR" altLang="en-US" sz="1050">
                <a:sym typeface="Wingdings" panose="05000000000000000000" pitchFamily="2" charset="2"/>
              </a:rPr>
              <a:t>이벤트에 </a:t>
            </a:r>
            <a:r>
              <a:rPr lang="en-US" altLang="ko-KR" sz="1050">
                <a:sym typeface="Wingdings" panose="05000000000000000000" pitchFamily="2" charset="2"/>
              </a:rPr>
              <a:t>OrderDto</a:t>
            </a:r>
            <a:r>
              <a:rPr lang="ko-KR" altLang="en-US" sz="1050">
                <a:sym typeface="Wingdings" panose="05000000000000000000" pitchFamily="2" charset="2"/>
              </a:rPr>
              <a:t>와 </a:t>
            </a:r>
            <a:r>
              <a:rPr lang="en-US" altLang="ko-KR" sz="1050">
                <a:sym typeface="Wingdings" panose="05000000000000000000" pitchFamily="2" charset="2"/>
              </a:rPr>
              <a:t>pgPaymentAmount </a:t>
            </a:r>
            <a:r>
              <a:rPr lang="ko-KR" altLang="en-US" sz="1050">
                <a:sym typeface="Wingdings" panose="05000000000000000000" pitchFamily="2" charset="2"/>
              </a:rPr>
              <a:t>를 포함</a:t>
            </a:r>
            <a:r>
              <a:rPr lang="en-US" altLang="ko-KR" sz="105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6. balance</a:t>
            </a:r>
            <a:r>
              <a:rPr lang="ko-KR" altLang="en-US" sz="1050">
                <a:sym typeface="Wingdings" panose="05000000000000000000" pitchFamily="2" charset="2"/>
              </a:rPr>
              <a:t>가 더 작은 경우 </a:t>
            </a:r>
            <a:r>
              <a:rPr lang="en-US" altLang="ko-KR" sz="1050">
                <a:sym typeface="Wingdings" panose="05000000000000000000" pitchFamily="2" charset="2"/>
              </a:rPr>
              <a:t>:  </a:t>
            </a:r>
            <a:r>
              <a:rPr lang="ko-KR" altLang="en-US" sz="1050">
                <a:sym typeface="Wingdings" panose="05000000000000000000" pitchFamily="2" charset="2"/>
              </a:rPr>
              <a:t>주문 결제 실패 이벤트</a:t>
            </a:r>
            <a:r>
              <a:rPr lang="en-US" altLang="ko-KR" sz="1050">
                <a:sym typeface="Wingdings" panose="05000000000000000000" pitchFamily="2" charset="2"/>
              </a:rPr>
              <a:t>(CashOrderPaymentFailedEvent)</a:t>
            </a:r>
            <a:r>
              <a:rPr lang="ko-KR" altLang="en-US" sz="1050">
                <a:sym typeface="Wingdings" panose="05000000000000000000" pitchFamily="2" charset="2"/>
              </a:rPr>
              <a:t> 발행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( </a:t>
            </a:r>
            <a:r>
              <a:rPr lang="ko-KR" altLang="en-US" sz="1050">
                <a:sym typeface="Wingdings" panose="05000000000000000000" pitchFamily="2" charset="2"/>
              </a:rPr>
              <a:t>이벤트에 </a:t>
            </a:r>
            <a:r>
              <a:rPr lang="en-US" altLang="ko-KR" sz="1050">
                <a:sym typeface="Wingdings" panose="05000000000000000000" pitchFamily="2" charset="2"/>
              </a:rPr>
              <a:t>resultCode, msg, orderDto, pgPaymentAmount, shortfallAmount[</a:t>
            </a:r>
            <a:r>
              <a:rPr lang="ko-KR" altLang="en-US" sz="1050">
                <a:sym typeface="Wingdings" panose="05000000000000000000" pitchFamily="2" charset="2"/>
              </a:rPr>
              <a:t>부족금</a:t>
            </a:r>
            <a:r>
              <a:rPr lang="en-US" altLang="ko-KR" sz="1050">
                <a:sym typeface="Wingdings" panose="05000000000000000000" pitchFamily="2" charset="2"/>
              </a:rPr>
              <a:t>]</a:t>
            </a:r>
            <a:r>
              <a:rPr lang="ko-KR" altLang="en-US" sz="1050">
                <a:sym typeface="Wingdings" panose="05000000000000000000" pitchFamily="2" charset="2"/>
              </a:rPr>
              <a:t>을</a:t>
            </a:r>
            <a:r>
              <a:rPr lang="en-US" altLang="ko-KR" sz="1050">
                <a:sym typeface="Wingdings" panose="05000000000000000000" pitchFamily="2" charset="2"/>
              </a:rPr>
              <a:t> </a:t>
            </a:r>
            <a:r>
              <a:rPr lang="ko-KR" altLang="en-US" sz="1050">
                <a:sym typeface="Wingdings" panose="05000000000000000000" pitchFamily="2" charset="2"/>
              </a:rPr>
              <a:t>포함</a:t>
            </a:r>
            <a:r>
              <a:rPr lang="en-US" altLang="ko-KR" sz="1050">
                <a:sym typeface="Wingdings" panose="05000000000000000000" pitchFamily="2" charset="2"/>
              </a:rPr>
              <a:t> ) </a:t>
            </a:r>
            <a:endParaRPr lang="ko-KR" altLang="en-US" sz="105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0A21DF8-BD14-733E-7400-83DDF0CC3994}"/>
              </a:ext>
            </a:extLst>
          </p:cNvPr>
          <p:cNvCxnSpPr>
            <a:stCxn id="29" idx="1"/>
          </p:cNvCxnSpPr>
          <p:nvPr/>
        </p:nvCxnSpPr>
        <p:spPr>
          <a:xfrm flipH="1">
            <a:off x="3380975" y="4040108"/>
            <a:ext cx="540443" cy="1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1EE44B-4C5F-D794-398B-692EEABC88E5}"/>
              </a:ext>
            </a:extLst>
          </p:cNvPr>
          <p:cNvSpPr/>
          <p:nvPr/>
        </p:nvSpPr>
        <p:spPr>
          <a:xfrm>
            <a:off x="663390" y="3208540"/>
            <a:ext cx="2717585" cy="1663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6. MarketListener</a:t>
            </a:r>
            <a:r>
              <a:rPr lang="ko-KR" altLang="en-US" sz="1050"/>
              <a:t>에서</a:t>
            </a:r>
            <a:br>
              <a:rPr lang="en-US" altLang="ko-KR" sz="1050"/>
            </a:br>
            <a:r>
              <a:rPr lang="en-US" altLang="ko-KR" sz="1050">
                <a:sym typeface="Wingdings" panose="05000000000000000000" pitchFamily="2" charset="2"/>
              </a:rPr>
              <a:t>CashOrderPaymentSucceededEvent </a:t>
            </a:r>
            <a:r>
              <a:rPr lang="ko-KR" altLang="en-US" sz="1050">
                <a:sym typeface="Wingdings" panose="05000000000000000000" pitchFamily="2" charset="2"/>
              </a:rPr>
              <a:t>또는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ko-KR" altLang="en-US" sz="1050"/>
              <a:t> </a:t>
            </a:r>
            <a:r>
              <a:rPr lang="en-US" altLang="ko-KR" sz="1050">
                <a:sym typeface="Wingdings" panose="05000000000000000000" pitchFamily="2" charset="2"/>
              </a:rPr>
              <a:t>CashOrderPaymentFailedEvent </a:t>
            </a:r>
            <a:r>
              <a:rPr lang="ko-KR" altLang="en-US" sz="1050">
                <a:sym typeface="Wingdings" panose="05000000000000000000" pitchFamily="2" charset="2"/>
              </a:rPr>
              <a:t> 수신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5C4CA7-9CCD-5126-E70E-E1DA81B4249B}"/>
              </a:ext>
            </a:extLst>
          </p:cNvPr>
          <p:cNvSpPr txBox="1"/>
          <p:nvPr/>
        </p:nvSpPr>
        <p:spPr>
          <a:xfrm>
            <a:off x="645459" y="4940834"/>
            <a:ext cx="273551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성공 이벤트 수신 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marketFacade.handle(event)  </a:t>
            </a:r>
            <a:r>
              <a:rPr lang="en-US" altLang="ko-KR" sz="1000"/>
              <a:t>marketCompleteOrderPaymentUseCase.handle(event) [bypass] </a:t>
            </a:r>
            <a:r>
              <a:rPr lang="en-US" altLang="ko-KR" sz="1000">
                <a:sym typeface="Wingdings" panose="05000000000000000000" pitchFamily="2" charset="2"/>
              </a:rPr>
              <a:t> OrderDto</a:t>
            </a:r>
            <a:r>
              <a:rPr lang="ko-KR" altLang="en-US" sz="1000">
                <a:sym typeface="Wingdings" panose="05000000000000000000" pitchFamily="2" charset="2"/>
              </a:rPr>
              <a:t>로  주문 검색 </a:t>
            </a:r>
            <a:r>
              <a:rPr lang="en-US" altLang="ko-KR" sz="1000">
                <a:sym typeface="Wingdings" panose="05000000000000000000" pitchFamily="2" charset="2"/>
              </a:rPr>
              <a:t> completePayment() </a:t>
            </a:r>
            <a:r>
              <a:rPr lang="ko-KR" altLang="en-US" sz="1000">
                <a:sym typeface="Wingdings" panose="05000000000000000000" pitchFamily="2" charset="2"/>
              </a:rPr>
              <a:t>로 결제 완료 시간 저장</a:t>
            </a:r>
            <a:endParaRPr lang="en-US" altLang="ko-KR" sz="1000">
              <a:sym typeface="Wingdings" panose="05000000000000000000" pitchFamily="2" charset="2"/>
            </a:endParaRPr>
          </a:p>
          <a:p>
            <a:r>
              <a:rPr lang="ko-KR" altLang="en-US" sz="1000">
                <a:sym typeface="Wingdings" panose="05000000000000000000" pitchFamily="2" charset="2"/>
              </a:rPr>
              <a:t>실패 이벤트 수신 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</a:p>
          <a:p>
            <a:r>
              <a:rPr lang="en-US" altLang="ko-KR" sz="1000">
                <a:sym typeface="Wingdings" panose="05000000000000000000" pitchFamily="2" charset="2"/>
              </a:rPr>
              <a:t>marketFacade.handle(event)  </a:t>
            </a:r>
            <a:r>
              <a:rPr lang="en-US" altLang="ko-KR" sz="1000"/>
              <a:t>marketCancelOrderRequestPaymentUseCase</a:t>
            </a:r>
          </a:p>
          <a:p>
            <a:r>
              <a:rPr lang="en-US" altLang="ko-KR" sz="1000"/>
              <a:t>.handle(event) [bypass] </a:t>
            </a:r>
            <a:r>
              <a:rPr lang="en-US" altLang="ko-KR" sz="1000">
                <a:sym typeface="Wingdings" panose="05000000000000000000" pitchFamily="2" charset="2"/>
              </a:rPr>
              <a:t> OrderDto</a:t>
            </a:r>
            <a:r>
              <a:rPr lang="ko-KR" altLang="en-US" sz="1000">
                <a:sym typeface="Wingdings" panose="05000000000000000000" pitchFamily="2" charset="2"/>
              </a:rPr>
              <a:t>로  주문 검색 </a:t>
            </a:r>
            <a:r>
              <a:rPr lang="en-US" altLang="ko-KR" sz="1000">
                <a:sym typeface="Wingdings" panose="05000000000000000000" pitchFamily="2" charset="2"/>
              </a:rPr>
              <a:t> cancelRequestPayment() </a:t>
            </a:r>
            <a:r>
              <a:rPr lang="ko-KR" altLang="en-US" sz="1000">
                <a:sym typeface="Wingdings" panose="05000000000000000000" pitchFamily="2" charset="2"/>
              </a:rPr>
              <a:t>로 결제 요청 시간 </a:t>
            </a:r>
            <a:r>
              <a:rPr lang="en-US" altLang="ko-KR" sz="1000">
                <a:sym typeface="Wingdings" panose="05000000000000000000" pitchFamily="2" charset="2"/>
              </a:rPr>
              <a:t>null </a:t>
            </a:r>
            <a:r>
              <a:rPr lang="ko-KR" altLang="en-US" sz="1000">
                <a:sym typeface="Wingdings" panose="05000000000000000000" pitchFamily="2" charset="2"/>
              </a:rPr>
              <a:t>초기화</a:t>
            </a:r>
            <a:endParaRPr lang="en-US" altLang="ko-KR" sz="1000">
              <a:sym typeface="Wingdings" panose="05000000000000000000" pitchFamily="2" charset="2"/>
            </a:endParaRPr>
          </a:p>
          <a:p>
            <a:endParaRPr lang="en-US" altLang="ko-KR" sz="1000"/>
          </a:p>
          <a:p>
            <a:endParaRPr lang="ko-KR" altLang="en-US" sz="900" i="1"/>
          </a:p>
        </p:txBody>
      </p:sp>
    </p:spTree>
    <p:extLst>
      <p:ext uri="{BB962C8B-B14F-4D97-AF65-F5344CB8AC3E}">
        <p14:creationId xmlns:p14="http://schemas.microsoft.com/office/powerpoint/2010/main" val="49444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A6AA-17B5-5C78-9FE2-F7EC0FDD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F2C1F-84BA-CC02-B7E9-C6D74D32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35</a:t>
            </a:r>
            <a:r>
              <a:rPr lang="ko-KR" altLang="en-US"/>
              <a:t>강 주문 결제 처리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0B95C-83B1-5DDC-88DA-EDA5554811C4}"/>
              </a:ext>
            </a:extLst>
          </p:cNvPr>
          <p:cNvSpPr txBox="1"/>
          <p:nvPr/>
        </p:nvSpPr>
        <p:spPr>
          <a:xfrm>
            <a:off x="1194318" y="1810139"/>
            <a:ext cx="996136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Order </a:t>
            </a:r>
            <a:r>
              <a:rPr lang="ko-KR" altLang="en-US" sz="1200"/>
              <a:t>정보로 </a:t>
            </a:r>
            <a:r>
              <a:rPr lang="en-US" altLang="ko-KR" sz="1200"/>
              <a:t>Payment(</a:t>
            </a:r>
            <a:r>
              <a:rPr lang="ko-KR" altLang="en-US" sz="1200"/>
              <a:t>결제</a:t>
            </a:r>
            <a:r>
              <a:rPr lang="en-US" altLang="ko-KR" sz="1200"/>
              <a:t>)</a:t>
            </a:r>
            <a:r>
              <a:rPr lang="ko-KR" altLang="en-US" sz="1200"/>
              <a:t>를 생성한다</a:t>
            </a:r>
            <a:r>
              <a:rPr lang="en-US" altLang="ko-KR" sz="1200"/>
              <a:t>. [order.requestPayment(long pgPaymentAmount)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결제시간 기록 및 </a:t>
            </a:r>
            <a:r>
              <a:rPr lang="en-US" altLang="ko-KR" sz="1200">
                <a:sym typeface="Wingdings" panose="05000000000000000000" pitchFamily="2" charset="2"/>
              </a:rPr>
              <a:t>MarketOrderPaymentRequestEvent </a:t>
            </a:r>
            <a:r>
              <a:rPr lang="ko-KR" altLang="en-US" sz="1200">
                <a:sym typeface="Wingdings" panose="05000000000000000000" pitchFamily="2" charset="2"/>
              </a:rPr>
              <a:t>발행</a:t>
            </a:r>
            <a:r>
              <a:rPr lang="en-US" altLang="ko-KR" sz="1200"/>
              <a:t>]</a:t>
            </a:r>
            <a:br>
              <a:rPr lang="en-US" altLang="ko-KR" sz="1200"/>
            </a:br>
            <a:r>
              <a:rPr lang="en-US" altLang="ko-KR" sz="1200"/>
              <a:t>            Cash </a:t>
            </a:r>
            <a:r>
              <a:rPr lang="ko-KR" altLang="en-US" sz="1200"/>
              <a:t>모듈에서 이벤트 수신 </a:t>
            </a:r>
            <a:r>
              <a:rPr lang="en-US" altLang="ko-KR" sz="1200"/>
              <a:t>CashCompleteOrderPaymentUseCase </a:t>
            </a:r>
            <a:r>
              <a:rPr lang="ko-KR" altLang="en-US" sz="1200"/>
              <a:t>에서 잔액과 결제 금액에 따라 </a:t>
            </a:r>
            <a:br>
              <a:rPr lang="en-US" altLang="ko-KR" sz="1200"/>
            </a:br>
            <a:r>
              <a:rPr lang="en-US" altLang="ko-KR" sz="1200"/>
              <a:t>            CashOrderPaymentSucceededEvent </a:t>
            </a:r>
            <a:r>
              <a:rPr lang="ko-KR" altLang="en-US" sz="1200"/>
              <a:t>또는 </a:t>
            </a:r>
            <a:r>
              <a:rPr lang="en-US" altLang="ko-KR" sz="1200"/>
              <a:t>CashOrderPaymentFailedEvent </a:t>
            </a:r>
            <a:r>
              <a:rPr lang="ko-KR" altLang="en-US" sz="1200"/>
              <a:t>발행 </a:t>
            </a:r>
            <a:br>
              <a:rPr lang="en-US" altLang="ko-KR" sz="1200"/>
            </a:br>
            <a:r>
              <a:rPr lang="en-US" altLang="ko-KR" sz="1200"/>
              <a:t>             </a:t>
            </a:r>
            <a:r>
              <a:rPr lang="ko-KR" altLang="en-US" sz="1200"/>
              <a:t>실패시 </a:t>
            </a:r>
            <a:r>
              <a:rPr lang="en-US" altLang="ko-KR" sz="1200"/>
              <a:t>Saga </a:t>
            </a:r>
            <a:r>
              <a:rPr lang="ko-KR" altLang="en-US" sz="1200"/>
              <a:t>패턴으로 이전 진행사항 모두 되돌려야함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CashMember(id=2)</a:t>
            </a:r>
            <a:r>
              <a:rPr lang="ko-KR" altLang="en-US" sz="1200"/>
              <a:t>는 이커머스 전용 </a:t>
            </a:r>
            <a:r>
              <a:rPr lang="en-US" altLang="ko-KR" sz="1200"/>
              <a:t>holdingr</a:t>
            </a:r>
            <a:r>
              <a:rPr lang="ko-KR" altLang="en-US" sz="1200"/>
              <a:t>계정</a:t>
            </a:r>
            <a:r>
              <a:rPr lang="en-US" altLang="ko-KR" sz="1200"/>
              <a:t>(ex: </a:t>
            </a:r>
            <a:r>
              <a:rPr lang="ko-KR" altLang="en-US" sz="1200"/>
              <a:t>무통장입금 계좌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en-US" altLang="ko-KR" sz="1200"/>
              <a:t>    </a:t>
            </a:r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CashCompleteOrderPaymentUseCase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handle(</a:t>
            </a:r>
            <a:r>
              <a:rPr lang="en-US" altLang="ko-KR" sz="1100"/>
              <a:t>MarketOrderPaymentRequestEvent</a:t>
            </a:r>
            <a:r>
              <a:rPr lang="en-US" altLang="ko-KR" sz="1100">
                <a:ea typeface="+mj-ea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HOLDING_MEMBER_ID =2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MarketCancelOrderRequestPaymentUseCase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handle(CashOrderPaymentFailedEvent)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MarketCompleteOrderPaymentUseCase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handle(CashOrderPaymentSucceededEvent)</a:t>
            </a:r>
          </a:p>
          <a:p>
            <a:pPr marL="628650" lvl="1" indent="-171450">
              <a:buFontTx/>
              <a:buChar char="-"/>
            </a:pP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CashOrderPaymentFailedEvent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CashOrderPaymentSucceededEvent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OrderDto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MarketOrderPaymentRequestEvent</a:t>
            </a:r>
          </a:p>
          <a:p>
            <a:pPr marL="171450" indent="-171450">
              <a:buFontTx/>
              <a:buChar char="-"/>
            </a:pPr>
            <a:endParaRPr lang="en-US" altLang="ko-KR" sz="1100"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A332-7F5D-B1C2-E666-E5CE163AF07E}"/>
              </a:ext>
            </a:extLst>
          </p:cNvPr>
          <p:cNvSpPr txBox="1"/>
          <p:nvPr/>
        </p:nvSpPr>
        <p:spPr>
          <a:xfrm>
            <a:off x="8794104" y="2721100"/>
            <a:ext cx="339789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Order </a:t>
            </a:r>
            <a:r>
              <a:rPr lang="ko-KR" altLang="en-US" sz="1600" b="1"/>
              <a:t>변경 정보</a:t>
            </a:r>
            <a:endParaRPr lang="en-US" altLang="ko-KR" sz="1600" b="1"/>
          </a:p>
          <a:p>
            <a:pPr marL="171450" indent="-171450">
              <a:buFontTx/>
              <a:buChar char="-"/>
            </a:pPr>
            <a:r>
              <a:rPr lang="en-US" altLang="ko-KR" sz="1200"/>
              <a:t>LocalDateTime requestPaymentDate;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LocalDateTime paymentDate;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200"/>
              <a:t>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completePayment (void)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requestPayment(void)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cancelPayment(void)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200" b="1"/>
              <a:t>★ </a:t>
            </a:r>
            <a:r>
              <a:rPr lang="en-US" altLang="ko-KR" sz="1200" b="1"/>
              <a:t>OrderDto </a:t>
            </a:r>
            <a:r>
              <a:rPr lang="ko-KR" altLang="en-US" sz="1200" b="1"/>
              <a:t>정보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int id;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createDate;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modifyDate;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int customerId;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String customerName;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long price;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long salePrice;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requestPaymentDate;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paymentDate;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5305C78-3B16-FEFF-3E81-7A23923670B4}"/>
              </a:ext>
            </a:extLst>
          </p:cNvPr>
          <p:cNvGrpSpPr/>
          <p:nvPr/>
        </p:nvGrpSpPr>
        <p:grpSpPr>
          <a:xfrm>
            <a:off x="4418588" y="3075043"/>
            <a:ext cx="4525970" cy="3647152"/>
            <a:chOff x="4418588" y="3075043"/>
            <a:chExt cx="4525970" cy="36471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0A8B64-6647-761A-EB95-16458690271B}"/>
                </a:ext>
              </a:extLst>
            </p:cNvPr>
            <p:cNvSpPr txBox="1"/>
            <p:nvPr/>
          </p:nvSpPr>
          <p:spPr>
            <a:xfrm>
              <a:off x="4418588" y="3075043"/>
              <a:ext cx="3512821" cy="364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/>
                <a:t>※ </a:t>
              </a:r>
              <a:r>
                <a:rPr lang="ko-KR" altLang="en-US" sz="1100" b="1"/>
                <a:t>수정 파일</a:t>
              </a:r>
              <a:endParaRPr lang="en-US" altLang="ko-KR" sz="1100" b="1"/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CashFacade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handle(event)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CashSupport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findWalletByHolderId(id)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findHoldingWallet()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CashEventListener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handle(event)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WalletRepository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findByHolderId(id)</a:t>
              </a:r>
            </a:p>
            <a:p>
              <a:pPr marL="171450" indent="-171450">
                <a:buFontTx/>
                <a:buChar char="-"/>
              </a:pPr>
              <a:endParaRPr lang="en-US" altLang="ko-KR" sz="1100"/>
            </a:p>
            <a:p>
              <a:pPr marL="171450" indent="-171450">
                <a:buFontTx/>
                <a:buChar char="-"/>
              </a:pPr>
              <a:endParaRPr lang="en-US" altLang="ko-KR" sz="1100"/>
            </a:p>
            <a:p>
              <a:pPr marL="171450" indent="-171450">
                <a:buFontTx/>
                <a:buChar char="-"/>
              </a:pPr>
              <a:endParaRPr lang="en-US" altLang="ko-KR" sz="1100"/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MarketFacade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findOrderById(id)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requestPayment(Order order, </a:t>
              </a:r>
              <a:br>
                <a:rPr lang="en-US" altLang="ko-KR" sz="1100"/>
              </a:br>
              <a:r>
                <a:rPr lang="en-US" altLang="ko-KR" sz="1100"/>
                <a:t>                               long pgPaymentAmount)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handle(CashOrderPaymentSucceededEvent)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handle(CashOrderPaymentFailedEvent)</a:t>
              </a:r>
            </a:p>
            <a:p>
              <a:pPr marL="628650" lvl="1" indent="-171450">
                <a:buFontTx/>
                <a:buChar char="-"/>
              </a:pPr>
              <a:endParaRPr lang="en-US" altLang="ko-KR" sz="1100"/>
            </a:p>
            <a:p>
              <a:pPr marL="171450" indent="-171450">
                <a:buFontTx/>
                <a:buChar char="-"/>
              </a:pPr>
              <a:endParaRPr lang="en-US" altLang="ko-KR" sz="1100"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A00A8A-3CA2-47D3-071D-A6D6EEE69931}"/>
                </a:ext>
              </a:extLst>
            </p:cNvPr>
            <p:cNvSpPr txBox="1"/>
            <p:nvPr/>
          </p:nvSpPr>
          <p:spPr>
            <a:xfrm>
              <a:off x="6544258" y="3215917"/>
              <a:ext cx="2400300" cy="2462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altLang="ko-KR" sz="1100"/>
                <a:t>MarketSupport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countOrders()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Order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cancelRequestPayment()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completePayement()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isPaid()</a:t>
              </a:r>
            </a:p>
            <a:p>
              <a:pPr marL="628650" lvl="1" indent="-171450">
                <a:buFontTx/>
                <a:buChar char="-"/>
              </a:pPr>
              <a:endParaRPr lang="en-US" altLang="ko-KR" sz="1100"/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MarketDataInit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makeBasePaidOrders()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100"/>
                <a:t>MarketEventListener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handle(CashOrderPaymentSucceededEvent )</a:t>
              </a:r>
            </a:p>
            <a:p>
              <a:pPr marL="628650" lvl="1" indent="-171450">
                <a:buFontTx/>
                <a:buChar char="-"/>
              </a:pPr>
              <a:r>
                <a:rPr lang="en-US" altLang="ko-KR" sz="1100"/>
                <a:t>handle(CashOrderPaymentFailedEvent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046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CE19-80E1-226B-17E7-280443D9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35</a:t>
            </a:r>
            <a:r>
              <a:rPr lang="ko-KR" altLang="en-US"/>
              <a:t>강 주문 결제 처리 주요 코드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849258F-6A52-70DF-6AB7-904B827F5638}"/>
              </a:ext>
            </a:extLst>
          </p:cNvPr>
          <p:cNvGrpSpPr/>
          <p:nvPr/>
        </p:nvGrpSpPr>
        <p:grpSpPr>
          <a:xfrm>
            <a:off x="392713" y="1863089"/>
            <a:ext cx="4294219" cy="3257552"/>
            <a:chOff x="1195145" y="1863089"/>
            <a:chExt cx="4294219" cy="325755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89C0E0C-65E0-E3F4-47F9-7E96F3A2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5145" y="1863089"/>
              <a:ext cx="676369" cy="29531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FAB7094-EDEB-DD73-BEE2-D68314EFB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5145" y="2242146"/>
              <a:ext cx="3267531" cy="42868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633D18E-2E6C-AA1F-7A05-440124333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5145" y="2754572"/>
              <a:ext cx="4294219" cy="2366069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4ADF14A-5165-67A2-8F46-D5CC0702E8C5}"/>
              </a:ext>
            </a:extLst>
          </p:cNvPr>
          <p:cNvGrpSpPr/>
          <p:nvPr/>
        </p:nvGrpSpPr>
        <p:grpSpPr>
          <a:xfrm>
            <a:off x="4939079" y="1863089"/>
            <a:ext cx="5896798" cy="1481118"/>
            <a:chOff x="4929748" y="2456488"/>
            <a:chExt cx="5896798" cy="148111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0E64BD2-2470-618A-285F-DF8BD051C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29748" y="2880183"/>
              <a:ext cx="5896798" cy="105742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D55B319-1244-F91B-75BB-739BCC5E1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9748" y="2456488"/>
              <a:ext cx="1600423" cy="323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2344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DCF14FB-74CF-8382-092B-8B816E0396E6}"/>
              </a:ext>
            </a:extLst>
          </p:cNvPr>
          <p:cNvGrpSpPr/>
          <p:nvPr/>
        </p:nvGrpSpPr>
        <p:grpSpPr>
          <a:xfrm>
            <a:off x="0" y="199140"/>
            <a:ext cx="4826471" cy="6658860"/>
            <a:chOff x="68626" y="199140"/>
            <a:chExt cx="4826471" cy="66588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9ACF129-C4A5-4A14-0D84-2C7AF70E973E}"/>
                </a:ext>
              </a:extLst>
            </p:cNvPr>
            <p:cNvGrpSpPr/>
            <p:nvPr/>
          </p:nvGrpSpPr>
          <p:grpSpPr>
            <a:xfrm>
              <a:off x="68627" y="199140"/>
              <a:ext cx="4381024" cy="5259268"/>
              <a:chOff x="143272" y="127693"/>
              <a:chExt cx="4381024" cy="5259268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61799BA2-0848-CCCD-8A73-E6DDA26E3E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3272" y="522514"/>
                <a:ext cx="4381024" cy="4864447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1CF9022-9A4D-DF46-96B4-C9A146F15E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272" y="127693"/>
                <a:ext cx="2219635" cy="285790"/>
              </a:xfrm>
              <a:prstGeom prst="rect">
                <a:avLst/>
              </a:prstGeom>
            </p:spPr>
          </p:pic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DEDACF-58DB-7306-7400-0965974A7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096"/>
            <a:stretch>
              <a:fillRect/>
            </a:stretch>
          </p:blipFill>
          <p:spPr>
            <a:xfrm>
              <a:off x="68626" y="5458408"/>
              <a:ext cx="4826471" cy="139959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702483D-37E4-97E4-184F-6E298686631A}"/>
              </a:ext>
            </a:extLst>
          </p:cNvPr>
          <p:cNvGrpSpPr/>
          <p:nvPr/>
        </p:nvGrpSpPr>
        <p:grpSpPr>
          <a:xfrm>
            <a:off x="4487885" y="199140"/>
            <a:ext cx="5916081" cy="1895094"/>
            <a:chOff x="4469223" y="474882"/>
            <a:chExt cx="5916081" cy="189509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0214065-C181-DB64-07CB-12B0FBAA3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69223" y="824065"/>
              <a:ext cx="5916081" cy="15459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87F4446-D2C0-2934-4444-5844B5F3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69223" y="474882"/>
              <a:ext cx="1524213" cy="238158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9D45C0-AA20-8829-F0B8-323C3062E0B6}"/>
              </a:ext>
            </a:extLst>
          </p:cNvPr>
          <p:cNvGrpSpPr/>
          <p:nvPr/>
        </p:nvGrpSpPr>
        <p:grpSpPr>
          <a:xfrm>
            <a:off x="4487885" y="2338802"/>
            <a:ext cx="7435941" cy="1141982"/>
            <a:chOff x="4518987" y="2231524"/>
            <a:chExt cx="7435941" cy="114198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52C2CF2-2457-B91A-21A7-A1E9A4A99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18987" y="2464308"/>
              <a:ext cx="7435941" cy="90919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64B7F8B-0F1A-CA36-5D06-7172098DD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22171" y="2231524"/>
              <a:ext cx="1219370" cy="181000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4134BFD-7C6D-B8FC-54BF-BC15A2F852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7885" y="3568802"/>
            <a:ext cx="4826472" cy="18015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B5662B9-A328-DF3E-BD56-3D4ADAD837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0754" y="5461315"/>
            <a:ext cx="3446087" cy="13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13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2B76-6CCE-B1AA-0338-A14E628C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토스페이먼츠 이론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FB1B60-1D18-F604-13DC-EE3682EFB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06" y="1894113"/>
            <a:ext cx="3475612" cy="48892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1DC355-C53F-57E9-3C5A-849DAB81414D}"/>
              </a:ext>
            </a:extLst>
          </p:cNvPr>
          <p:cNvSpPr txBox="1"/>
          <p:nvPr/>
        </p:nvSpPr>
        <p:spPr>
          <a:xfrm>
            <a:off x="4002834" y="1894113"/>
            <a:ext cx="40214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결제 요청 폼</a:t>
            </a:r>
            <a:r>
              <a:rPr lang="en-US" altLang="ko-KR" sz="1200"/>
              <a:t>(Front)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TossPayments</a:t>
            </a:r>
            <a:r>
              <a:rPr lang="ko-KR" altLang="en-US" sz="1200">
                <a:sym typeface="Wingdings" panose="05000000000000000000" pitchFamily="2" charset="2"/>
              </a:rPr>
              <a:t> 객체 생성 </a:t>
            </a:r>
            <a:r>
              <a:rPr lang="en-US" altLang="ko-KR" sz="1200">
                <a:sym typeface="Wingdings" panose="05000000000000000000" pitchFamily="2" charset="2"/>
              </a:rPr>
              <a:t>(clientKey , customerKey)</a:t>
            </a:r>
          </a:p>
          <a:p>
            <a:pPr marL="228600" indent="-228600">
              <a:buAutoNum type="arabicPeriod"/>
            </a:pPr>
            <a:r>
              <a:rPr lang="ko-KR" altLang="en-US" sz="1200">
                <a:sym typeface="Wingdings" panose="05000000000000000000" pitchFamily="2" charset="2"/>
              </a:rPr>
              <a:t>토스 페이먼츠 결제 요청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en-US" altLang="ko-KR" sz="1200"/>
          </a:p>
          <a:p>
            <a:endParaRPr lang="ko-KR" alt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50F7E-0BE3-D4D0-3C8D-3E8CC187B1C0}"/>
              </a:ext>
            </a:extLst>
          </p:cNvPr>
          <p:cNvSpPr txBox="1"/>
          <p:nvPr/>
        </p:nvSpPr>
        <p:spPr>
          <a:xfrm>
            <a:off x="8255260" y="1894113"/>
            <a:ext cx="3256384" cy="186974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fontAlgn="ctr" latinLnBrk="1"/>
            <a:r>
              <a:rPr lang="en-US" altLang="ko-KR" sz="1050"/>
              <a:t>function createPaymentClient() {</a:t>
            </a:r>
            <a:br>
              <a:rPr lang="en-US" altLang="ko-KR" sz="1050"/>
            </a:br>
            <a:r>
              <a:rPr lang="en-US" altLang="ko-KR" sz="1050"/>
              <a:t>	const clientKey = v("clientKey").trim();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customerKey = v("customerKey").trim();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tossPayments = TossPayments(clientKey);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payment = tossPayments.payment({</a:t>
            </a:r>
          </a:p>
          <a:p>
            <a:pPr fontAlgn="ctr" latinLnBrk="1"/>
            <a:r>
              <a:rPr lang="en-US" altLang="ko-KR" sz="1050"/>
              <a:t>		customerKey</a:t>
            </a:r>
          </a:p>
          <a:p>
            <a:pPr fontAlgn="ctr" latinLnBrk="1"/>
            <a:r>
              <a:rPr lang="en-US" altLang="ko-KR" sz="1050"/>
              <a:t>	});</a:t>
            </a:r>
          </a:p>
          <a:p>
            <a:pPr lvl="1" fontAlgn="ctr" latinLnBrk="1"/>
            <a:r>
              <a:rPr lang="en-US" altLang="ko-KR" sz="1050"/>
              <a:t>return {</a:t>
            </a:r>
          </a:p>
          <a:p>
            <a:pPr lvl="1" fontAlgn="ctr" latinLnBrk="1"/>
            <a:r>
              <a:rPr lang="en-US" altLang="ko-KR" sz="1050"/>
              <a:t>	payment</a:t>
            </a:r>
            <a:endParaRPr lang="ko-KR" altLang="ko-KR" sz="1050"/>
          </a:p>
          <a:p>
            <a:pPr lvl="1" fontAlgn="ctr" latinLnBrk="1"/>
            <a:r>
              <a:rPr lang="en-US" altLang="ko-KR" sz="1050"/>
              <a:t>};</a:t>
            </a:r>
            <a:endParaRPr lang="ko-KR" altLang="ko-KR" sz="1050"/>
          </a:p>
          <a:p>
            <a:pPr fontAlgn="ctr" latinLnBrk="1"/>
            <a:r>
              <a:rPr lang="en-US" altLang="ko-KR" sz="1050"/>
              <a:t>}</a:t>
            </a:r>
            <a:endParaRPr lang="ko-KR" altLang="ko-KR" sz="10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91F37-0CAA-C2D3-A4EE-D9C9613B8255}"/>
              </a:ext>
            </a:extLst>
          </p:cNvPr>
          <p:cNvSpPr txBox="1"/>
          <p:nvPr/>
        </p:nvSpPr>
        <p:spPr>
          <a:xfrm>
            <a:off x="4233766" y="2515403"/>
            <a:ext cx="32563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{</a:t>
            </a:r>
          </a:p>
          <a:p>
            <a:r>
              <a:rPr lang="ko-KR" altLang="en-US" sz="1000"/>
              <a:t>  "method": "CARD",</a:t>
            </a:r>
          </a:p>
          <a:p>
            <a:r>
              <a:rPr lang="ko-KR" altLang="en-US" sz="1000"/>
              <a:t>  "amount": {</a:t>
            </a:r>
          </a:p>
          <a:p>
            <a:r>
              <a:rPr lang="ko-KR" altLang="en-US" sz="1000"/>
              <a:t>    "currency": "KRW",</a:t>
            </a:r>
          </a:p>
          <a:p>
            <a:r>
              <a:rPr lang="ko-KR" altLang="en-US" sz="1000"/>
              <a:t>    "value": 2000</a:t>
            </a:r>
          </a:p>
          <a:p>
            <a:r>
              <a:rPr lang="ko-KR" altLang="en-US" sz="1000"/>
              <a:t>  },</a:t>
            </a:r>
          </a:p>
          <a:p>
            <a:r>
              <a:rPr lang="ko-KR" altLang="en-US" sz="1000"/>
              <a:t>  "orderId": "ORDER-2-1421876951",</a:t>
            </a:r>
          </a:p>
          <a:p>
            <a:r>
              <a:rPr lang="ko-KR" altLang="en-US" sz="1000"/>
              <a:t>  "orderName": "상품 3건",</a:t>
            </a:r>
          </a:p>
          <a:p>
            <a:r>
              <a:rPr lang="ko-KR" altLang="en-US" sz="1000"/>
              <a:t>  "successUrl": "https://cdpn.io/pen/debug/GgqKEWV",</a:t>
            </a:r>
          </a:p>
          <a:p>
            <a:r>
              <a:rPr lang="ko-KR" altLang="en-US" sz="1000"/>
              <a:t>  "failUrl": "https://cdpn.io/pen/debug/NPNOYLb",</a:t>
            </a:r>
          </a:p>
          <a:p>
            <a:r>
              <a:rPr lang="ko-KR" altLang="en-US" sz="1000"/>
              <a:t>  "customerEmail": "customer123@gmail.com",</a:t>
            </a:r>
          </a:p>
          <a:p>
            <a:r>
              <a:rPr lang="ko-KR" altLang="en-US" sz="1000"/>
              <a:t>  "customerName": "김토스"</a:t>
            </a:r>
          </a:p>
          <a:p>
            <a:r>
              <a:rPr lang="ko-KR" altLang="en-US" sz="1000"/>
              <a:t>}</a:t>
            </a:r>
            <a:br>
              <a:rPr lang="en-US" altLang="ko-KR" sz="1000"/>
            </a:br>
            <a:br>
              <a:rPr lang="en-US" altLang="ko-KR" sz="1000"/>
            </a:br>
            <a:r>
              <a:rPr lang="en-US" altLang="ko-KR" sz="1000"/>
              <a:t>※ orderId </a:t>
            </a:r>
            <a:r>
              <a:rPr lang="ko-KR" altLang="en-US" sz="1000"/>
              <a:t>는 </a:t>
            </a:r>
            <a:r>
              <a:rPr lang="en-US" altLang="ko-KR" sz="1000"/>
              <a:t>orderId + Random ID </a:t>
            </a:r>
            <a:r>
              <a:rPr lang="ko-KR" altLang="en-US" sz="1000"/>
              <a:t>조합</a:t>
            </a:r>
            <a:br>
              <a:rPr lang="en-US" altLang="ko-KR" sz="1000"/>
            </a:br>
            <a:r>
              <a:rPr lang="en-US" altLang="ko-KR" sz="1000"/>
              <a:t>※ payment. requestPayment(payload) </a:t>
            </a:r>
            <a:r>
              <a:rPr lang="ko-KR" altLang="en-US" sz="1000"/>
              <a:t>시 </a:t>
            </a:r>
            <a:br>
              <a:rPr lang="en-US" altLang="ko-KR" sz="1000"/>
            </a:br>
            <a:r>
              <a:rPr lang="en-US" altLang="ko-KR" sz="1000"/>
              <a:t>    Toss </a:t>
            </a:r>
            <a:r>
              <a:rPr lang="ko-KR" altLang="en-US" sz="1000"/>
              <a:t>결제 위젯을 띄움</a:t>
            </a:r>
            <a:br>
              <a:rPr lang="en-US" altLang="ko-KR" sz="1000"/>
            </a:br>
            <a:r>
              <a:rPr lang="en-US" altLang="ko-KR" sz="1000"/>
              <a:t>※ </a:t>
            </a:r>
            <a:r>
              <a:rPr lang="ko-KR" altLang="en-US" sz="1000"/>
              <a:t>결제를 완료시 </a:t>
            </a:r>
            <a:r>
              <a:rPr lang="en-US" altLang="ko-KR" sz="1000"/>
              <a:t>successUrl</a:t>
            </a:r>
            <a:r>
              <a:rPr lang="ko-KR" altLang="en-US" sz="1000"/>
              <a:t>로 실패시 </a:t>
            </a:r>
            <a:r>
              <a:rPr lang="en-US" altLang="ko-KR" sz="1000"/>
              <a:t>failUIrl </a:t>
            </a:r>
            <a:r>
              <a:rPr lang="ko-KR" altLang="en-US" sz="1000"/>
              <a:t>로 전달</a:t>
            </a:r>
          </a:p>
        </p:txBody>
      </p:sp>
    </p:spTree>
    <p:extLst>
      <p:ext uri="{BB962C8B-B14F-4D97-AF65-F5344CB8AC3E}">
        <p14:creationId xmlns:p14="http://schemas.microsoft.com/office/powerpoint/2010/main" val="2861814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D9176-02ED-D723-9D3D-DC37939D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토스페이먼츠 이론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53925-87D3-A9A2-84C7-340E7F813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182" y="2313862"/>
            <a:ext cx="4093542" cy="425753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D3BD69-132B-F141-1F97-84DB9195DC75}"/>
              </a:ext>
            </a:extLst>
          </p:cNvPr>
          <p:cNvGrpSpPr/>
          <p:nvPr/>
        </p:nvGrpSpPr>
        <p:grpSpPr>
          <a:xfrm>
            <a:off x="208465" y="1847196"/>
            <a:ext cx="4009466" cy="4292079"/>
            <a:chOff x="208465" y="1847196"/>
            <a:chExt cx="4009466" cy="42920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0C906DF-CB1D-263D-B7D2-EA2FC496A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465" y="1847196"/>
              <a:ext cx="3099143" cy="3163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9846343-0974-FAF0-6A4B-CABC552EA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646" y="2957672"/>
              <a:ext cx="2726693" cy="27931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7F48338-DD1B-82CD-49A6-87BF5F0AE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60323" y="3428999"/>
              <a:ext cx="2257608" cy="27102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195BA0-9279-9024-C496-3EAA1C70D20F}"/>
              </a:ext>
            </a:extLst>
          </p:cNvPr>
          <p:cNvSpPr txBox="1"/>
          <p:nvPr/>
        </p:nvSpPr>
        <p:spPr>
          <a:xfrm>
            <a:off x="3307608" y="1880474"/>
            <a:ext cx="3099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4. (3)</a:t>
            </a:r>
            <a:r>
              <a:rPr lang="ko-KR" altLang="en-US" sz="1000"/>
              <a:t>에 이어서 결제를 완료하였으면 </a:t>
            </a:r>
            <a:r>
              <a:rPr lang="en-US" altLang="ko-KR" sz="1000"/>
              <a:t>SuccessUrl </a:t>
            </a:r>
            <a:r>
              <a:rPr lang="ko-KR" altLang="en-US" sz="1000"/>
              <a:t>에서 </a:t>
            </a:r>
            <a:br>
              <a:rPr lang="en-US" altLang="ko-KR" sz="1000"/>
            </a:br>
            <a:r>
              <a:rPr lang="en-US" altLang="ko-KR" sz="1000"/>
              <a:t>    </a:t>
            </a:r>
            <a:r>
              <a:rPr lang="ko-KR" altLang="en-US" sz="1000"/>
              <a:t>결제 승인처리 페이지를 내려줌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6F7952-C032-8021-75DA-19772BBFACE5}"/>
              </a:ext>
            </a:extLst>
          </p:cNvPr>
          <p:cNvSpPr/>
          <p:nvPr/>
        </p:nvSpPr>
        <p:spPr>
          <a:xfrm>
            <a:off x="4634630" y="5166986"/>
            <a:ext cx="3720230" cy="583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B712F-8BCD-031B-8B4D-ED1B4262C1C2}"/>
              </a:ext>
            </a:extLst>
          </p:cNvPr>
          <p:cNvSpPr txBox="1"/>
          <p:nvPr/>
        </p:nvSpPr>
        <p:spPr>
          <a:xfrm>
            <a:off x="8599118" y="2010427"/>
            <a:ext cx="338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5.</a:t>
            </a:r>
            <a:r>
              <a:rPr lang="ko-KR" altLang="en-US" sz="900"/>
              <a:t>승인 요청 보내기 버튼 클릭시 요청의 엔드포인트</a:t>
            </a:r>
            <a:br>
              <a:rPr lang="en-US" altLang="ko-KR" sz="900"/>
            </a:br>
            <a:r>
              <a:rPr lang="ko-KR" altLang="en-US" sz="900"/>
              <a:t>에 요청 전달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BA3CFCD-A273-ADEA-3750-C3496379F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724" y="2379759"/>
            <a:ext cx="3472205" cy="3418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47208D-C62F-B64A-9673-B37E036B3E65}"/>
              </a:ext>
            </a:extLst>
          </p:cNvPr>
          <p:cNvSpPr txBox="1"/>
          <p:nvPr/>
        </p:nvSpPr>
        <p:spPr>
          <a:xfrm>
            <a:off x="8599118" y="5849655"/>
            <a:ext cx="353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주문이 유효한지 판단후 </a:t>
            </a:r>
            <a:r>
              <a:rPr lang="en-US" altLang="ko-KR" sz="1000"/>
              <a:t>amount / orderId / paymentKey</a:t>
            </a:r>
            <a:r>
              <a:rPr lang="ko-KR" altLang="en-US" sz="1000"/>
              <a:t>를 </a:t>
            </a:r>
            <a:r>
              <a:rPr lang="en-US" altLang="ko-KR" sz="1000"/>
              <a:t>body</a:t>
            </a:r>
            <a:r>
              <a:rPr lang="ko-KR" altLang="en-US" sz="1000"/>
              <a:t>에</a:t>
            </a:r>
            <a:r>
              <a:rPr lang="en-US" altLang="ko-KR" sz="1000"/>
              <a:t> secretKey </a:t>
            </a:r>
            <a:r>
              <a:rPr lang="ko-KR" altLang="en-US" sz="1000"/>
              <a:t>를 </a:t>
            </a:r>
            <a:r>
              <a:rPr lang="en-US" altLang="ko-KR" sz="1000"/>
              <a:t>header</a:t>
            </a:r>
            <a:r>
              <a:rPr lang="ko-KR" altLang="en-US" sz="1000"/>
              <a:t>에 넣고 토스페이먼츠로 전달 </a:t>
            </a:r>
          </a:p>
        </p:txBody>
      </p:sp>
    </p:spTree>
    <p:extLst>
      <p:ext uri="{BB962C8B-B14F-4D97-AF65-F5344CB8AC3E}">
        <p14:creationId xmlns:p14="http://schemas.microsoft.com/office/powerpoint/2010/main" val="2979615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2C73-EFBB-A89C-F9B1-22CCD8F0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AA7A1-75C7-3F30-3D42-F35A69D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토스페이먼츠 이론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39D2052-0D3D-A909-88B9-269522E32430}"/>
              </a:ext>
            </a:extLst>
          </p:cNvPr>
          <p:cNvGrpSpPr/>
          <p:nvPr/>
        </p:nvGrpSpPr>
        <p:grpSpPr>
          <a:xfrm>
            <a:off x="688274" y="1884979"/>
            <a:ext cx="4294157" cy="4227721"/>
            <a:chOff x="688274" y="1884979"/>
            <a:chExt cx="4294157" cy="422772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3C0FCC5-BD4B-2717-DDE4-0D632FB70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274" y="1884979"/>
              <a:ext cx="4294157" cy="42277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4C7D97-9FCD-886E-CA69-C21A4FC1C750}"/>
                </a:ext>
              </a:extLst>
            </p:cNvPr>
            <p:cNvSpPr/>
            <p:nvPr/>
          </p:nvSpPr>
          <p:spPr>
            <a:xfrm>
              <a:off x="826718" y="5899759"/>
              <a:ext cx="2655518" cy="1565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8048203-4717-5ED3-3689-EAC33CB9B7BE}"/>
              </a:ext>
            </a:extLst>
          </p:cNvPr>
          <p:cNvSpPr txBox="1"/>
          <p:nvPr/>
        </p:nvSpPr>
        <p:spPr>
          <a:xfrm>
            <a:off x="5079304" y="1884979"/>
            <a:ext cx="668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엔드포인트 </a:t>
            </a:r>
            <a:r>
              <a:rPr lang="en-US" altLang="ko-KR" sz="900"/>
              <a:t>Url </a:t>
            </a:r>
            <a:r>
              <a:rPr lang="ko-KR" altLang="en-US" sz="900"/>
              <a:t>로직 마지막에 </a:t>
            </a:r>
            <a:r>
              <a:rPr lang="en-US" altLang="ko-KR" sz="900"/>
              <a:t>marketFacade.requestPayment()</a:t>
            </a:r>
            <a:r>
              <a:rPr lang="ko-KR" altLang="en-US" sz="900"/>
              <a:t> 를 보면 어디서 많이 본 </a:t>
            </a:r>
            <a:br>
              <a:rPr lang="en-US" altLang="ko-KR" sz="900"/>
            </a:br>
            <a:r>
              <a:rPr lang="ko-KR" altLang="en-US" sz="900"/>
              <a:t>서비스 단과 메소드가 있다</a:t>
            </a:r>
            <a:r>
              <a:rPr lang="en-US" altLang="ko-KR" sz="900"/>
              <a:t>.</a:t>
            </a:r>
            <a:br>
              <a:rPr lang="en-US" altLang="ko-KR" sz="900"/>
            </a:br>
            <a:br>
              <a:rPr lang="en-US" altLang="ko-KR" sz="900"/>
            </a:br>
            <a:r>
              <a:rPr lang="ko-KR" altLang="en-US" sz="900"/>
              <a:t> 그렇다</a:t>
            </a:r>
            <a:r>
              <a:rPr lang="en-US" altLang="ko-KR" sz="900"/>
              <a:t>. 35</a:t>
            </a:r>
            <a:r>
              <a:rPr lang="ko-KR" altLang="en-US" sz="900"/>
              <a:t>강에서 작성했던 주문 </a:t>
            </a:r>
            <a:r>
              <a:rPr lang="en-US" altLang="ko-KR" sz="900"/>
              <a:t>- </a:t>
            </a:r>
            <a:r>
              <a:rPr lang="ko-KR" altLang="en-US" sz="900"/>
              <a:t>결제 로직은 </a:t>
            </a:r>
            <a:r>
              <a:rPr lang="en-US" altLang="ko-KR" sz="900"/>
              <a:t>PG</a:t>
            </a:r>
            <a:r>
              <a:rPr lang="ko-KR" altLang="en-US" sz="900"/>
              <a:t>사 결제가 실제로 이루어지고 난 이후 수행되는 로직이다</a:t>
            </a:r>
            <a:r>
              <a:rPr lang="en-US" altLang="ko-KR" sz="900"/>
              <a:t>.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558873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E4371E-C42A-F441-4E09-6B0377E8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27" y="0"/>
            <a:ext cx="7059367" cy="685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FA9BCE7-1470-AF82-AD17-A361A6C1930F}"/>
              </a:ext>
            </a:extLst>
          </p:cNvPr>
          <p:cNvGrpSpPr/>
          <p:nvPr/>
        </p:nvGrpSpPr>
        <p:grpSpPr>
          <a:xfrm>
            <a:off x="6391468" y="3741577"/>
            <a:ext cx="3219063" cy="1828800"/>
            <a:chOff x="6391468" y="3741577"/>
            <a:chExt cx="3219063" cy="182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0588F33-3AEE-29CC-64D7-55AF8821F345}"/>
                </a:ext>
              </a:extLst>
            </p:cNvPr>
            <p:cNvSpPr/>
            <p:nvPr/>
          </p:nvSpPr>
          <p:spPr>
            <a:xfrm>
              <a:off x="6391468" y="3741577"/>
              <a:ext cx="2174033" cy="1828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F681559C-2B8B-06B6-2AED-40B17E165C2E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8565501" y="4590661"/>
              <a:ext cx="1045030" cy="653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FC0B6E5-E5CA-8E90-E40E-5E22F6DE7ED2}"/>
              </a:ext>
            </a:extLst>
          </p:cNvPr>
          <p:cNvSpPr txBox="1"/>
          <p:nvPr/>
        </p:nvSpPr>
        <p:spPr>
          <a:xfrm>
            <a:off x="9610531" y="4359828"/>
            <a:ext cx="2136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해당 부분이 </a:t>
            </a:r>
            <a:r>
              <a:rPr lang="en-US" altLang="ko-KR" sz="1200">
                <a:solidFill>
                  <a:srgbClr val="FF0000"/>
                </a:solidFill>
              </a:rPr>
              <a:t>35</a:t>
            </a:r>
            <a:r>
              <a:rPr lang="ko-KR" altLang="en-US" sz="1200">
                <a:solidFill>
                  <a:srgbClr val="FF0000"/>
                </a:solidFill>
              </a:rPr>
              <a:t>강에 해당하는 부분</a:t>
            </a:r>
          </a:p>
        </p:txBody>
      </p:sp>
    </p:spTree>
    <p:extLst>
      <p:ext uri="{BB962C8B-B14F-4D97-AF65-F5344CB8AC3E}">
        <p14:creationId xmlns:p14="http://schemas.microsoft.com/office/powerpoint/2010/main" val="1995154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CB3B-A836-25AA-E158-AEA7E306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19265-E245-28BD-165A-6EF6F35A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토스페이먼츠 연동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C95A4-B0BC-3E34-FC1F-F8448FB38054}"/>
              </a:ext>
            </a:extLst>
          </p:cNvPr>
          <p:cNvSpPr txBox="1"/>
          <p:nvPr/>
        </p:nvSpPr>
        <p:spPr>
          <a:xfrm>
            <a:off x="774440" y="1890676"/>
            <a:ext cx="9961362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토스페이먼츠 연동을 위한 설정 변경 및 파일작성</a:t>
            </a:r>
            <a:br>
              <a:rPr lang="en-US" altLang="ko-KR" sz="1200"/>
            </a:br>
            <a:r>
              <a:rPr lang="en-US" altLang="ko-KR" sz="1200"/>
              <a:t>            ApiV1OrderController </a:t>
            </a:r>
            <a:r>
              <a:rPr lang="ko-KR" altLang="en-US" sz="1200"/>
              <a:t>의 </a:t>
            </a:r>
            <a:r>
              <a:rPr lang="en-US" altLang="ko-KR" sz="1200"/>
              <a:t>confirmPaymentByTossPayments </a:t>
            </a:r>
            <a:r>
              <a:rPr lang="ko-KR" altLang="en-US" sz="1200"/>
              <a:t>메소드에서</a:t>
            </a:r>
            <a:br>
              <a:rPr lang="en-US" altLang="ko-KR" sz="1200"/>
            </a:br>
            <a:r>
              <a:rPr lang="en-US" altLang="ko-KR" sz="1200"/>
              <a:t>	order</a:t>
            </a:r>
            <a:r>
              <a:rPr lang="ko-KR" altLang="en-US" sz="1200"/>
              <a:t>의 </a:t>
            </a:r>
            <a:r>
              <a:rPr lang="en-US" altLang="ko-KR" sz="1200"/>
              <a:t>isCanceled() , isPaid(), isPaymentInProgress()  </a:t>
            </a:r>
            <a:r>
              <a:rPr lang="ko-KR" altLang="en-US" sz="1200"/>
              <a:t>상태조건 확인 </a:t>
            </a:r>
            <a:r>
              <a:rPr lang="en-US" altLang="ko-KR" sz="1200"/>
              <a:t>true</a:t>
            </a:r>
            <a:r>
              <a:rPr lang="ko-KR" altLang="en-US" sz="1200"/>
              <a:t>면 </a:t>
            </a:r>
            <a:r>
              <a:rPr lang="en-US" altLang="ko-KR" sz="1200"/>
              <a:t>return</a:t>
            </a:r>
            <a:br>
              <a:rPr lang="en-US" altLang="ko-KR" sz="1200"/>
            </a:br>
            <a:r>
              <a:rPr lang="en-US" altLang="ko-KR" sz="1200"/>
              <a:t>	CashApiClient </a:t>
            </a:r>
            <a:r>
              <a:rPr lang="ko-KR" altLang="en-US" sz="1200"/>
              <a:t>로 </a:t>
            </a:r>
            <a:r>
              <a:rPr lang="en-US" altLang="ko-KR" sz="1200"/>
              <a:t>BuyerId </a:t>
            </a:r>
            <a:r>
              <a:rPr lang="ko-KR" altLang="en-US" sz="1200"/>
              <a:t>의 지갑을 가져와 잔액확인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구매액 잔액 비교 구매액이 크면 </a:t>
            </a:r>
            <a:r>
              <a:rPr lang="en-US" altLang="ko-KR" sz="1200"/>
              <a:t>Exception</a:t>
            </a:r>
          </a:p>
          <a:p>
            <a:r>
              <a:rPr lang="en-US" altLang="ko-KR" sz="1200"/>
              <a:t>	</a:t>
            </a:r>
            <a:r>
              <a:rPr lang="ko-KR" altLang="en-US" sz="1200"/>
              <a:t>주문 번호 확인 로직</a:t>
            </a:r>
            <a:r>
              <a:rPr lang="en-US" altLang="ko-KR" sz="1200"/>
              <a:t>(</a:t>
            </a:r>
            <a:r>
              <a:rPr lang="ko-KR" altLang="en-US" sz="1200"/>
              <a:t>교안 </a:t>
            </a:r>
            <a:r>
              <a:rPr lang="en-US" altLang="ko-KR" sz="1200"/>
              <a:t>Commit </a:t>
            </a:r>
            <a:r>
              <a:rPr lang="ko-KR" altLang="en-US" sz="1200"/>
              <a:t>코드 복제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en-US" altLang="ko-KR" sz="1200"/>
              <a:t>    	 tossPaymentsService.confirmCardPayment( ... ) </a:t>
            </a:r>
            <a:r>
              <a:rPr lang="ko-KR" altLang="en-US" sz="1200"/>
              <a:t>요청</a:t>
            </a:r>
            <a:br>
              <a:rPr lang="en-US" altLang="ko-KR" sz="1200"/>
            </a:br>
            <a:r>
              <a:rPr lang="en-US" altLang="ko-KR" sz="1200"/>
              <a:t>	order.requestPayment( order, reqBody.amount()); </a:t>
            </a:r>
            <a:r>
              <a:rPr lang="en-US" altLang="ko-KR" sz="1200">
                <a:sym typeface="Wingdings" panose="05000000000000000000" pitchFamily="2" charset="2"/>
              </a:rPr>
              <a:t> 35</a:t>
            </a:r>
            <a:r>
              <a:rPr lang="ko-KR" altLang="en-US" sz="1200">
                <a:sym typeface="Wingdings" panose="05000000000000000000" pitchFamily="2" charset="2"/>
              </a:rPr>
              <a:t>강 코드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ApiV1WalletController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getItemByHolder(holderId)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ApiV1OrderController ("/api/v1/market/orders")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record ConfirmPaymentByTossPaymentsReqBody(</a:t>
            </a:r>
          </a:p>
          <a:p>
            <a:pPr lvl="1"/>
            <a:r>
              <a:rPr lang="en-US" altLang="ko-KR" sz="1100">
                <a:ea typeface="+mj-ea"/>
              </a:rPr>
              <a:t>      paymentKey, orderId, amount</a:t>
            </a:r>
          </a:p>
          <a:p>
            <a:pPr lvl="1"/>
            <a:r>
              <a:rPr lang="en-US" altLang="ko-KR" sz="1100">
                <a:ea typeface="+mj-ea"/>
              </a:rPr>
              <a:t>)</a:t>
            </a:r>
            <a:r>
              <a:rPr lang="en-US" altLang="ko-KR" sz="1100"/>
              <a:t>	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@CrossOrigin(            </a:t>
            </a:r>
            <a:br>
              <a:rPr lang="en-US" altLang="ko-KR" sz="1100"/>
            </a:br>
            <a:r>
              <a:rPr lang="en-US" altLang="ko-KR" sz="1100"/>
              <a:t>	origins = {                    </a:t>
            </a:r>
            <a:br>
              <a:rPr lang="en-US" altLang="ko-KR" sz="1100"/>
            </a:br>
            <a:r>
              <a:rPr lang="en-US" altLang="ko-KR" sz="1100"/>
              <a:t>		"https://cdpn.io",                    </a:t>
            </a:r>
            <a:br>
              <a:rPr lang="en-US" altLang="ko-KR" sz="1100"/>
            </a:br>
            <a:r>
              <a:rPr lang="en-US" altLang="ko-KR" sz="1100"/>
              <a:t>		</a:t>
            </a:r>
            <a:r>
              <a:rPr lang="en-US" altLang="ko-KR" sz="1100">
                <a:hlinkClick r:id="rId2"/>
              </a:rPr>
              <a:t>https://codepen.io</a:t>
            </a:r>
            <a:br>
              <a:rPr lang="en-US" altLang="ko-KR" sz="1100"/>
            </a:br>
            <a:r>
              <a:rPr lang="en-US" altLang="ko-KR" sz="1100"/>
              <a:t>            },            </a:t>
            </a:r>
            <a:br>
              <a:rPr lang="en-US" altLang="ko-KR" sz="1100"/>
            </a:br>
            <a:r>
              <a:rPr lang="en-US" altLang="ko-KR" sz="1100"/>
              <a:t>	allowedHeaders = "*",            </a:t>
            </a:r>
            <a:br>
              <a:rPr lang="en-US" altLang="ko-KR" sz="1100"/>
            </a:br>
            <a:r>
              <a:rPr lang="en-US" altLang="ko-KR" sz="1100"/>
              <a:t>	methods = {RequestMethod.POST}    </a:t>
            </a:r>
          </a:p>
          <a:p>
            <a:pPr lvl="1"/>
            <a:r>
              <a:rPr lang="en-US" altLang="ko-KR" sz="1100"/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@PostMapping("/{id}/payment/confirm/by/tossPayments")</a:t>
            </a:r>
            <a:br>
              <a:rPr lang="en-US" altLang="ko-KR" sz="1100"/>
            </a:br>
            <a:r>
              <a:rPr lang="en-US" altLang="ko-KR" sz="1100"/>
              <a:t>RsData&lt;Void&gt; confirmPaymentByTossPayments( </a:t>
            </a:r>
            <a:br>
              <a:rPr lang="en-US" altLang="ko-KR" sz="1100"/>
            </a:br>
            <a:r>
              <a:rPr lang="en-US" altLang="ko-KR" sz="1100"/>
              <a:t>       id, ConfirmPaymentByTossPaymentsReqBody reqBody</a:t>
            </a:r>
          </a:p>
          <a:p>
            <a:pPr lvl="1"/>
            <a:r>
              <a:rPr lang="en-US" altLang="ko-KR" sz="1100"/>
              <a:t>) 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9E2B4-5268-73DC-B3B1-B07C7FFCD63C}"/>
              </a:ext>
            </a:extLst>
          </p:cNvPr>
          <p:cNvSpPr txBox="1"/>
          <p:nvPr/>
        </p:nvSpPr>
        <p:spPr>
          <a:xfrm>
            <a:off x="7357189" y="1890676"/>
            <a:ext cx="4418043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Order </a:t>
            </a:r>
            <a:r>
              <a:rPr lang="ko-KR" altLang="en-US" sz="1600" b="1"/>
              <a:t>정보 변경</a:t>
            </a:r>
            <a:endParaRPr lang="en-US" altLang="ko-KR" sz="1600" b="1"/>
          </a:p>
          <a:p>
            <a:pPr marL="171450" indent="-171450">
              <a:buFontTx/>
              <a:buChar char="-"/>
            </a:pPr>
            <a:r>
              <a:rPr lang="en-US" altLang="ko-KR" sz="1200"/>
              <a:t>private</a:t>
            </a:r>
            <a:r>
              <a:rPr lang="ko-KR" altLang="en-US" sz="1200"/>
              <a:t> </a:t>
            </a:r>
            <a:r>
              <a:rPr lang="en-US" altLang="ko-KR" sz="1200"/>
              <a:t>LocalDateTime</a:t>
            </a:r>
            <a:r>
              <a:rPr lang="ko-KR" altLang="en-US" sz="1200"/>
              <a:t> </a:t>
            </a:r>
            <a:r>
              <a:rPr lang="en-US" altLang="ko-KR" sz="1200"/>
              <a:t>cancelDate;</a:t>
            </a:r>
            <a:endParaRPr lang="en-US" altLang="ko-KR"/>
          </a:p>
          <a:p>
            <a:r>
              <a:rPr lang="ko-KR" altLang="en-US" sz="1600" b="1"/>
              <a:t>★ </a:t>
            </a:r>
            <a:r>
              <a:rPr lang="en-US" altLang="ko-KR" sz="1600" b="1"/>
              <a:t>WalletDto </a:t>
            </a:r>
            <a:r>
              <a:rPr lang="ko-KR" altLang="en-US" sz="1600" b="1"/>
              <a:t>정보</a:t>
            </a:r>
            <a:endParaRPr lang="en-US" altLang="ko-KR" sz="1600" b="1"/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int id;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createDate;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LocalDateTime modifyDate;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int holderId;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String holderName;   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long balance;</a:t>
            </a:r>
          </a:p>
          <a:p>
            <a:r>
              <a:rPr lang="ko-KR" altLang="en-US" sz="1200"/>
              <a:t>생성자 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WalletDto (Wallet)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600"/>
              <a:t>★ </a:t>
            </a:r>
            <a:r>
              <a:rPr lang="en-US" altLang="ko-KR" sz="1600"/>
              <a:t>CashApiClient </a:t>
            </a:r>
            <a:r>
              <a:rPr lang="ko-KR" altLang="en-US" sz="1600"/>
              <a:t>정보</a:t>
            </a:r>
            <a:endParaRPr lang="en-US" altLang="ko-KR" sz="1600"/>
          </a:p>
          <a:p>
            <a:pPr marL="171450" indent="-171450">
              <a:buFontTx/>
              <a:buChar char="-"/>
            </a:pPr>
            <a:r>
              <a:rPr lang="en-US" altLang="ko-KR" sz="1100">
                <a:hlinkClick r:id="rId3"/>
              </a:rPr>
              <a:t>http://localhost:8080/api/v1/cash</a:t>
            </a:r>
            <a:r>
              <a:rPr lang="en-US" altLang="ko-KR" sz="1100"/>
              <a:t>/wallets/by-holder/{holderId}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E55AE-A1E0-A44A-2CFD-0C9314329AB7}"/>
              </a:ext>
            </a:extLst>
          </p:cNvPr>
          <p:cNvSpPr txBox="1"/>
          <p:nvPr/>
        </p:nvSpPr>
        <p:spPr>
          <a:xfrm>
            <a:off x="4558547" y="3583447"/>
            <a:ext cx="35128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※ </a:t>
            </a:r>
            <a:r>
              <a:rPr lang="ko-KR" altLang="en-US" sz="1100" b="1"/>
              <a:t>수정 파일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en-US" altLang="ko-KR" sz="1100"/>
              <a:t>Order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isCanceled()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isPaymentInProgress()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1D39F-A624-CB0D-DBDB-B794C27C4B96}"/>
              </a:ext>
            </a:extLst>
          </p:cNvPr>
          <p:cNvSpPr txBox="1"/>
          <p:nvPr/>
        </p:nvSpPr>
        <p:spPr>
          <a:xfrm>
            <a:off x="5904410" y="4891497"/>
            <a:ext cx="609755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/>
              <a:t>※ </a:t>
            </a:r>
            <a:r>
              <a:rPr lang="ko-KR" altLang="en-US" sz="1100" b="1"/>
              <a:t>생성 파일</a:t>
            </a: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WalletDto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CashApiClient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ea typeface="+mj-ea"/>
              </a:rPr>
              <a:t>(long) getBalanceByHolderId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(WalletDto) getItemByHolderId </a:t>
            </a:r>
          </a:p>
          <a:p>
            <a:pPr marL="628650" lvl="1" indent="-171450">
              <a:buFontTx/>
              <a:buChar char="-"/>
            </a:pP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TossPaymentService (</a:t>
            </a:r>
            <a:r>
              <a:rPr lang="ko-KR" altLang="en-US" sz="1100">
                <a:ea typeface="+mj-ea"/>
              </a:rPr>
              <a:t>복사 </a:t>
            </a:r>
            <a:r>
              <a:rPr lang="en-US" altLang="ko-KR" sz="1100">
                <a:ea typeface="+mj-ea"/>
              </a:rPr>
              <a:t>- Tosspayment </a:t>
            </a:r>
            <a:r>
              <a:rPr lang="ko-KR" altLang="en-US" sz="1100">
                <a:ea typeface="+mj-ea"/>
              </a:rPr>
              <a:t>제공</a:t>
            </a:r>
            <a:r>
              <a:rPr lang="en-US" altLang="ko-KR" sz="1100">
                <a:ea typeface="+mj-ea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application.yml ( </a:t>
            </a:r>
            <a:r>
              <a:rPr lang="ko-KR" altLang="en-US" sz="1100">
                <a:ea typeface="+mj-ea"/>
              </a:rPr>
              <a:t>강의 설정에 맞춰 작성</a:t>
            </a:r>
            <a:r>
              <a:rPr lang="en-US" altLang="ko-KR" sz="1100">
                <a:ea typeface="+mj-ea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.env (</a:t>
            </a:r>
            <a:r>
              <a:rPr lang="ko-KR" altLang="en-US" sz="1100">
                <a:ea typeface="+mj-ea"/>
              </a:rPr>
              <a:t>강의 설정에 맞춰 작성</a:t>
            </a:r>
            <a:r>
              <a:rPr lang="en-US" altLang="ko-KR" sz="1100"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6932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2A28C-CFAF-3F41-07DA-C9C5A870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36</a:t>
            </a:r>
            <a:r>
              <a:rPr lang="ko-KR" altLang="en-US" sz="4000"/>
              <a:t>강 토스페이먼츠 연동 </a:t>
            </a:r>
            <a:r>
              <a:rPr lang="en-US" altLang="ko-KR" sz="4000"/>
              <a:t>-application.yml, .env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9E9D93-EF4E-E888-93C0-F8131EF16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806"/>
          <a:stretch>
            <a:fillRect/>
          </a:stretch>
        </p:blipFill>
        <p:spPr>
          <a:xfrm>
            <a:off x="179851" y="1924820"/>
            <a:ext cx="3530092" cy="40281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57EF06D-D86E-641B-000A-DEE421B5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98" b="681"/>
          <a:stretch>
            <a:fillRect/>
          </a:stretch>
        </p:blipFill>
        <p:spPr>
          <a:xfrm>
            <a:off x="3835221" y="1924819"/>
            <a:ext cx="2888297" cy="15041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7642E7-2414-C9BE-3753-7E4F38F34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159" y="4568599"/>
            <a:ext cx="5334744" cy="1000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7D7115-0420-8CDA-1C9C-93721836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132" y="1967537"/>
            <a:ext cx="4755197" cy="23988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01BCFC5-842C-A280-812C-D3B3806FC6B8}"/>
              </a:ext>
            </a:extLst>
          </p:cNvPr>
          <p:cNvSpPr/>
          <p:nvPr/>
        </p:nvSpPr>
        <p:spPr>
          <a:xfrm>
            <a:off x="8864082" y="3349690"/>
            <a:ext cx="2080726" cy="1959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62A083-AD9C-800E-87D1-9B96C0841404}"/>
              </a:ext>
            </a:extLst>
          </p:cNvPr>
          <p:cNvCxnSpPr>
            <a:stCxn id="9" idx="2"/>
          </p:cNvCxnSpPr>
          <p:nvPr/>
        </p:nvCxnSpPr>
        <p:spPr>
          <a:xfrm flipH="1">
            <a:off x="8117633" y="3545633"/>
            <a:ext cx="1786812" cy="1726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9708A879-2F3D-93F0-3233-71C9E6E98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159" y="5666396"/>
            <a:ext cx="1962424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02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3330-A0AC-45A2-4147-A27EA074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DD76E-A00E-C2E3-C7E8-43EF04C9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36</a:t>
            </a:r>
            <a:r>
              <a:rPr lang="ko-KR" altLang="en-US" sz="4000"/>
              <a:t>강 토스페이먼츠 연동 </a:t>
            </a:r>
            <a:r>
              <a:rPr lang="en-US" altLang="ko-KR" sz="4000"/>
              <a:t>- TossPaymentService</a:t>
            </a:r>
            <a:endParaRPr lang="ko-KR" altLang="en-US" sz="4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5C94E24-86F0-D5A0-3F11-EFA9066E583F}"/>
              </a:ext>
            </a:extLst>
          </p:cNvPr>
          <p:cNvGrpSpPr/>
          <p:nvPr/>
        </p:nvGrpSpPr>
        <p:grpSpPr>
          <a:xfrm>
            <a:off x="612410" y="1958617"/>
            <a:ext cx="2905530" cy="3258005"/>
            <a:chOff x="612410" y="1958617"/>
            <a:chExt cx="2905530" cy="325800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280E217-7F7F-BC15-8423-7F79337C6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410" y="1958617"/>
              <a:ext cx="2905530" cy="325800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7CABE46-37A1-3ED3-3EE8-6FB890781C4C}"/>
                </a:ext>
              </a:extLst>
            </p:cNvPr>
            <p:cNvSpPr/>
            <p:nvPr/>
          </p:nvSpPr>
          <p:spPr>
            <a:xfrm>
              <a:off x="1399592" y="4945224"/>
              <a:ext cx="1380930" cy="2713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11A08A3-101A-9ED4-04B5-B568DF0F708D}"/>
              </a:ext>
            </a:extLst>
          </p:cNvPr>
          <p:cNvSpPr txBox="1"/>
          <p:nvPr/>
        </p:nvSpPr>
        <p:spPr>
          <a:xfrm>
            <a:off x="3648269" y="1958617"/>
            <a:ext cx="771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교안 제공 </a:t>
            </a:r>
            <a:r>
              <a:rPr lang="en-US" altLang="ko-KR"/>
              <a:t>git log</a:t>
            </a:r>
            <a:r>
              <a:rPr lang="ko-KR" altLang="en-US"/>
              <a:t>에서 복사 </a:t>
            </a:r>
            <a:r>
              <a:rPr lang="en-US" altLang="ko-KR"/>
              <a:t>- </a:t>
            </a:r>
            <a:r>
              <a:rPr lang="ko-KR" altLang="en-US"/>
              <a:t>스킵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C69E2DE-458C-BE5C-2BFF-AFA1620F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269" y="2425959"/>
            <a:ext cx="4545391" cy="364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06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1C096-302C-5543-880B-2E3339F5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토스페이먼츠 주요 코드 요약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8C47D8-ADBF-98A3-DA2D-904098480D29}"/>
              </a:ext>
            </a:extLst>
          </p:cNvPr>
          <p:cNvGrpSpPr/>
          <p:nvPr/>
        </p:nvGrpSpPr>
        <p:grpSpPr>
          <a:xfrm>
            <a:off x="380780" y="1865310"/>
            <a:ext cx="4181890" cy="4706087"/>
            <a:chOff x="380779" y="1865310"/>
            <a:chExt cx="4563113" cy="54775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E4A9A58-72F2-3ED5-B27C-B80015902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79" y="1865310"/>
              <a:ext cx="4563112" cy="279121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836D445-BBDC-7CB5-DDA7-91AE006F1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780" y="4656525"/>
              <a:ext cx="4563112" cy="2686348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8B8675-57F5-8EE4-C298-605E775C17F9}"/>
              </a:ext>
            </a:extLst>
          </p:cNvPr>
          <p:cNvGrpSpPr/>
          <p:nvPr/>
        </p:nvGrpSpPr>
        <p:grpSpPr>
          <a:xfrm>
            <a:off x="4795728" y="1931516"/>
            <a:ext cx="4890442" cy="4252427"/>
            <a:chOff x="4721084" y="1865310"/>
            <a:chExt cx="4890442" cy="425242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47E05E-350D-A85F-4370-C090E1450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1084" y="1865310"/>
              <a:ext cx="4890442" cy="261171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C6F4D91-0798-A07A-6570-31AD71214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74"/>
            <a:stretch>
              <a:fillRect/>
            </a:stretch>
          </p:blipFill>
          <p:spPr>
            <a:xfrm>
              <a:off x="4721084" y="4477028"/>
              <a:ext cx="4665513" cy="16407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878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51F03-49F7-EC57-44EC-BAA18569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36</a:t>
            </a:r>
            <a:r>
              <a:rPr lang="ko-KR" altLang="en-US" sz="3600"/>
              <a:t>강 토스페이먼츠 주요 코드 요약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00801E-6670-BC17-8CC8-EBF7CB863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2" y="1855980"/>
            <a:ext cx="5033991" cy="2352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8F38C-090D-FF06-EC3E-6B11B0775121}"/>
              </a:ext>
            </a:extLst>
          </p:cNvPr>
          <p:cNvSpPr txBox="1"/>
          <p:nvPr/>
        </p:nvSpPr>
        <p:spPr>
          <a:xfrm>
            <a:off x="5850294" y="1940767"/>
            <a:ext cx="56730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결국 </a:t>
            </a:r>
            <a:r>
              <a:rPr lang="en-US" altLang="ko-KR" sz="1400"/>
              <a:t>- ApiV1OrderController </a:t>
            </a:r>
            <a:r>
              <a:rPr lang="ko-KR" altLang="en-US" sz="1400"/>
              <a:t>가 메인 결제 로직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주문이 가능한지 체크 후</a:t>
            </a:r>
            <a:endParaRPr lang="en-US" altLang="ko-KR" sz="1400"/>
          </a:p>
          <a:p>
            <a:r>
              <a:rPr lang="en-US" altLang="ko-KR" sz="1400"/>
              <a:t>paymentId,</a:t>
            </a:r>
            <a:r>
              <a:rPr lang="ko-KR" altLang="en-US" sz="1400"/>
              <a:t> </a:t>
            </a:r>
            <a:r>
              <a:rPr lang="en-US" altLang="ko-KR" sz="1400"/>
              <a:t>OrderId,</a:t>
            </a:r>
            <a:r>
              <a:rPr lang="ko-KR" altLang="en-US" sz="1400"/>
              <a:t> </a:t>
            </a:r>
            <a:r>
              <a:rPr lang="en-US" altLang="ko-KR" sz="1400"/>
              <a:t>amount</a:t>
            </a:r>
            <a:r>
              <a:rPr lang="ko-KR" altLang="en-US" sz="1400"/>
              <a:t>로 결제 요청</a:t>
            </a:r>
            <a:endParaRPr lang="en-US" altLang="ko-KR" sz="1400"/>
          </a:p>
          <a:p>
            <a:r>
              <a:rPr lang="ko-KR" altLang="en-US" sz="1400"/>
              <a:t>이후 </a:t>
            </a:r>
            <a:r>
              <a:rPr lang="en-US" altLang="ko-KR" sz="1400"/>
              <a:t>order.requestPayment()</a:t>
            </a:r>
            <a:r>
              <a:rPr lang="ko-KR" altLang="en-US" sz="1400"/>
              <a:t> 메소드 진행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342474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6F980-9E87-59F3-C4F4-3DE47BDC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37</a:t>
            </a:r>
            <a:r>
              <a:rPr lang="ko-KR" altLang="en-US" sz="4000"/>
              <a:t>강 설정정보 </a:t>
            </a:r>
            <a:r>
              <a:rPr lang="en-US" altLang="ko-KR" sz="4000"/>
              <a:t>application.yaml </a:t>
            </a:r>
            <a:r>
              <a:rPr lang="ko-KR" altLang="en-US" sz="4000"/>
              <a:t>관리하기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0EDE0-423B-7571-4F44-B02190D58062}"/>
              </a:ext>
            </a:extLst>
          </p:cNvPr>
          <p:cNvSpPr txBox="1"/>
          <p:nvPr/>
        </p:nvSpPr>
        <p:spPr>
          <a:xfrm>
            <a:off x="718457" y="1890676"/>
            <a:ext cx="99613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정책이나 도메인 주소 같은건 기업 사정에 의해 변경될 수 있다</a:t>
            </a:r>
            <a:r>
              <a:rPr lang="en-US" altLang="ko-KR" sz="1200"/>
              <a:t>. </a:t>
            </a:r>
            <a:r>
              <a:rPr lang="ko-KR" altLang="en-US" sz="1200"/>
              <a:t>이러한 코드들은 </a:t>
            </a:r>
            <a:r>
              <a:rPr lang="en-US" altLang="ko-KR" sz="1200"/>
              <a:t>application.yaml </a:t>
            </a:r>
            <a:r>
              <a:rPr lang="ko-KR" altLang="en-US" sz="1200"/>
              <a:t>파일로 관리해서 유지보수를 간편하게 </a:t>
            </a:r>
            <a:endParaRPr lang="en-US" altLang="ko-KR" sz="1200"/>
          </a:p>
          <a:p>
            <a:r>
              <a:rPr lang="en-US" altLang="ko-KR" sz="1200"/>
              <a:t>	</a:t>
            </a:r>
            <a:r>
              <a:rPr lang="ko-KR" altLang="en-US" sz="1200"/>
              <a:t>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1.  </a:t>
            </a:r>
            <a:r>
              <a:rPr lang="en-US" altLang="ko-KR" sz="1200">
                <a:hlinkClick r:id="rId2"/>
              </a:rPr>
              <a:t>http://localhost:8080</a:t>
            </a:r>
            <a:r>
              <a:rPr lang="en-US" altLang="ko-KR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 baseURL </a:t>
            </a:r>
            <a:r>
              <a:rPr lang="ko-KR" altLang="en-US" sz="1200">
                <a:sym typeface="Wingdings" panose="05000000000000000000" pitchFamily="2" charset="2"/>
              </a:rPr>
              <a:t>관리 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	2. Policy </a:t>
            </a:r>
            <a:r>
              <a:rPr lang="ko-KR" altLang="en-US" sz="1200">
                <a:sym typeface="Wingdings" panose="05000000000000000000" pitchFamily="2" charset="2"/>
              </a:rPr>
              <a:t>정책 관리 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		2-1. </a:t>
            </a:r>
            <a:r>
              <a:rPr lang="ko-KR" altLang="en-US" sz="1200">
                <a:sym typeface="Wingdings" panose="05000000000000000000" pitchFamily="2" charset="2"/>
              </a:rPr>
              <a:t>비밀번호 정책 </a:t>
            </a:r>
            <a:r>
              <a:rPr lang="en-US" altLang="ko-KR" sz="1200">
                <a:sym typeface="Wingdings" panose="05000000000000000000" pitchFamily="2" charset="2"/>
              </a:rPr>
              <a:t>90</a:t>
            </a:r>
            <a:r>
              <a:rPr lang="ko-KR" altLang="en-US" sz="1200">
                <a:sym typeface="Wingdings" panose="05000000000000000000" pitchFamily="2" charset="2"/>
              </a:rPr>
              <a:t>일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		2-2. market </a:t>
            </a:r>
            <a:r>
              <a:rPr lang="ko-KR" altLang="en-US" sz="1200">
                <a:sym typeface="Wingdings" panose="05000000000000000000" pitchFamily="2" charset="2"/>
              </a:rPr>
              <a:t>정산 비율 </a:t>
            </a:r>
            <a:r>
              <a:rPr lang="en-US" altLang="ko-KR" sz="1200">
                <a:sym typeface="Wingdings" panose="05000000000000000000" pitchFamily="2" charset="2"/>
              </a:rPr>
              <a:t>90%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		2-3. holding </a:t>
            </a:r>
            <a:r>
              <a:rPr lang="ko-KR" altLang="en-US" sz="1200">
                <a:sym typeface="Wingdings" panose="05000000000000000000" pitchFamily="2" charset="2"/>
              </a:rPr>
              <a:t>계좌</a:t>
            </a:r>
            <a:r>
              <a:rPr lang="en-US" altLang="ko-KR" sz="1200">
                <a:sym typeface="Wingdings" panose="05000000000000000000" pitchFamily="2" charset="2"/>
              </a:rPr>
              <a:t>(Member)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id =2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	</a:t>
            </a:r>
          </a:p>
          <a:p>
            <a:endParaRPr lang="en-US" altLang="ko-KR" sz="1200"/>
          </a:p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/>
              <a:t>CashPolicy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application.yml </a:t>
            </a:r>
            <a:r>
              <a:rPr lang="ko-KR" altLang="en-US" sz="1100"/>
              <a:t>설정 값 </a:t>
            </a:r>
            <a:r>
              <a:rPr lang="en-US" altLang="ko-KR" sz="1100"/>
              <a:t>: custom.global.holdingMemberId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setHoldingMemberId(int id)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application.yml </a:t>
            </a:r>
            <a:r>
              <a:rPr lang="ko-KR" altLang="en-US" sz="1100"/>
              <a:t>설정 값 </a:t>
            </a:r>
            <a:r>
              <a:rPr lang="en-US" altLang="ko-KR" sz="1100"/>
              <a:t>: custom.market.product.payoutRate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setProductPayoutRate(double rate)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MemberPolicy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application.yml </a:t>
            </a:r>
            <a:r>
              <a:rPr lang="ko-KR" altLang="en-US" sz="1100"/>
              <a:t>설정 값 </a:t>
            </a:r>
            <a:r>
              <a:rPr lang="en-US" altLang="ko-KR" sz="1100"/>
              <a:t>: custom.member.password.changeDays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setPasswordChangeDays(int days);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CashApiClient 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application.yml </a:t>
            </a:r>
            <a:r>
              <a:rPr lang="ko-KR" altLang="en-US" sz="1100"/>
              <a:t>설정 값 </a:t>
            </a:r>
            <a:r>
              <a:rPr lang="en-US" altLang="ko-KR" sz="1100"/>
              <a:t>: custom.global.internalBackUrl</a:t>
            </a:r>
          </a:p>
          <a:p>
            <a:pPr marL="628650" lvl="1" indent="-171450">
              <a:buFontTx/>
              <a:buChar char="-"/>
            </a:pPr>
            <a:r>
              <a:rPr lang="ko-KR" altLang="en-US" sz="1100"/>
              <a:t>생성자 </a:t>
            </a:r>
            <a:endParaRPr lang="en-US" altLang="ko-KR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82F7F-3C66-AF78-554A-3267067E0E76}"/>
              </a:ext>
            </a:extLst>
          </p:cNvPr>
          <p:cNvSpPr txBox="1"/>
          <p:nvPr/>
        </p:nvSpPr>
        <p:spPr>
          <a:xfrm>
            <a:off x="5197150" y="3875835"/>
            <a:ext cx="4497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/>
              <a:t>MemberApiClient</a:t>
            </a:r>
          </a:p>
          <a:p>
            <a:pPr marL="628650" lvl="1" indent="-171450">
              <a:buFontTx/>
              <a:buChar char="-"/>
            </a:pPr>
            <a:r>
              <a:rPr lang="en-US" altLang="ko-KR" sz="1200"/>
              <a:t>application.yml </a:t>
            </a:r>
            <a:r>
              <a:rPr lang="ko-KR" altLang="en-US" sz="1200"/>
              <a:t>설정 값 </a:t>
            </a:r>
            <a:r>
              <a:rPr lang="en-US" altLang="ko-KR" sz="1200"/>
              <a:t>: custom.global.internalBackUrl</a:t>
            </a:r>
          </a:p>
          <a:p>
            <a:pPr marL="628650" lvl="1" indent="-171450">
              <a:buFontTx/>
              <a:buChar char="-"/>
            </a:pPr>
            <a:r>
              <a:rPr lang="ko-KR" altLang="en-US" sz="1200"/>
              <a:t>생성자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PostApiClient</a:t>
            </a:r>
          </a:p>
          <a:p>
            <a:pPr marL="628650" lvl="1" indent="-171450">
              <a:buFontTx/>
              <a:buChar char="-"/>
            </a:pPr>
            <a:r>
              <a:rPr lang="en-US" altLang="ko-KR" sz="1200"/>
              <a:t>application.yml </a:t>
            </a:r>
            <a:r>
              <a:rPr lang="ko-KR" altLang="en-US" sz="1200"/>
              <a:t>설정 값 </a:t>
            </a:r>
            <a:r>
              <a:rPr lang="en-US" altLang="ko-KR" sz="1200"/>
              <a:t>: custom.global.internalBackUrl</a:t>
            </a:r>
          </a:p>
          <a:p>
            <a:pPr marL="628650" lvl="1" indent="-171450">
              <a:buFontTx/>
              <a:buChar char="-"/>
            </a:pPr>
            <a:r>
              <a:rPr lang="ko-KR" altLang="en-US" sz="1200"/>
              <a:t>생성자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application.yaml</a:t>
            </a:r>
          </a:p>
          <a:p>
            <a:pPr marL="628650" lvl="1" indent="-171450">
              <a:buFontTx/>
              <a:buChar char="-"/>
            </a:pPr>
            <a:r>
              <a:rPr lang="ko-KR" altLang="en-US" sz="1200"/>
              <a:t>각파일들의 </a:t>
            </a:r>
            <a:r>
              <a:rPr lang="en-US" altLang="ko-KR" sz="1200"/>
              <a:t>application.yml </a:t>
            </a:r>
            <a:r>
              <a:rPr lang="ko-KR" altLang="en-US" sz="1200"/>
              <a:t>설정값에 맞춰 작업진행</a:t>
            </a:r>
            <a:endParaRPr lang="en-US" altLang="ko-KR" sz="1200"/>
          </a:p>
          <a:p>
            <a:pPr marL="171450" indent="-171450">
              <a:buFontTx/>
              <a:buChar char="-"/>
            </a:pP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355042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42485-233C-1F58-E7D2-FB579B5B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37</a:t>
            </a:r>
            <a:r>
              <a:rPr lang="ko-KR" altLang="en-US"/>
              <a:t>강 핵심 코드 사진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772EB04-A188-0824-395D-2A8793326D64}"/>
              </a:ext>
            </a:extLst>
          </p:cNvPr>
          <p:cNvGrpSpPr/>
          <p:nvPr/>
        </p:nvGrpSpPr>
        <p:grpSpPr>
          <a:xfrm>
            <a:off x="558807" y="1910268"/>
            <a:ext cx="4591691" cy="4839375"/>
            <a:chOff x="558807" y="1910268"/>
            <a:chExt cx="4591691" cy="4839375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462C8AB-0122-878A-EC76-30E8DF07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8807" y="1910268"/>
              <a:ext cx="4591691" cy="48393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77B8518-FBBE-178E-5974-E1CE64975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3666" y="1910268"/>
              <a:ext cx="1266832" cy="204873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49A43DA-799C-CA12-8318-09C91E06A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422" y="1910268"/>
            <a:ext cx="3496163" cy="16956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A96C51-1872-FAB1-3C30-FE567A19A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422" y="3694514"/>
            <a:ext cx="4074513" cy="31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719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36A14-9D38-0DCE-60B9-DCFA308E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38</a:t>
            </a:r>
            <a:r>
              <a:rPr lang="ko-KR" altLang="en-US" sz="2800"/>
              <a:t>강 이벤트 객체가 </a:t>
            </a:r>
            <a:r>
              <a:rPr lang="en-US" altLang="ko-KR" sz="2800"/>
              <a:t>Facade,UseCase</a:t>
            </a:r>
            <a:r>
              <a:rPr lang="ko-KR" altLang="en-US" sz="2800"/>
              <a:t>에 침투해있는 것을 제거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833A910-5063-CFE1-3105-73D5B635D600}"/>
              </a:ext>
            </a:extLst>
          </p:cNvPr>
          <p:cNvGrpSpPr/>
          <p:nvPr/>
        </p:nvGrpSpPr>
        <p:grpSpPr>
          <a:xfrm>
            <a:off x="562325" y="1865243"/>
            <a:ext cx="4690810" cy="2781403"/>
            <a:chOff x="30480" y="2947593"/>
            <a:chExt cx="6140163" cy="31275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18D870C-9EB1-4381-5C20-AA2F4D5E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1245"/>
            <a:stretch>
              <a:fillRect/>
            </a:stretch>
          </p:blipFill>
          <p:spPr>
            <a:xfrm>
              <a:off x="30480" y="2947594"/>
              <a:ext cx="3505822" cy="312751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EC59F77-625B-7F44-D89C-8BADEF250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8343" r="50"/>
            <a:stretch>
              <a:fillRect/>
            </a:stretch>
          </p:blipFill>
          <p:spPr>
            <a:xfrm>
              <a:off x="3536302" y="2947593"/>
              <a:ext cx="2634341" cy="312751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A81C8F8-418E-C659-BA06-C0F2E045D70E}"/>
              </a:ext>
            </a:extLst>
          </p:cNvPr>
          <p:cNvSpPr txBox="1"/>
          <p:nvPr/>
        </p:nvSpPr>
        <p:spPr>
          <a:xfrm>
            <a:off x="5465406" y="1865243"/>
            <a:ext cx="636580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요약 </a:t>
            </a:r>
            <a:r>
              <a:rPr lang="en-US" altLang="ko-KR" sz="1100"/>
              <a:t>: 	</a:t>
            </a:r>
            <a:r>
              <a:rPr lang="ko-KR" altLang="en-US" sz="1100"/>
              <a:t>좌측 사진을 보면 </a:t>
            </a:r>
            <a:r>
              <a:rPr lang="en-US" altLang="ko-KR" sz="1100"/>
              <a:t>Listener </a:t>
            </a:r>
            <a:r>
              <a:rPr lang="ko-KR" altLang="en-US" sz="1100"/>
              <a:t>가 아닌 </a:t>
            </a:r>
            <a:r>
              <a:rPr lang="en-US" altLang="ko-KR" sz="1100"/>
              <a:t>Facade</a:t>
            </a:r>
            <a:r>
              <a:rPr lang="ko-KR" altLang="en-US" sz="1100"/>
              <a:t>나 </a:t>
            </a:r>
            <a:r>
              <a:rPr lang="en-US" altLang="ko-KR" sz="1100"/>
              <a:t>useCase </a:t>
            </a:r>
            <a:r>
              <a:rPr lang="ko-KR" altLang="en-US" sz="1100"/>
              <a:t>객체에 </a:t>
            </a:r>
            <a:r>
              <a:rPr lang="en-US" altLang="ko-KR" sz="1100"/>
              <a:t>Listener </a:t>
            </a:r>
            <a:r>
              <a:rPr lang="ko-KR" altLang="en-US" sz="1100"/>
              <a:t>에서 가져온 </a:t>
            </a:r>
            <a:r>
              <a:rPr lang="en-US" altLang="ko-KR" sz="1100"/>
              <a:t>event </a:t>
            </a:r>
            <a:br>
              <a:rPr lang="en-US" altLang="ko-KR" sz="1100"/>
            </a:br>
            <a:r>
              <a:rPr lang="en-US" altLang="ko-KR" sz="1100"/>
              <a:t>             	</a:t>
            </a:r>
            <a:r>
              <a:rPr lang="ko-KR" altLang="en-US" sz="1100"/>
              <a:t>객체를 받아 사용하고 있다</a:t>
            </a:r>
            <a:r>
              <a:rPr lang="en-US" altLang="ko-KR" sz="1100"/>
              <a:t>. </a:t>
            </a:r>
            <a:r>
              <a:rPr lang="ko-KR" altLang="en-US" sz="1100"/>
              <a:t>이러한 코드들은 안티패턴으로 작동하며</a:t>
            </a:r>
            <a:r>
              <a:rPr lang="en-US" altLang="ko-KR" sz="1100"/>
              <a:t>,</a:t>
            </a:r>
            <a:br>
              <a:rPr lang="en-US" altLang="ko-KR" sz="1100"/>
            </a:br>
            <a:r>
              <a:rPr lang="en-US" altLang="ko-KR" sz="1100"/>
              <a:t>             	</a:t>
            </a:r>
          </a:p>
          <a:p>
            <a:r>
              <a:rPr lang="en-US" altLang="ko-KR" sz="1100"/>
              <a:t>	TDD </a:t>
            </a:r>
            <a:r>
              <a:rPr lang="ko-KR" altLang="en-US" sz="1100"/>
              <a:t>시에는 전달해야하는 주 정보외 쓸데없는 이벤트객체로 감싸서 데이터를 전송해야하는</a:t>
            </a:r>
            <a:br>
              <a:rPr lang="en-US" altLang="ko-KR" sz="1100"/>
            </a:br>
            <a:r>
              <a:rPr lang="en-US" altLang="ko-KR" sz="1100"/>
              <a:t>	</a:t>
            </a:r>
            <a:r>
              <a:rPr lang="ko-KR" altLang="en-US" sz="1100"/>
              <a:t>번거로움을 발생시킨다</a:t>
            </a:r>
            <a:r>
              <a:rPr lang="en-US" altLang="ko-KR" sz="1100"/>
              <a:t>.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	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	Event</a:t>
            </a:r>
            <a:r>
              <a:rPr lang="ko-KR" altLang="en-US" sz="1100">
                <a:sym typeface="Wingdings" panose="05000000000000000000" pitchFamily="2" charset="2"/>
              </a:rPr>
              <a:t>를 </a:t>
            </a:r>
            <a:r>
              <a:rPr lang="en-US" altLang="ko-KR" sz="1100">
                <a:sym typeface="Wingdings" panose="05000000000000000000" pitchFamily="2" charset="2"/>
              </a:rPr>
              <a:t>Kafka</a:t>
            </a:r>
            <a:r>
              <a:rPr lang="ko-KR" altLang="en-US" sz="1100">
                <a:sym typeface="Wingdings" panose="05000000000000000000" pitchFamily="2" charset="2"/>
              </a:rPr>
              <a:t>로 변경시에는 메세지를 받는쪽에서도 </a:t>
            </a:r>
            <a:r>
              <a:rPr lang="en-US" altLang="ko-KR" sz="1100">
                <a:sym typeface="Wingdings" panose="05000000000000000000" pitchFamily="2" charset="2"/>
              </a:rPr>
              <a:t>Event</a:t>
            </a:r>
            <a:r>
              <a:rPr lang="ko-KR" altLang="en-US" sz="1100">
                <a:sym typeface="Wingdings" panose="05000000000000000000" pitchFamily="2" charset="2"/>
              </a:rPr>
              <a:t>객체를 정의해야하는 번거로움이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	</a:t>
            </a:r>
            <a:r>
              <a:rPr lang="ko-KR" altLang="en-US" sz="1100">
                <a:sym typeface="Wingdings" panose="05000000000000000000" pitchFamily="2" charset="2"/>
              </a:rPr>
              <a:t>생긴다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ym typeface="Wingdings" panose="05000000000000000000" pitchFamily="2" charset="2"/>
              </a:rPr>
              <a:t>	</a:t>
            </a:r>
            <a:r>
              <a:rPr lang="ko-KR" altLang="en-US" sz="1100">
                <a:sym typeface="Wingdings" panose="05000000000000000000" pitchFamily="2" charset="2"/>
              </a:rPr>
              <a:t>이러한 단점들을 발생하지 않도록 안티패턴을 제거 한다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	- </a:t>
            </a:r>
            <a:r>
              <a:rPr lang="ko-KR" altLang="en-US" sz="1100">
                <a:sym typeface="Wingdings" panose="05000000000000000000" pitchFamily="2" charset="2"/>
              </a:rPr>
              <a:t>제거방법 </a:t>
            </a:r>
            <a:r>
              <a:rPr lang="en-US" altLang="ko-KR" sz="1100">
                <a:sym typeface="Wingdings" panose="05000000000000000000" pitchFamily="2" charset="2"/>
              </a:rPr>
              <a:t>: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		-Listener</a:t>
            </a:r>
            <a:r>
              <a:rPr lang="ko-KR" altLang="en-US" sz="1100">
                <a:sym typeface="Wingdings" panose="05000000000000000000" pitchFamily="2" charset="2"/>
              </a:rPr>
              <a:t>에서 필요한 정보만을 가공 </a:t>
            </a:r>
            <a:r>
              <a:rPr lang="en-US" altLang="ko-KR" sz="1100">
                <a:sym typeface="Wingdings" panose="05000000000000000000" pitchFamily="2" charset="2"/>
              </a:rPr>
              <a:t>DTO </a:t>
            </a:r>
            <a:r>
              <a:rPr lang="ko-KR" altLang="en-US" sz="1100">
                <a:sym typeface="Wingdings" panose="05000000000000000000" pitchFamily="2" charset="2"/>
              </a:rPr>
              <a:t>처리 또는</a:t>
            </a:r>
            <a:r>
              <a:rPr lang="en-US" altLang="ko-KR" sz="1100">
                <a:sym typeface="Wingdings" panose="05000000000000000000" pitchFamily="2" charset="2"/>
              </a:rPr>
              <a:t>Event</a:t>
            </a:r>
            <a:r>
              <a:rPr lang="ko-KR" altLang="en-US" sz="1100">
                <a:sym typeface="Wingdings" panose="05000000000000000000" pitchFamily="2" charset="2"/>
              </a:rPr>
              <a:t>내 데이터 별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	  	</a:t>
            </a:r>
            <a:r>
              <a:rPr lang="ko-KR" altLang="en-US" sz="1100">
                <a:sym typeface="Wingdings" panose="05000000000000000000" pitchFamily="2" charset="2"/>
              </a:rPr>
              <a:t>인자값 전송</a:t>
            </a:r>
            <a:endParaRPr lang="en-US" altLang="ko-KR" sz="1100"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F0A80-20BE-60A8-3C89-785AA018076D}"/>
              </a:ext>
            </a:extLst>
          </p:cNvPr>
          <p:cNvSpPr txBox="1"/>
          <p:nvPr/>
        </p:nvSpPr>
        <p:spPr>
          <a:xfrm>
            <a:off x="562325" y="4646645"/>
            <a:ext cx="6097554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CashCompleteOrderPaymentUseCase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handle </a:t>
            </a:r>
            <a:r>
              <a:rPr lang="en-US" altLang="ko-KR" sz="1100">
                <a:sym typeface="Wingdings" panose="05000000000000000000" pitchFamily="2" charset="2"/>
              </a:rPr>
              <a:t> completeOrderPayment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handle </a:t>
            </a:r>
            <a:r>
              <a:rPr lang="en-US" altLang="ko-KR" sz="1100">
                <a:sym typeface="Wingdings" panose="05000000000000000000" pitchFamily="2" charset="2"/>
              </a:rPr>
              <a:t> completeOrderPayment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CashEventListener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sym typeface="Wingdings" panose="05000000000000000000" pitchFamily="2" charset="2"/>
              </a:rPr>
              <a:t>event</a:t>
            </a:r>
            <a:r>
              <a:rPr lang="ko-KR" altLang="en-US" sz="1100">
                <a:sym typeface="Wingdings" panose="05000000000000000000" pitchFamily="2" charset="2"/>
              </a:rPr>
              <a:t> 정보 분리 </a:t>
            </a:r>
            <a:endParaRPr lang="en-US" altLang="ko-KR" sz="1100">
              <a:sym typeface="Wingdings" panose="05000000000000000000" pitchFamily="2" charset="2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100">
                <a:sym typeface="Wingdings" panose="05000000000000000000" pitchFamily="2" charset="2"/>
              </a:rPr>
              <a:t>요청 </a:t>
            </a:r>
            <a:r>
              <a:rPr lang="en-US" altLang="ko-KR" sz="1100">
                <a:sym typeface="Wingdings" panose="05000000000000000000" pitchFamily="2" charset="2"/>
              </a:rPr>
              <a:t>handle </a:t>
            </a:r>
            <a:r>
              <a:rPr lang="ko-KR" altLang="en-US" sz="1100">
                <a:sym typeface="Wingdings" panose="05000000000000000000" pitchFamily="2" charset="2"/>
              </a:rPr>
              <a:t>명 변경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en-US" altLang="ko-KR" sz="1100"/>
              <a:t>completeOrderPayment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ADEA9-562B-A302-2F2A-9005389B0A9E}"/>
              </a:ext>
            </a:extLst>
          </p:cNvPr>
          <p:cNvSpPr txBox="1"/>
          <p:nvPr/>
        </p:nvSpPr>
        <p:spPr>
          <a:xfrm>
            <a:off x="5902609" y="4559007"/>
            <a:ext cx="609755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/>
              <a:t>MarketCancelOrderRequestPaymenmtUseCase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handle </a:t>
            </a:r>
            <a:r>
              <a:rPr lang="en-US" altLang="ko-KR" sz="1100">
                <a:sym typeface="Wingdings" panose="05000000000000000000" pitchFamily="2" charset="2"/>
              </a:rPr>
              <a:t> cancelRequestPayment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MarketCompleteOrderPaymentUseCase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handle </a:t>
            </a:r>
            <a:r>
              <a:rPr lang="en-US" altLang="ko-KR" sz="1100">
                <a:sym typeface="Wingdings" panose="05000000000000000000" pitchFamily="2" charset="2"/>
              </a:rPr>
              <a:t> completePayment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MarketFacade</a:t>
            </a:r>
          </a:p>
          <a:p>
            <a:pPr marL="628650" lvl="1" indent="-171450">
              <a:buFontTx/>
              <a:buChar char="-"/>
            </a:pPr>
            <a:r>
              <a:rPr lang="ko-KR" altLang="en-US" sz="1100"/>
              <a:t>성공 </a:t>
            </a:r>
            <a:r>
              <a:rPr lang="en-US" altLang="ko-KR" sz="1100"/>
              <a:t>handle </a:t>
            </a:r>
            <a:r>
              <a:rPr lang="en-US" altLang="ko-KR" sz="1100">
                <a:sym typeface="Wingdings" panose="05000000000000000000" pitchFamily="2" charset="2"/>
              </a:rPr>
              <a:t> completeOrderPayment</a:t>
            </a:r>
          </a:p>
          <a:p>
            <a:pPr marL="628650" lvl="1" indent="-171450">
              <a:buFontTx/>
              <a:buChar char="-"/>
            </a:pPr>
            <a:r>
              <a:rPr lang="ko-KR" altLang="en-US" sz="1100">
                <a:sym typeface="Wingdings" panose="05000000000000000000" pitchFamily="2" charset="2"/>
              </a:rPr>
              <a:t>실패 </a:t>
            </a:r>
            <a:r>
              <a:rPr lang="en-US" altLang="ko-KR" sz="1100">
                <a:sym typeface="Wingdings" panose="05000000000000000000" pitchFamily="2" charset="2"/>
              </a:rPr>
              <a:t>handle  cancelOrderRequestPayment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MarketEventListener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evnet</a:t>
            </a:r>
            <a:r>
              <a:rPr lang="ko-KR" altLang="en-US" sz="1100"/>
              <a:t> 정보 분리 및 요청 </a:t>
            </a:r>
            <a:r>
              <a:rPr lang="en-US" altLang="ko-KR" sz="1100"/>
              <a:t>handle </a:t>
            </a:r>
            <a:r>
              <a:rPr lang="ko-KR" altLang="en-US" sz="1100"/>
              <a:t>명 변경</a:t>
            </a: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4236553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7F116-3CA8-243D-50C1-C2565E9D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38</a:t>
            </a:r>
            <a:r>
              <a:rPr lang="ko-KR" altLang="en-US"/>
              <a:t>강 주요코드 사진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30E0B4-434B-E479-A23F-E24B85599F81}"/>
              </a:ext>
            </a:extLst>
          </p:cNvPr>
          <p:cNvGrpSpPr/>
          <p:nvPr/>
        </p:nvGrpSpPr>
        <p:grpSpPr>
          <a:xfrm>
            <a:off x="185424" y="1786393"/>
            <a:ext cx="6743620" cy="1609950"/>
            <a:chOff x="745261" y="1970882"/>
            <a:chExt cx="6743620" cy="16099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FFC9B3E-F18E-D593-AF50-DDA266355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261" y="1970882"/>
              <a:ext cx="5868219" cy="16099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C62E972-3101-7801-F7C6-BE847696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7510" y="1970882"/>
              <a:ext cx="1581371" cy="34294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744ADDE-F795-722C-11E3-FE0CD5803ADA}"/>
              </a:ext>
            </a:extLst>
          </p:cNvPr>
          <p:cNvGrpSpPr/>
          <p:nvPr/>
        </p:nvGrpSpPr>
        <p:grpSpPr>
          <a:xfrm>
            <a:off x="185424" y="3705334"/>
            <a:ext cx="5482403" cy="2619741"/>
            <a:chOff x="185424" y="3705334"/>
            <a:chExt cx="5482403" cy="261974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719B047-6D19-8131-F5FC-3A4655CC3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424" y="3705334"/>
              <a:ext cx="4620270" cy="261974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3751888-FDB4-4454-D60B-A46E93023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43561" y="3734528"/>
              <a:ext cx="1724266" cy="29531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EBA05D4A-72B2-9800-CFF2-E1CF642BC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167" y="1786393"/>
            <a:ext cx="4304775" cy="50564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211EEB-6FCD-9FFA-F608-F79284BD6577}"/>
              </a:ext>
            </a:extLst>
          </p:cNvPr>
          <p:cNvSpPr txBox="1"/>
          <p:nvPr/>
        </p:nvSpPr>
        <p:spPr>
          <a:xfrm>
            <a:off x="4879910" y="4310743"/>
            <a:ext cx="23326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Listener </a:t>
            </a:r>
            <a:r>
              <a:rPr lang="ko-KR" altLang="en-US" sz="1200"/>
              <a:t>의 </a:t>
            </a:r>
            <a:r>
              <a:rPr lang="en-US" altLang="ko-KR" sz="1200"/>
              <a:t>event </a:t>
            </a:r>
            <a:r>
              <a:rPr lang="ko-KR" altLang="en-US" sz="1200"/>
              <a:t>정보에서 필요한 정보만을 전달하여 처리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변경된 인자값에 맞게 </a:t>
            </a:r>
            <a:r>
              <a:rPr lang="en-US" altLang="ko-KR" sz="1200"/>
              <a:t>Facede </a:t>
            </a:r>
            <a:r>
              <a:rPr lang="ko-KR" altLang="en-US" sz="1200"/>
              <a:t>및 </a:t>
            </a:r>
            <a:r>
              <a:rPr lang="en-US" altLang="ko-KR" sz="1200"/>
              <a:t>UseCase </a:t>
            </a:r>
            <a:r>
              <a:rPr lang="ko-KR" altLang="en-US" sz="1200"/>
              <a:t>변경</a:t>
            </a:r>
          </a:p>
        </p:txBody>
      </p:sp>
    </p:spTree>
    <p:extLst>
      <p:ext uri="{BB962C8B-B14F-4D97-AF65-F5344CB8AC3E}">
        <p14:creationId xmlns:p14="http://schemas.microsoft.com/office/powerpoint/2010/main" val="2417563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8C-B5CF-801D-39DA-4368AB4D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39</a:t>
            </a:r>
            <a:r>
              <a:rPr lang="ko-KR" altLang="en-US" sz="2800"/>
              <a:t>강 </a:t>
            </a:r>
            <a:r>
              <a:rPr lang="en-US" altLang="ko-KR" sz="2800"/>
              <a:t>DTO</a:t>
            </a:r>
            <a:r>
              <a:rPr lang="ko-KR" altLang="en-US" sz="2800"/>
              <a:t>내 맵핑이 아닌 </a:t>
            </a:r>
            <a:r>
              <a:rPr lang="en-US" altLang="ko-KR" sz="2800"/>
              <a:t>Entity </a:t>
            </a:r>
            <a:r>
              <a:rPr lang="ko-KR" altLang="en-US" sz="2800"/>
              <a:t>내 </a:t>
            </a:r>
            <a:r>
              <a:rPr lang="en-US" altLang="ko-KR" sz="2800"/>
              <a:t>toDto </a:t>
            </a:r>
            <a:r>
              <a:rPr lang="ko-KR" altLang="en-US" sz="2800"/>
              <a:t>메소드로 </a:t>
            </a:r>
            <a:r>
              <a:rPr lang="en-US" altLang="ko-KR" sz="2800"/>
              <a:t>DTO </a:t>
            </a:r>
            <a:r>
              <a:rPr lang="ko-KR" altLang="en-US" sz="2800"/>
              <a:t>맵핑 변환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B0A2B-8FCA-20AC-066F-CB96C9B690CD}"/>
              </a:ext>
            </a:extLst>
          </p:cNvPr>
          <p:cNvSpPr txBox="1"/>
          <p:nvPr/>
        </p:nvSpPr>
        <p:spPr>
          <a:xfrm>
            <a:off x="1097280" y="1893234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요약 </a:t>
            </a:r>
            <a:r>
              <a:rPr lang="en-US" altLang="ko-KR" sz="1100"/>
              <a:t>: 	DTO</a:t>
            </a:r>
            <a:r>
              <a:rPr lang="ko-KR" altLang="en-US" sz="1100"/>
              <a:t>의 생성자에서 각 </a:t>
            </a:r>
            <a:r>
              <a:rPr lang="en-US" altLang="ko-KR" sz="1100"/>
              <a:t>boundedContext </a:t>
            </a:r>
            <a:r>
              <a:rPr lang="ko-KR" altLang="en-US" sz="1100"/>
              <a:t>내 모듈의 </a:t>
            </a:r>
            <a:r>
              <a:rPr lang="en-US" altLang="ko-KR" sz="1100"/>
              <a:t>domain</a:t>
            </a:r>
            <a:r>
              <a:rPr lang="ko-KR" altLang="en-US" sz="1100"/>
              <a:t>을 받아 맵핑한다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    </a:t>
            </a:r>
            <a:r>
              <a:rPr lang="ko-KR" altLang="en-US" sz="1100"/>
              <a:t>그러나 </a:t>
            </a:r>
            <a:r>
              <a:rPr lang="en-US" altLang="ko-KR" sz="1100"/>
              <a:t>Kafka</a:t>
            </a:r>
            <a:r>
              <a:rPr lang="ko-KR" altLang="en-US" sz="1100"/>
              <a:t>로 전환시 </a:t>
            </a:r>
            <a:r>
              <a:rPr lang="en-US" altLang="ko-KR" sz="1100"/>
              <a:t>shared </a:t>
            </a:r>
            <a:r>
              <a:rPr lang="ko-KR" altLang="en-US" sz="1100"/>
              <a:t>폴더는 각 서버별로 공통으로 지녀야하는 파일이 되며</a:t>
            </a:r>
            <a:r>
              <a:rPr lang="en-US" altLang="ko-KR" sz="1100"/>
              <a:t>,</a:t>
            </a:r>
            <a:br>
              <a:rPr lang="en-US" altLang="ko-KR" sz="1100"/>
            </a:br>
            <a:r>
              <a:rPr lang="en-US" altLang="ko-KR" sz="1100"/>
              <a:t>	DTO</a:t>
            </a:r>
            <a:r>
              <a:rPr lang="ko-KR" altLang="en-US" sz="1100"/>
              <a:t>에서 생성자를 통해 받는 </a:t>
            </a:r>
            <a:r>
              <a:rPr lang="en-US" altLang="ko-KR" sz="1100"/>
              <a:t>boundedContext</a:t>
            </a:r>
            <a:r>
              <a:rPr lang="ko-KR" altLang="en-US" sz="1100"/>
              <a:t>의 도메인정보는 따로 분리되기에 각 서버가 알 수</a:t>
            </a:r>
            <a:r>
              <a:rPr lang="en-US" altLang="ko-KR" sz="1100"/>
              <a:t> </a:t>
            </a:r>
            <a:r>
              <a:rPr lang="ko-KR" altLang="en-US" sz="1100"/>
              <a:t>없는 정보이다</a:t>
            </a:r>
            <a:r>
              <a:rPr lang="en-US" altLang="ko-KR" sz="1100"/>
              <a:t>.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	</a:t>
            </a:r>
            <a:r>
              <a:rPr lang="ko-KR" altLang="en-US" sz="1100">
                <a:sym typeface="Wingdings" panose="05000000000000000000" pitchFamily="2" charset="2"/>
              </a:rPr>
              <a:t>즉 이를 해결하기 위해선 </a:t>
            </a:r>
            <a:r>
              <a:rPr lang="en-US" altLang="ko-KR" sz="1100">
                <a:sym typeface="Wingdings" panose="05000000000000000000" pitchFamily="2" charset="2"/>
              </a:rPr>
              <a:t>entity </a:t>
            </a:r>
            <a:r>
              <a:rPr lang="ko-KR" altLang="en-US" sz="1100">
                <a:sym typeface="Wingdings" panose="05000000000000000000" pitchFamily="2" charset="2"/>
              </a:rPr>
              <a:t>에서 </a:t>
            </a:r>
            <a:r>
              <a:rPr lang="en-US" altLang="ko-KR" sz="1100">
                <a:sym typeface="Wingdings" panose="05000000000000000000" pitchFamily="2" charset="2"/>
              </a:rPr>
              <a:t>DTO</a:t>
            </a:r>
            <a:r>
              <a:rPr lang="ko-KR" altLang="en-US" sz="1100">
                <a:sym typeface="Wingdings" panose="05000000000000000000" pitchFamily="2" charset="2"/>
              </a:rPr>
              <a:t>를 변환하는 로직이 존재하는 것이 낫다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BF774-B713-781A-676C-5D853007724F}"/>
              </a:ext>
            </a:extLst>
          </p:cNvPr>
          <p:cNvSpPr txBox="1"/>
          <p:nvPr/>
        </p:nvSpPr>
        <p:spPr>
          <a:xfrm>
            <a:off x="1097280" y="2918650"/>
            <a:ext cx="2446953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/>
              <a:t>CashSyncMemberUseCase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CashMember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Wallet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ApiV1WalletController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MarketSyncMemberUseCase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MarketMember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MemberJoinUseCase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Member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PostWriteUseCase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Post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PostComment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ApiV1PostController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CashMemberDto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WalletDto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MarketMemberDto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MemberDto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PostCommentDto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AF402-BFCD-6B19-BDDA-A8723CF60169}"/>
              </a:ext>
            </a:extLst>
          </p:cNvPr>
          <p:cNvSpPr txBox="1"/>
          <p:nvPr/>
        </p:nvSpPr>
        <p:spPr>
          <a:xfrm>
            <a:off x="3349690" y="2918650"/>
            <a:ext cx="244695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/>
              <a:t>PostDto</a:t>
            </a:r>
          </a:p>
        </p:txBody>
      </p:sp>
    </p:spTree>
    <p:extLst>
      <p:ext uri="{BB962C8B-B14F-4D97-AF65-F5344CB8AC3E}">
        <p14:creationId xmlns:p14="http://schemas.microsoft.com/office/powerpoint/2010/main" val="3969763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CD36218-A78B-56C5-1FAC-C3DE39ED2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8" y="1834514"/>
            <a:ext cx="7604644" cy="27195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6CADFF-8321-B0C7-CF36-7D76CF31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39</a:t>
            </a:r>
            <a:r>
              <a:rPr lang="ko-KR" altLang="en-US"/>
              <a:t>강 주요 코드 사진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8EC930-C618-F70A-6093-B9341657D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139" y="2239779"/>
            <a:ext cx="6279249" cy="3492202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6A3EBFF-141F-CE02-B7BF-61D3FC90DDBD}"/>
              </a:ext>
            </a:extLst>
          </p:cNvPr>
          <p:cNvGrpSpPr/>
          <p:nvPr/>
        </p:nvGrpSpPr>
        <p:grpSpPr>
          <a:xfrm>
            <a:off x="7043165" y="4534678"/>
            <a:ext cx="5148835" cy="2323322"/>
            <a:chOff x="7043165" y="4534678"/>
            <a:chExt cx="5148835" cy="232332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CD88F74-F0F7-CD63-3C73-AD9487E6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3165" y="4534678"/>
              <a:ext cx="5148835" cy="2323322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100B2C0-A005-F110-F245-219C7B040F38}"/>
                </a:ext>
              </a:extLst>
            </p:cNvPr>
            <p:cNvSpPr/>
            <p:nvPr/>
          </p:nvSpPr>
          <p:spPr>
            <a:xfrm>
              <a:off x="9666514" y="6326155"/>
              <a:ext cx="1063690" cy="17728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DE51D3B-17A7-BAE9-C031-6DB268CDD87C}"/>
              </a:ext>
            </a:extLst>
          </p:cNvPr>
          <p:cNvSpPr txBox="1"/>
          <p:nvPr/>
        </p:nvSpPr>
        <p:spPr>
          <a:xfrm>
            <a:off x="310728" y="4651210"/>
            <a:ext cx="4640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모든 </a:t>
            </a:r>
            <a:r>
              <a:rPr lang="en-US" altLang="ko-KR" sz="1200"/>
              <a:t>DTO</a:t>
            </a:r>
            <a:r>
              <a:rPr lang="ko-KR" altLang="en-US" sz="1200"/>
              <a:t>에서 맵핑 제거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DTO</a:t>
            </a:r>
            <a:r>
              <a:rPr lang="ko-KR" altLang="en-US" sz="1200"/>
              <a:t> 에 대응하는 </a:t>
            </a:r>
            <a:r>
              <a:rPr lang="en-US" altLang="ko-KR" sz="1200"/>
              <a:t>Entity</a:t>
            </a:r>
            <a:r>
              <a:rPr lang="ko-KR" altLang="en-US" sz="1200"/>
              <a:t>에</a:t>
            </a:r>
            <a:r>
              <a:rPr lang="en-US" altLang="ko-KR" sz="1200"/>
              <a:t> toDto </a:t>
            </a:r>
            <a:r>
              <a:rPr lang="ko-KR" altLang="en-US" sz="1200"/>
              <a:t>메소드 추가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DTO</a:t>
            </a:r>
            <a:r>
              <a:rPr lang="ko-KR" altLang="en-US" sz="1200"/>
              <a:t>를 사용하는 모든 파일에서 </a:t>
            </a:r>
            <a:r>
              <a:rPr lang="en-US" altLang="ko-KR" sz="1200"/>
              <a:t>Entity</a:t>
            </a:r>
            <a:r>
              <a:rPr lang="ko-KR" altLang="en-US" sz="1200"/>
              <a:t>에 의한 </a:t>
            </a:r>
            <a:r>
              <a:rPr lang="en-US" altLang="ko-KR" sz="1200"/>
              <a:t>toDto </a:t>
            </a:r>
            <a:r>
              <a:rPr lang="ko-KR" altLang="en-US" sz="1200"/>
              <a:t>변환 메소드로 전환</a:t>
            </a:r>
          </a:p>
        </p:txBody>
      </p:sp>
    </p:spTree>
    <p:extLst>
      <p:ext uri="{BB962C8B-B14F-4D97-AF65-F5344CB8AC3E}">
        <p14:creationId xmlns:p14="http://schemas.microsoft.com/office/powerpoint/2010/main" val="2553939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14F95-BCAC-9EAB-F1CD-C0DF8771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9EDBF-44CE-339C-1FEA-47587D52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40</a:t>
            </a:r>
            <a:r>
              <a:rPr lang="ko-KR" altLang="en-US" sz="3200"/>
              <a:t>강 인터페이스를 도입하여 규격을 코드로 드러내기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736B6-2741-CFA6-E01C-BA33F69A5DEF}"/>
              </a:ext>
            </a:extLst>
          </p:cNvPr>
          <p:cNvSpPr txBox="1"/>
          <p:nvPr/>
        </p:nvSpPr>
        <p:spPr>
          <a:xfrm>
            <a:off x="1097280" y="1893234"/>
            <a:ext cx="10058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요약 </a:t>
            </a:r>
            <a:r>
              <a:rPr lang="en-US" altLang="ko-KR" sz="1100"/>
              <a:t>: 	</a:t>
            </a:r>
            <a:r>
              <a:rPr lang="ko-KR" altLang="en-US" sz="1100"/>
              <a:t>코드에 사용자가 직접 입력한 </a:t>
            </a:r>
            <a:r>
              <a:rPr lang="en-US" altLang="ko-KR" sz="1100"/>
              <a:t>"Order", "Post" </a:t>
            </a:r>
            <a:r>
              <a:rPr lang="ko-KR" altLang="en-US" sz="1100"/>
              <a:t>와 같은 타입 문자열을 인터페이스를 통해 규격화한다</a:t>
            </a:r>
            <a:r>
              <a:rPr lang="en-US" altLang="ko-KR" sz="1100"/>
              <a:t>. (</a:t>
            </a:r>
            <a:r>
              <a:rPr lang="ko-KR" altLang="en-US" sz="1100"/>
              <a:t>인터페이스로 강제된 정보로 입력</a:t>
            </a:r>
            <a:r>
              <a:rPr lang="en-US" altLang="ko-KR" sz="1100"/>
              <a:t>)</a:t>
            </a:r>
            <a:br>
              <a:rPr lang="en-US" altLang="ko-KR" sz="1100"/>
            </a:br>
            <a:r>
              <a:rPr lang="en-US" altLang="ko-KR" sz="1100"/>
              <a:t>              DTO</a:t>
            </a:r>
            <a:r>
              <a:rPr lang="ko-KR" altLang="en-US" sz="1100"/>
              <a:t>에 </a:t>
            </a:r>
            <a:r>
              <a:rPr lang="en-US" altLang="ko-KR" sz="1100"/>
              <a:t>getModelTypeCode() </a:t>
            </a:r>
            <a:r>
              <a:rPr lang="ko-KR" altLang="en-US" sz="1100"/>
              <a:t>를 </a:t>
            </a:r>
            <a:r>
              <a:rPr lang="en-US" altLang="ko-KR" sz="1100"/>
              <a:t>Override </a:t>
            </a:r>
            <a:r>
              <a:rPr lang="ko-KR" altLang="en-US" sz="1100"/>
              <a:t>하여 규격화하며</a:t>
            </a:r>
            <a:r>
              <a:rPr lang="en-US" altLang="ko-KR" sz="1100"/>
              <a:t>,</a:t>
            </a:r>
            <a:br>
              <a:rPr lang="en-US" altLang="ko-KR" sz="1100"/>
            </a:br>
            <a:r>
              <a:rPr lang="en-US" altLang="ko-KR" sz="1100"/>
              <a:t>              RsData </a:t>
            </a:r>
            <a:r>
              <a:rPr lang="ko-KR" altLang="en-US" sz="1100"/>
              <a:t>같은 반환이 지정된 결과 형태 또한 인터페이스로 강제한다</a:t>
            </a:r>
            <a:r>
              <a:rPr lang="en-US" altLang="ko-KR" sz="1100"/>
              <a:t>.</a:t>
            </a: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2C62C-98AE-6994-9ACD-27371AE1339D}"/>
              </a:ext>
            </a:extLst>
          </p:cNvPr>
          <p:cNvSpPr txBox="1"/>
          <p:nvPr/>
        </p:nvSpPr>
        <p:spPr>
          <a:xfrm>
            <a:off x="4199553" y="2564109"/>
            <a:ext cx="344221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100"/>
              <a:t>CashCompleteOrderPaymentUseCase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MarketDataInit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BaseEntity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RsData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CashOrderPaymentFailedEvent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OrderDto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PostDto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EF17D-8546-2774-A55C-5A9EAD765684}"/>
              </a:ext>
            </a:extLst>
          </p:cNvPr>
          <p:cNvSpPr txBox="1"/>
          <p:nvPr/>
        </p:nvSpPr>
        <p:spPr>
          <a:xfrm>
            <a:off x="1097280" y="2564109"/>
            <a:ext cx="381995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</a:p>
          <a:p>
            <a:r>
              <a:rPr lang="en-US" altLang="ko-KR" sz="1100"/>
              <a:t>standard </a:t>
            </a:r>
            <a:r>
              <a:rPr lang="ko-KR" altLang="en-US" sz="1100"/>
              <a:t>패키지 생성</a:t>
            </a:r>
            <a:r>
              <a:rPr lang="en-US" altLang="ko-KR" sz="1100"/>
              <a:t>( boudedContext</a:t>
            </a:r>
            <a:r>
              <a:rPr lang="ko-KR" altLang="en-US" sz="1100"/>
              <a:t>레벨 </a:t>
            </a:r>
            <a:r>
              <a:rPr lang="en-US" altLang="ko-KR" sz="110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HasModelTypeCode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ResultType</a:t>
            </a:r>
          </a:p>
        </p:txBody>
      </p:sp>
    </p:spTree>
    <p:extLst>
      <p:ext uri="{BB962C8B-B14F-4D97-AF65-F5344CB8AC3E}">
        <p14:creationId xmlns:p14="http://schemas.microsoft.com/office/powerpoint/2010/main" val="2378606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19BA7-B0E0-228D-F618-BF781FF0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40</a:t>
            </a:r>
            <a:r>
              <a:rPr lang="ko-KR" altLang="en-US" sz="3600"/>
              <a:t>강 주요 코드 사진</a:t>
            </a:r>
            <a:r>
              <a:rPr lang="en-US" altLang="ko-KR" sz="3600"/>
              <a:t>-1</a:t>
            </a:r>
            <a:endParaRPr lang="ko-KR" altLang="en-US" sz="36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CDAA6B-C3D6-D9ED-A408-41623295A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36" y="1928797"/>
            <a:ext cx="1867161" cy="16194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A3C10E-90DD-BB08-69B8-D40A819F2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95" y="1928797"/>
            <a:ext cx="2810267" cy="6382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2534AA-E4C4-5A28-F54D-931F1D882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95" y="2690709"/>
            <a:ext cx="2448267" cy="14765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7559FAE-28F1-2B22-7E8E-CFC17DA13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939" y="4290938"/>
            <a:ext cx="4982270" cy="19624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B9BC052-4AB8-5DE5-DBEE-EB675F182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79" y="4290938"/>
            <a:ext cx="2810267" cy="257165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AAD0CA0-D5B5-0990-A6CF-752036C01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8555" y="1928797"/>
            <a:ext cx="3079427" cy="2803546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80BD8C0-075B-8D57-F586-A94E72D5D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0775" y="1928797"/>
            <a:ext cx="3249716" cy="280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986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5E0E9-6DF6-2330-E07D-4E1D4686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40</a:t>
            </a:r>
            <a:r>
              <a:rPr lang="ko-KR" altLang="en-US"/>
              <a:t>강 주요 코드 사진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BFB7446-F857-92A7-7FEC-36AF42B3383A}"/>
              </a:ext>
            </a:extLst>
          </p:cNvPr>
          <p:cNvGrpSpPr/>
          <p:nvPr/>
        </p:nvGrpSpPr>
        <p:grpSpPr>
          <a:xfrm>
            <a:off x="1097280" y="1810636"/>
            <a:ext cx="5459712" cy="4366229"/>
            <a:chOff x="1097280" y="1810636"/>
            <a:chExt cx="5459712" cy="43662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861AEE-D8BB-A3B1-2732-224B4969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10636"/>
              <a:ext cx="5459712" cy="436622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453F26-D0A9-1C8D-8D8D-AC47B1B801B0}"/>
                </a:ext>
              </a:extLst>
            </p:cNvPr>
            <p:cNvSpPr/>
            <p:nvPr/>
          </p:nvSpPr>
          <p:spPr>
            <a:xfrm>
              <a:off x="1866122" y="4926563"/>
              <a:ext cx="1707502" cy="205274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549877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2577</TotalTime>
  <Words>3846</Words>
  <Application>Microsoft Office PowerPoint</Application>
  <PresentationFormat>와이드스크린</PresentationFormat>
  <Paragraphs>550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Pretendard Variable</vt:lpstr>
      <vt:lpstr>Arial</vt:lpstr>
      <vt:lpstr>Calibri</vt:lpstr>
      <vt:lpstr>Calibri Light</vt:lpstr>
      <vt:lpstr>Wingdings</vt:lpstr>
      <vt:lpstr>추억</vt:lpstr>
      <vt:lpstr>K-Trainning 2부 분석</vt:lpstr>
      <vt:lpstr>효율적인 결제와 정산을 고려한 지갑 만들기, 23강 ~ 40강</vt:lpstr>
      <vt:lpstr>CashMember 도입하기</vt:lpstr>
      <vt:lpstr>CashMember 도입하기</vt:lpstr>
      <vt:lpstr>CashMember 도입하기</vt:lpstr>
      <vt:lpstr>CashMember 도입하기</vt:lpstr>
      <vt:lpstr>CashMember와 1:1 관계인 Wallet 생성하기</vt:lpstr>
      <vt:lpstr>CashMember와 1:1 관계인 Wallet 생성하기(feat: CashLog)</vt:lpstr>
      <vt:lpstr>Wallet의 주요 메소드 기능 정리</vt:lpstr>
      <vt:lpstr>CashMember와 1:1 관계인 Wallet 생성하기</vt:lpstr>
      <vt:lpstr>캐시 사용기록 저장하기</vt:lpstr>
      <vt:lpstr>26강 cash모듈 Facade / UseCase / Support 분리</vt:lpstr>
      <vt:lpstr>27강 CashEventListener wallet 생성 처리</vt:lpstr>
      <vt:lpstr>27강 주요 코드 사진</vt:lpstr>
      <vt:lpstr>28강 post모듈 Facade / UseCase / Support 분리</vt:lpstr>
      <vt:lpstr>29강 Member모듈 Facade / UseCase / Support 분리</vt:lpstr>
      <vt:lpstr>30강 Market모듈 추가 - 마켓복제회원생성</vt:lpstr>
      <vt:lpstr>31강 글 조회를 위한 PostApiClient구현</vt:lpstr>
      <vt:lpstr>글 조회를 위한 PostApiClient구현 - 핵심 기능 사진 자료</vt:lpstr>
      <vt:lpstr>32강: 글 6개로 부터 상품6개 생성</vt:lpstr>
      <vt:lpstr>글 6개로 부터 상품6개 생성 - 핵심 기능 사진 자료</vt:lpstr>
      <vt:lpstr>33강 MarketMember와 1:1관계인 장바구니 생성, 장바구니 품목추가</vt:lpstr>
      <vt:lpstr>1:1관계인 장바구니 생성, 장바구니 품목추가 - 핵심 기능 사진</vt:lpstr>
      <vt:lpstr>1:1관계인 장바구니 생성, 장바구니 품목추가 - 핵심 기능 사진</vt:lpstr>
      <vt:lpstr>34강 주문 생성</vt:lpstr>
      <vt:lpstr>34강 Cart로 주문 및 주문 아이템 생성 주요 코드</vt:lpstr>
      <vt:lpstr>34강 Cart로 주문 및 주문 아이템 생성 주요 코드(2)</vt:lpstr>
      <vt:lpstr>주문 결제 분석</vt:lpstr>
      <vt:lpstr>35강 주문 결제 처리</vt:lpstr>
      <vt:lpstr>35강 주문 결제 처리 주요 코드-1</vt:lpstr>
      <vt:lpstr>PowerPoint 프레젠테이션</vt:lpstr>
      <vt:lpstr>36강 토스페이먼츠 이론</vt:lpstr>
      <vt:lpstr>36강 토스페이먼츠 이론</vt:lpstr>
      <vt:lpstr>36강 토스페이먼츠 이론</vt:lpstr>
      <vt:lpstr>PowerPoint 프레젠테이션</vt:lpstr>
      <vt:lpstr>36강 토스페이먼츠 연동</vt:lpstr>
      <vt:lpstr>36강 토스페이먼츠 연동 -application.yml, .env</vt:lpstr>
      <vt:lpstr>36강 토스페이먼츠 연동 - TossPaymentService</vt:lpstr>
      <vt:lpstr>36강 토스페이먼츠 주요 코드 요약-1</vt:lpstr>
      <vt:lpstr>36강 토스페이먼츠 주요 코드 요약-2</vt:lpstr>
      <vt:lpstr>37강 설정정보 application.yaml 관리하기</vt:lpstr>
      <vt:lpstr>37강 핵심 코드 사진</vt:lpstr>
      <vt:lpstr>38강 이벤트 객체가 Facade,UseCase에 침투해있는 것을 제거 </vt:lpstr>
      <vt:lpstr>38강 주요코드 사진</vt:lpstr>
      <vt:lpstr>39강 DTO내 맵핑이 아닌 Entity 내 toDto 메소드로 DTO 맵핑 변환</vt:lpstr>
      <vt:lpstr>39강 주요 코드 사진</vt:lpstr>
      <vt:lpstr>40강 인터페이스를 도입하여 규격을 코드로 드러내기</vt:lpstr>
      <vt:lpstr>40강 주요 코드 사진-1</vt:lpstr>
      <vt:lpstr>40강 주요 코드 사진-2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277</cp:revision>
  <dcterms:created xsi:type="dcterms:W3CDTF">2026-09-21T08:40:43Z</dcterms:created>
  <dcterms:modified xsi:type="dcterms:W3CDTF">2026-09-26T11:49:40Z</dcterms:modified>
</cp:coreProperties>
</file>