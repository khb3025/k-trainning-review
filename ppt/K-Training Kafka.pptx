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60" r:id="rId5"/>
    <p:sldId id="258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86BCD52-3BF1-4B68-8DF2-349C0350BBC2}">
          <p14:sldIdLst>
            <p14:sldId id="256"/>
          </p14:sldIdLst>
        </p14:section>
        <p14:section name="1강" id="{9DBB78F9-9FB4-43FD-A570-54B6DD443057}">
          <p14:sldIdLst>
            <p14:sldId id="257"/>
            <p14:sldId id="259"/>
            <p14:sldId id="260"/>
          </p14:sldIdLst>
        </p14:section>
        <p14:section name="2강" id="{E5C016FB-5A95-4D2B-81C2-A863D45419A0}">
          <p14:sldIdLst>
            <p14:sldId id="258"/>
            <p14:sldId id="261"/>
            <p14:sldId id="262"/>
            <p14:sldId id="263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88" autoAdjust="0"/>
    <p:restoredTop sz="94660"/>
  </p:normalViewPr>
  <p:slideViewPr>
    <p:cSldViewPr snapToGrid="0">
      <p:cViewPr varScale="1">
        <p:scale>
          <a:sx n="99" d="100"/>
          <a:sy n="99" d="100"/>
        </p:scale>
        <p:origin x="102" y="6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8FBA-62D2-435D-B25A-BA659C9D73E1}" type="datetimeFigureOut">
              <a:rPr lang="ko-KR" altLang="en-US" smtClean="0"/>
              <a:t>2026-09-27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9F51E-316C-4383-BC4E-ACF85AFC6E2F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9753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8FBA-62D2-435D-B25A-BA659C9D73E1}" type="datetimeFigureOut">
              <a:rPr lang="ko-KR" altLang="en-US" smtClean="0"/>
              <a:t>2026-09-27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9F51E-316C-4383-BC4E-ACF85AFC6E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8008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8FBA-62D2-435D-B25A-BA659C9D73E1}" type="datetimeFigureOut">
              <a:rPr lang="ko-KR" altLang="en-US" smtClean="0"/>
              <a:t>2026-09-27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9F51E-316C-4383-BC4E-ACF85AFC6E2F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47988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8FBA-62D2-435D-B25A-BA659C9D73E1}" type="datetimeFigureOut">
              <a:rPr lang="ko-KR" altLang="en-US" smtClean="0"/>
              <a:t>2026-09-27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9F51E-316C-4383-BC4E-ACF85AFC6E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98556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8FBA-62D2-435D-B25A-BA659C9D73E1}" type="datetimeFigureOut">
              <a:rPr lang="ko-KR" altLang="en-US" smtClean="0"/>
              <a:t>2026-09-27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9F51E-316C-4383-BC4E-ACF85AFC6E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17667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8FBA-62D2-435D-B25A-BA659C9D73E1}" type="datetimeFigureOut">
              <a:rPr lang="ko-KR" altLang="en-US" smtClean="0"/>
              <a:t>2026-09-27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9F51E-316C-4383-BC4E-ACF85AFC6E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74639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8FBA-62D2-435D-B25A-BA659C9D73E1}" type="datetimeFigureOut">
              <a:rPr lang="ko-KR" altLang="en-US" smtClean="0"/>
              <a:t>2026-09-27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9F51E-316C-4383-BC4E-ACF85AFC6E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4753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B4738FBA-62D2-435D-B25A-BA659C9D73E1}" type="datetimeFigureOut">
              <a:rPr lang="ko-KR" altLang="en-US" smtClean="0"/>
              <a:t>2026-09-27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359F51E-316C-4383-BC4E-ACF85AFC6E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02202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8FBA-62D2-435D-B25A-BA659C9D73E1}" type="datetimeFigureOut">
              <a:rPr lang="ko-KR" altLang="en-US" smtClean="0"/>
              <a:t>2026-09-27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9F51E-316C-4383-BC4E-ACF85AFC6E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25104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8FBA-62D2-435D-B25A-BA659C9D73E1}" type="datetimeFigureOut">
              <a:rPr lang="ko-KR" altLang="en-US" smtClean="0"/>
              <a:t>2026-09-27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9F51E-316C-4383-BC4E-ACF85AFC6E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801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8FBA-62D2-435D-B25A-BA659C9D73E1}" type="datetimeFigureOut">
              <a:rPr lang="ko-KR" altLang="en-US" smtClean="0"/>
              <a:t>2026-09-27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9F51E-316C-4383-BC4E-ACF85AFC6E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59547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B4738FBA-62D2-435D-B25A-BA659C9D73E1}" type="datetimeFigureOut">
              <a:rPr lang="ko-KR" altLang="en-US" smtClean="0"/>
              <a:t>2026-09-27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359F51E-316C-4383-BC4E-ACF85AFC6E2F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81969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352559-817B-FC78-CDD0-4BA2A927A51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/>
              <a:t>K-Training Kafka</a:t>
            </a:r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F85ECEB-4704-0572-D99A-47A2BCF1A93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28829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FF0186-0390-613D-DEB5-DB9EDF325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000"/>
              <a:t>1</a:t>
            </a:r>
            <a:r>
              <a:rPr lang="ko-KR" altLang="en-US" sz="4000"/>
              <a:t>강 </a:t>
            </a:r>
            <a:r>
              <a:rPr lang="en-US" altLang="ko-KR" sz="4000"/>
              <a:t>Kafka Container</a:t>
            </a:r>
            <a:r>
              <a:rPr lang="ko-KR" altLang="en-US" sz="4000"/>
              <a:t>없이 테스트 환경 구축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56A5E74-3DA3-C31F-7587-850D482924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8543" y="1968744"/>
            <a:ext cx="9034914" cy="3956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389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id="{B4794567-3B9B-F509-5337-9F5FAE5E9414}"/>
              </a:ext>
            </a:extLst>
          </p:cNvPr>
          <p:cNvGrpSpPr/>
          <p:nvPr/>
        </p:nvGrpSpPr>
        <p:grpSpPr>
          <a:xfrm>
            <a:off x="190099" y="317825"/>
            <a:ext cx="6097604" cy="5956206"/>
            <a:chOff x="190099" y="288949"/>
            <a:chExt cx="6097604" cy="5956206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E49B2559-C89F-C35F-8038-05C16A370598}"/>
                </a:ext>
              </a:extLst>
            </p:cNvPr>
            <p:cNvSpPr txBox="1"/>
            <p:nvPr/>
          </p:nvSpPr>
          <p:spPr>
            <a:xfrm>
              <a:off x="190099" y="612844"/>
              <a:ext cx="6097604" cy="563231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US" altLang="ko-KR" sz="1200">
                  <a:solidFill>
                    <a:srgbClr val="CF8E6D"/>
                  </a:solidFill>
                  <a:effectLst/>
                  <a:latin typeface="JetBrains Mono"/>
                </a:rPr>
                <a:t>server</a:t>
              </a: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:</a:t>
              </a:r>
              <a:b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  </a:t>
              </a:r>
              <a:r>
                <a:rPr lang="en-US" altLang="ko-KR" sz="1200">
                  <a:solidFill>
                    <a:srgbClr val="CF8E6D"/>
                  </a:solidFill>
                  <a:effectLst/>
                  <a:latin typeface="JetBrains Mono"/>
                </a:rPr>
                <a:t>port</a:t>
              </a: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: </a:t>
              </a:r>
              <a:r>
                <a:rPr lang="en-US" altLang="ko-KR" sz="1200">
                  <a:solidFill>
                    <a:srgbClr val="2AACB8"/>
                  </a:solidFill>
                  <a:effectLst/>
                  <a:latin typeface="JetBrains Mono"/>
                </a:rPr>
                <a:t>8080</a:t>
              </a:r>
              <a:br>
                <a:rPr lang="en-US" altLang="ko-KR" sz="1200">
                  <a:solidFill>
                    <a:srgbClr val="2AACB8"/>
                  </a:solidFill>
                  <a:effectLst/>
                  <a:latin typeface="JetBrains Mono"/>
                </a:rPr>
              </a:br>
              <a:br>
                <a:rPr lang="en-US" altLang="ko-KR" sz="1200">
                  <a:solidFill>
                    <a:srgbClr val="2AACB8"/>
                  </a:solidFill>
                  <a:effectLst/>
                  <a:latin typeface="JetBrains Mono"/>
                </a:rPr>
              </a:br>
              <a:r>
                <a:rPr lang="en-US" altLang="ko-KR" sz="1200">
                  <a:solidFill>
                    <a:srgbClr val="CF8E6D"/>
                  </a:solidFill>
                  <a:effectLst/>
                  <a:latin typeface="JetBrains Mono"/>
                </a:rPr>
                <a:t>spring</a:t>
              </a: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:</a:t>
              </a:r>
              <a:b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  </a:t>
              </a:r>
              <a:r>
                <a:rPr lang="en-US" altLang="ko-KR" sz="1200">
                  <a:solidFill>
                    <a:srgbClr val="CF8E6D"/>
                  </a:solidFill>
                  <a:effectLst/>
                  <a:latin typeface="JetBrains Mono"/>
                </a:rPr>
                <a:t>application</a:t>
              </a: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:</a:t>
              </a:r>
              <a:b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    </a:t>
              </a:r>
              <a:r>
                <a:rPr lang="en-US" altLang="ko-KR" sz="1200">
                  <a:solidFill>
                    <a:srgbClr val="CF8E6D"/>
                  </a:solidFill>
                  <a:effectLst/>
                  <a:latin typeface="JetBrains Mono"/>
                </a:rPr>
                <a:t>name</a:t>
              </a: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: back</a:t>
              </a:r>
              <a:b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  </a:t>
              </a:r>
              <a:r>
                <a:rPr lang="en-US" altLang="ko-KR" sz="1200">
                  <a:solidFill>
                    <a:srgbClr val="CF8E6D"/>
                  </a:solidFill>
                  <a:effectLst/>
                  <a:latin typeface="JetBrains Mono"/>
                </a:rPr>
                <a:t>config</a:t>
              </a: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:</a:t>
              </a:r>
              <a:b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    </a:t>
              </a:r>
              <a:r>
                <a:rPr lang="en-US" altLang="ko-KR" sz="1200">
                  <a:solidFill>
                    <a:srgbClr val="CF8E6D"/>
                  </a:solidFill>
                  <a:effectLst/>
                  <a:latin typeface="JetBrains Mono"/>
                </a:rPr>
                <a:t>import</a:t>
              </a: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: optional:file:.env[.properties]</a:t>
              </a:r>
              <a:b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  </a:t>
              </a:r>
              <a:r>
                <a:rPr lang="en-US" altLang="ko-KR" sz="1200">
                  <a:solidFill>
                    <a:srgbClr val="CF8E6D"/>
                  </a:solidFill>
                  <a:effectLst/>
                  <a:latin typeface="JetBrains Mono"/>
                </a:rPr>
                <a:t>profiles</a:t>
              </a: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:</a:t>
              </a:r>
              <a:b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    </a:t>
              </a:r>
              <a:r>
                <a:rPr lang="en-US" altLang="ko-KR" sz="1200">
                  <a:solidFill>
                    <a:srgbClr val="CF8E6D"/>
                  </a:solidFill>
                  <a:effectLst/>
                  <a:latin typeface="JetBrains Mono"/>
                </a:rPr>
                <a:t>active</a:t>
              </a: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: dev</a:t>
              </a:r>
              <a:b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  </a:t>
              </a:r>
              <a:r>
                <a:rPr lang="en-US" altLang="ko-KR" sz="1200">
                  <a:solidFill>
                    <a:srgbClr val="CF8E6D"/>
                  </a:solidFill>
                  <a:effectLst/>
                  <a:latin typeface="JetBrains Mono"/>
                </a:rPr>
                <a:t>output</a:t>
              </a: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:</a:t>
              </a:r>
              <a:b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    </a:t>
              </a:r>
              <a:r>
                <a:rPr lang="en-US" altLang="ko-KR" sz="1200">
                  <a:solidFill>
                    <a:srgbClr val="CF8E6D"/>
                  </a:solidFill>
                  <a:effectLst/>
                  <a:latin typeface="JetBrains Mono"/>
                </a:rPr>
                <a:t>ansi</a:t>
              </a: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:</a:t>
              </a:r>
              <a:b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      </a:t>
              </a:r>
              <a:r>
                <a:rPr lang="en-US" altLang="ko-KR" sz="1200">
                  <a:solidFill>
                    <a:srgbClr val="CF8E6D"/>
                  </a:solidFill>
                  <a:effectLst/>
                  <a:latin typeface="JetBrains Mono"/>
                </a:rPr>
                <a:t>enabled</a:t>
              </a: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: </a:t>
              </a:r>
              <a:r>
                <a:rPr lang="en-US" altLang="ko-KR" sz="1200" i="1">
                  <a:solidFill>
                    <a:srgbClr val="C77DBB"/>
                  </a:solidFill>
                  <a:effectLst/>
                  <a:latin typeface="JetBrains Mono"/>
                </a:rPr>
                <a:t>always</a:t>
              </a:r>
              <a:br>
                <a:rPr lang="en-US" altLang="ko-KR" sz="1200" i="1">
                  <a:solidFill>
                    <a:srgbClr val="C77DBB"/>
                  </a:solidFill>
                  <a:effectLst/>
                  <a:latin typeface="JetBrains Mono"/>
                </a:rPr>
              </a:br>
              <a:r>
                <a:rPr lang="en-US" altLang="ko-KR" sz="1200" i="1">
                  <a:solidFill>
                    <a:srgbClr val="C77DBB"/>
                  </a:solidFill>
                  <a:effectLst/>
                  <a:latin typeface="JetBrains Mono"/>
                </a:rPr>
                <a:t>  </a:t>
              </a:r>
              <a:r>
                <a:rPr lang="en-US" altLang="ko-KR" sz="1200">
                  <a:solidFill>
                    <a:srgbClr val="CF8E6D"/>
                  </a:solidFill>
                  <a:effectLst/>
                  <a:latin typeface="JetBrains Mono"/>
                </a:rPr>
                <a:t>jackson</a:t>
              </a: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:</a:t>
              </a:r>
              <a:b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    </a:t>
              </a:r>
              <a:r>
                <a:rPr lang="en-US" altLang="ko-KR" sz="1200">
                  <a:solidFill>
                    <a:srgbClr val="CF8E6D"/>
                  </a:solidFill>
                  <a:effectLst/>
                  <a:latin typeface="JetBrains Mono"/>
                </a:rPr>
                <a:t>serialization</a:t>
              </a: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:</a:t>
              </a:r>
              <a:b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      </a:t>
              </a:r>
              <a:r>
                <a:rPr lang="en-US" altLang="ko-KR" sz="1200" i="1">
                  <a:solidFill>
                    <a:srgbClr val="C77DBB"/>
                  </a:solidFill>
                  <a:effectLst/>
                  <a:latin typeface="JetBrains Mono"/>
                </a:rPr>
                <a:t>fail-on-empty-beans</a:t>
              </a: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: </a:t>
              </a:r>
              <a:r>
                <a:rPr lang="en-US" altLang="ko-KR" sz="1200">
                  <a:solidFill>
                    <a:srgbClr val="CF8E6D"/>
                  </a:solidFill>
                  <a:effectLst/>
                  <a:latin typeface="JetBrains Mono"/>
                </a:rPr>
                <a:t>false</a:t>
              </a:r>
              <a:br>
                <a:rPr lang="en-US" altLang="ko-KR" sz="1200">
                  <a:solidFill>
                    <a:srgbClr val="CF8E6D"/>
                  </a:solidFill>
                  <a:effectLst/>
                  <a:latin typeface="JetBrains Mono"/>
                </a:rPr>
              </a:br>
              <a:r>
                <a:rPr lang="en-US" altLang="ko-KR" sz="1200">
                  <a:solidFill>
                    <a:srgbClr val="CF8E6D"/>
                  </a:solidFill>
                  <a:effectLst/>
                  <a:latin typeface="JetBrains Mono"/>
                </a:rPr>
                <a:t>  kafka</a:t>
              </a: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:</a:t>
              </a:r>
              <a:b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    </a:t>
              </a:r>
              <a:r>
                <a:rPr lang="en-US" altLang="ko-KR" sz="1200">
                  <a:solidFill>
                    <a:srgbClr val="CF8E6D"/>
                  </a:solidFill>
                  <a:effectLst/>
                  <a:latin typeface="JetBrains Mono"/>
                </a:rPr>
                <a:t>producer</a:t>
              </a: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:</a:t>
              </a:r>
              <a:b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      </a:t>
              </a:r>
              <a:r>
                <a:rPr lang="en-US" altLang="ko-KR" sz="1200">
                  <a:solidFill>
                    <a:srgbClr val="CF8E6D"/>
                  </a:solidFill>
                  <a:effectLst/>
                  <a:latin typeface="JetBrains Mono"/>
                </a:rPr>
                <a:t>value-serializer</a:t>
              </a: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: org.springframework.kafka.support.serializer.JacksonJsonSerializer</a:t>
              </a:r>
              <a:b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      </a:t>
              </a:r>
              <a:r>
                <a:rPr lang="en-US" altLang="ko-KR" sz="1200">
                  <a:solidFill>
                    <a:srgbClr val="CF8E6D"/>
                  </a:solidFill>
                  <a:effectLst/>
                  <a:latin typeface="JetBrains Mono"/>
                </a:rPr>
                <a:t>properties</a:t>
              </a: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:</a:t>
              </a:r>
              <a:b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        </a:t>
              </a:r>
              <a:r>
                <a:rPr lang="en-US" altLang="ko-KR" sz="1200">
                  <a:solidFill>
                    <a:srgbClr val="CF8E6D"/>
                  </a:solidFill>
                  <a:effectLst/>
                  <a:latin typeface="JetBrains Mono"/>
                </a:rPr>
                <a:t>spring.json.add.type.headers</a:t>
              </a: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: true</a:t>
              </a:r>
              <a:b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    </a:t>
              </a:r>
              <a:r>
                <a:rPr lang="en-US" altLang="ko-KR" sz="1200">
                  <a:solidFill>
                    <a:srgbClr val="CF8E6D"/>
                  </a:solidFill>
                  <a:effectLst/>
                  <a:latin typeface="JetBrains Mono"/>
                </a:rPr>
                <a:t>consumer</a:t>
              </a: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:</a:t>
              </a:r>
              <a:b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      </a:t>
              </a:r>
              <a:r>
                <a:rPr lang="en-US" altLang="ko-KR" sz="1200">
                  <a:solidFill>
                    <a:srgbClr val="CF8E6D"/>
                  </a:solidFill>
                  <a:effectLst/>
                  <a:latin typeface="JetBrains Mono"/>
                </a:rPr>
                <a:t>group-id</a:t>
              </a: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: back</a:t>
              </a:r>
              <a:b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      </a:t>
              </a:r>
              <a:r>
                <a:rPr lang="en-US" altLang="ko-KR" sz="1200">
                  <a:solidFill>
                    <a:srgbClr val="CF8E6D"/>
                  </a:solidFill>
                  <a:effectLst/>
                  <a:latin typeface="JetBrains Mono"/>
                </a:rPr>
                <a:t>value-deserializer</a:t>
              </a: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: org.springframework.kafka.support.serializer.JacksonJsonDeserializer</a:t>
              </a:r>
              <a:b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      </a:t>
              </a:r>
              <a:r>
                <a:rPr lang="en-US" altLang="ko-KR" sz="1200">
                  <a:solidFill>
                    <a:srgbClr val="CF8E6D"/>
                  </a:solidFill>
                  <a:effectLst/>
                  <a:latin typeface="JetBrains Mono"/>
                </a:rPr>
                <a:t>properties</a:t>
              </a: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:</a:t>
              </a:r>
              <a:b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        </a:t>
              </a:r>
              <a:r>
                <a:rPr lang="en-US" altLang="ko-KR" sz="1200">
                  <a:solidFill>
                    <a:srgbClr val="CF8E6D"/>
                  </a:solidFill>
                  <a:effectLst/>
                  <a:latin typeface="JetBrains Mono"/>
                </a:rPr>
                <a:t>spring.json.trusted.packages</a:t>
              </a: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: com.back.*</a:t>
              </a:r>
              <a:b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        </a:t>
              </a:r>
              <a:r>
                <a:rPr lang="en-US" altLang="ko-KR" sz="1200">
                  <a:solidFill>
                    <a:srgbClr val="CF8E6D"/>
                  </a:solidFill>
                  <a:effectLst/>
                  <a:latin typeface="JetBrains Mono"/>
                </a:rPr>
                <a:t>spring.json.use.type.headers</a:t>
              </a: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: true</a:t>
              </a:r>
              <a:b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en-US" altLang="ko-KR" sz="1200">
                  <a:solidFill>
                    <a:srgbClr val="CF8E6D"/>
                  </a:solidFill>
                  <a:effectLst/>
                  <a:latin typeface="JetBrains Mono"/>
                </a:rPr>
                <a:t>logging</a:t>
              </a: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:</a:t>
              </a:r>
              <a:b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  </a:t>
              </a:r>
              <a:r>
                <a:rPr lang="en-US" altLang="ko-KR" sz="1200">
                  <a:solidFill>
                    <a:srgbClr val="CF8E6D"/>
                  </a:solidFill>
                  <a:effectLst/>
                  <a:latin typeface="JetBrains Mono"/>
                </a:rPr>
                <a:t>level</a:t>
              </a: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:</a:t>
              </a:r>
              <a:b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    </a:t>
              </a:r>
              <a:r>
                <a:rPr lang="en-US" altLang="ko-KR" sz="1200">
                  <a:solidFill>
                    <a:srgbClr val="CF8E6D"/>
                  </a:solidFill>
                  <a:effectLst/>
                  <a:latin typeface="JetBrains Mono"/>
                </a:rPr>
                <a:t>com.back</a:t>
              </a:r>
              <a:r>
                <a:rPr lang="en-US" altLang="ko-KR" sz="1200">
                  <a:solidFill>
                    <a:srgbClr val="BCBEC4"/>
                  </a:solidFill>
                  <a:effectLst/>
                  <a:latin typeface="JetBrains Mono"/>
                </a:rPr>
                <a:t>: </a:t>
              </a:r>
              <a:r>
                <a:rPr lang="en-US" altLang="ko-KR" sz="1200">
                  <a:solidFill>
                    <a:srgbClr val="57AAF7"/>
                  </a:solidFill>
                  <a:effectLst/>
                  <a:latin typeface="JetBrains Mono"/>
                </a:rPr>
                <a:t>DEBUG</a:t>
              </a:r>
              <a:endParaRPr lang="en-US" altLang="ko-KR" sz="1200">
                <a:solidFill>
                  <a:srgbClr val="BCBEC4"/>
                </a:solidFill>
                <a:effectLst/>
                <a:latin typeface="JetBrains Mono"/>
              </a:endParaRPr>
            </a:p>
          </p:txBody>
        </p:sp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7855C5B2-A416-B163-566A-5C83BF80971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0099" y="288949"/>
              <a:ext cx="1390844" cy="323895"/>
            </a:xfrm>
            <a:prstGeom prst="rect">
              <a:avLst/>
            </a:prstGeom>
          </p:spPr>
        </p:pic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FE311460-C9B9-0D53-0D69-42A165EAFEC4}"/>
              </a:ext>
            </a:extLst>
          </p:cNvPr>
          <p:cNvGrpSpPr/>
          <p:nvPr/>
        </p:nvGrpSpPr>
        <p:grpSpPr>
          <a:xfrm>
            <a:off x="6506677" y="641719"/>
            <a:ext cx="5495223" cy="1774221"/>
            <a:chOff x="3047198" y="802445"/>
            <a:chExt cx="6097604" cy="1754326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E7F0AFA-EB90-74CE-A910-E2CD5DBEAC69}"/>
                </a:ext>
              </a:extLst>
            </p:cNvPr>
            <p:cNvSpPr txBox="1"/>
            <p:nvPr/>
          </p:nvSpPr>
          <p:spPr>
            <a:xfrm>
              <a:off x="3047198" y="802445"/>
              <a:ext cx="6097604" cy="1754326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US" altLang="ko-KR" sz="1800">
                  <a:solidFill>
                    <a:srgbClr val="CF8E6D"/>
                  </a:solidFill>
                  <a:effectLst/>
                  <a:latin typeface="JetBrains Mono"/>
                </a:rPr>
                <a:t>spring</a:t>
              </a:r>
              <a:r>
                <a:rPr lang="en-US" altLang="ko-KR" sz="1800">
                  <a:solidFill>
                    <a:srgbClr val="BCBEC4"/>
                  </a:solidFill>
                  <a:effectLst/>
                  <a:latin typeface="JetBrains Mono"/>
                </a:rPr>
                <a:t>:</a:t>
              </a:r>
              <a:br>
                <a:rPr lang="en-US" altLang="ko-KR" sz="180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en-US" altLang="ko-KR" sz="1800">
                  <a:solidFill>
                    <a:srgbClr val="BCBEC4"/>
                  </a:solidFill>
                  <a:effectLst/>
                  <a:latin typeface="JetBrains Mono"/>
                </a:rPr>
                <a:t>  </a:t>
              </a:r>
              <a:r>
                <a:rPr lang="en-US" altLang="ko-KR" sz="1800">
                  <a:solidFill>
                    <a:srgbClr val="CF8E6D"/>
                  </a:solidFill>
                  <a:effectLst/>
                  <a:latin typeface="JetBrains Mono"/>
                </a:rPr>
                <a:t>kafka</a:t>
              </a:r>
              <a:r>
                <a:rPr lang="en-US" altLang="ko-KR" sz="1800">
                  <a:solidFill>
                    <a:srgbClr val="BCBEC4"/>
                  </a:solidFill>
                  <a:effectLst/>
                  <a:latin typeface="JetBrains Mono"/>
                </a:rPr>
                <a:t>:</a:t>
              </a:r>
              <a:br>
                <a:rPr lang="en-US" altLang="ko-KR" sz="180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en-US" altLang="ko-KR" sz="1800">
                  <a:solidFill>
                    <a:srgbClr val="BCBEC4"/>
                  </a:solidFill>
                  <a:effectLst/>
                  <a:latin typeface="JetBrains Mono"/>
                </a:rPr>
                <a:t>    </a:t>
              </a:r>
              <a:r>
                <a:rPr lang="en-US" altLang="ko-KR" sz="1800" i="1">
                  <a:solidFill>
                    <a:srgbClr val="5F826B"/>
                  </a:solidFill>
                  <a:effectLst/>
                  <a:latin typeface="JetBrains Mono"/>
                </a:rPr>
                <a:t># No need to set `bootstrap-servers` in the test profile; `@EmbeddedKafka` provides it.</a:t>
              </a:r>
              <a:br>
                <a:rPr lang="en-US" altLang="ko-KR" sz="1800" i="1">
                  <a:solidFill>
                    <a:srgbClr val="5F826B"/>
                  </a:solidFill>
                  <a:effectLst/>
                  <a:latin typeface="JetBrains Mono"/>
                </a:rPr>
              </a:br>
              <a:r>
                <a:rPr lang="en-US" altLang="ko-KR" sz="1800" i="1">
                  <a:solidFill>
                    <a:srgbClr val="5F826B"/>
                  </a:solidFill>
                  <a:effectLst/>
                  <a:latin typeface="JetBrains Mono"/>
                </a:rPr>
                <a:t>    </a:t>
              </a:r>
              <a:r>
                <a:rPr lang="en-US" altLang="ko-KR" sz="1800">
                  <a:solidFill>
                    <a:srgbClr val="CF8E6D"/>
                  </a:solidFill>
                  <a:effectLst/>
                  <a:latin typeface="JetBrains Mono"/>
                </a:rPr>
                <a:t>consumer</a:t>
              </a:r>
              <a:r>
                <a:rPr lang="en-US" altLang="ko-KR" sz="1800">
                  <a:solidFill>
                    <a:srgbClr val="BCBEC4"/>
                  </a:solidFill>
                  <a:effectLst/>
                  <a:latin typeface="JetBrains Mono"/>
                </a:rPr>
                <a:t>:</a:t>
              </a:r>
              <a:br>
                <a:rPr lang="en-US" altLang="ko-KR" sz="180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en-US" altLang="ko-KR" sz="1800">
                  <a:solidFill>
                    <a:srgbClr val="BCBEC4"/>
                  </a:solidFill>
                  <a:effectLst/>
                  <a:latin typeface="JetBrains Mono"/>
                </a:rPr>
                <a:t>      </a:t>
              </a:r>
              <a:r>
                <a:rPr lang="en-US" altLang="ko-KR" sz="1800">
                  <a:solidFill>
                    <a:srgbClr val="CF8E6D"/>
                  </a:solidFill>
                  <a:effectLst/>
                  <a:latin typeface="JetBrains Mono"/>
                </a:rPr>
                <a:t>auto-offset-reset</a:t>
              </a:r>
              <a:r>
                <a:rPr lang="en-US" altLang="ko-KR" sz="1800">
                  <a:solidFill>
                    <a:srgbClr val="BCBEC4"/>
                  </a:solidFill>
                  <a:effectLst/>
                  <a:latin typeface="JetBrains Mono"/>
                </a:rPr>
                <a:t>: </a:t>
              </a:r>
              <a:r>
                <a:rPr lang="en-US" altLang="ko-KR" sz="1800">
                  <a:solidFill>
                    <a:srgbClr val="57AAF7"/>
                  </a:solidFill>
                  <a:effectLst/>
                  <a:latin typeface="JetBrains Mono"/>
                </a:rPr>
                <a:t>earliest</a:t>
              </a:r>
              <a:endParaRPr lang="en-US" altLang="ko-KR" sz="1800">
                <a:solidFill>
                  <a:srgbClr val="BCBEC4"/>
                </a:solidFill>
                <a:effectLst/>
                <a:latin typeface="JetBrains Mono"/>
              </a:endParaRP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7A830025-06D5-629C-1461-B108F5C3D8A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592010" y="802445"/>
              <a:ext cx="1552792" cy="32389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502954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46F32-3AD4-EBEE-E04C-3762D9BCE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5EF30764-67DA-45B7-F113-00CE905785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847" y="209059"/>
            <a:ext cx="2734057" cy="272453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F1B8619-9187-6073-5C60-ED30CCD537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6508" y="209059"/>
            <a:ext cx="6601746" cy="4382112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BED8A1D0-9EF9-C6DD-8C2E-B772E0EFED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706" y="4837454"/>
            <a:ext cx="4667901" cy="609685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B8D0BA9F-78DA-6F32-7AF6-177677DC56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4128" y="103181"/>
            <a:ext cx="3972025" cy="3142949"/>
          </a:xfrm>
          <a:prstGeom prst="rect">
            <a:avLst/>
          </a:prstGeom>
          <a:ln>
            <a:solidFill>
              <a:srgbClr val="0070C0"/>
            </a:solidFill>
          </a:ln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A71601D1-42BF-A5C9-34AF-624C9F2A36C4}"/>
              </a:ext>
            </a:extLst>
          </p:cNvPr>
          <p:cNvSpPr/>
          <p:nvPr/>
        </p:nvSpPr>
        <p:spPr>
          <a:xfrm>
            <a:off x="3609474" y="2675823"/>
            <a:ext cx="4071486" cy="5005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B70290A-480A-3181-0B50-051E2E5BFEF7}"/>
              </a:ext>
            </a:extLst>
          </p:cNvPr>
          <p:cNvSpPr/>
          <p:nvPr/>
        </p:nvSpPr>
        <p:spPr>
          <a:xfrm>
            <a:off x="3489575" y="3246130"/>
            <a:ext cx="5904682" cy="435534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22AAF70-3DBC-61EA-3A75-EEC90B6780D4}"/>
              </a:ext>
            </a:extLst>
          </p:cNvPr>
          <p:cNvSpPr txBox="1"/>
          <p:nvPr/>
        </p:nvSpPr>
        <p:spPr>
          <a:xfrm>
            <a:off x="5284269" y="4735629"/>
            <a:ext cx="672188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빨간색 박스 </a:t>
            </a:r>
            <a:r>
              <a:rPr lang="en-US" altLang="ko-KR" sz="1200"/>
              <a:t>Kafka </a:t>
            </a:r>
            <a:r>
              <a:rPr lang="ko-KR" altLang="en-US" sz="1200"/>
              <a:t>레코드 전송 </a:t>
            </a:r>
            <a:r>
              <a:rPr lang="en-US" altLang="ko-KR" sz="1200"/>
              <a:t>(Producer)</a:t>
            </a:r>
            <a:br>
              <a:rPr lang="en-US" altLang="ko-KR" sz="1200"/>
            </a:br>
            <a:r>
              <a:rPr lang="ko-KR" altLang="en-US" sz="1200"/>
              <a:t>연두색 박스 레코드 수신</a:t>
            </a:r>
            <a:r>
              <a:rPr lang="en-US" altLang="ko-KR" sz="1200"/>
              <a:t>(Consumer)</a:t>
            </a:r>
            <a:br>
              <a:rPr lang="en-US" altLang="ko-KR" sz="1200"/>
            </a:br>
            <a:br>
              <a:rPr lang="en-US" altLang="ko-KR" sz="1200"/>
            </a:br>
            <a:r>
              <a:rPr lang="ko-KR" altLang="en-US" sz="1200"/>
              <a:t>코드 내용 </a:t>
            </a:r>
            <a:r>
              <a:rPr lang="en-US" altLang="ko-KR" sz="1200"/>
              <a:t>: 10</a:t>
            </a:r>
            <a:r>
              <a:rPr lang="ko-KR" altLang="en-US" sz="1200"/>
              <a:t>초 대기 </a:t>
            </a:r>
            <a:r>
              <a:rPr lang="en-US" altLang="ko-KR" sz="1200"/>
              <a:t>- </a:t>
            </a:r>
            <a:r>
              <a:rPr lang="ko-KR" altLang="en-US" sz="1200"/>
              <a:t>리스너 수신 확인</a:t>
            </a:r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458AE8C6-14E4-7A5E-838B-739EC9C016C3}"/>
              </a:ext>
            </a:extLst>
          </p:cNvPr>
          <p:cNvGrpSpPr/>
          <p:nvPr/>
        </p:nvGrpSpPr>
        <p:grpSpPr>
          <a:xfrm>
            <a:off x="354706" y="5539819"/>
            <a:ext cx="5574456" cy="1209844"/>
            <a:chOff x="354706" y="5539819"/>
            <a:chExt cx="5574456" cy="1209844"/>
          </a:xfrm>
        </p:grpSpPr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4FD00E17-EB6A-2DA4-9F37-19BB77FFF1B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54706" y="5539819"/>
              <a:ext cx="3305636" cy="1209844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FC2D1DF-D53E-0843-CDA7-0D802492B56C}"/>
                </a:ext>
              </a:extLst>
            </p:cNvPr>
            <p:cNvSpPr txBox="1"/>
            <p:nvPr/>
          </p:nvSpPr>
          <p:spPr>
            <a:xfrm>
              <a:off x="3753853" y="5611528"/>
              <a:ext cx="217530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/>
                <a:t>record</a:t>
              </a:r>
              <a:r>
                <a:rPr lang="ko-KR" altLang="en-US" sz="1200"/>
                <a:t> 타입을 </a:t>
              </a:r>
              <a:r>
                <a:rPr lang="en-US" altLang="ko-KR" sz="1200"/>
                <a:t>class</a:t>
              </a:r>
              <a:r>
                <a:rPr lang="ko-KR" altLang="en-US" sz="1200"/>
                <a:t>로 비슷하게 표현하면 </a:t>
              </a:r>
              <a:br>
                <a:rPr lang="en-US" altLang="ko-KR" sz="1200"/>
              </a:br>
              <a:r>
                <a:rPr lang="ko-KR" altLang="en-US" sz="1200"/>
                <a:t>좌측 사진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363483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183EF3-B60E-A7A7-85D2-040C82D58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2</a:t>
            </a:r>
            <a:r>
              <a:rPr lang="ko-KR" altLang="en-US"/>
              <a:t>강 </a:t>
            </a:r>
            <a:r>
              <a:rPr lang="en-US" altLang="ko-KR"/>
              <a:t>IDE Docker </a:t>
            </a:r>
            <a:r>
              <a:rPr lang="ko-KR" altLang="en-US"/>
              <a:t>개발환경 셋팅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508080C-135E-D493-8DC7-01CE8ACA70EA}"/>
              </a:ext>
            </a:extLst>
          </p:cNvPr>
          <p:cNvGrpSpPr/>
          <p:nvPr/>
        </p:nvGrpSpPr>
        <p:grpSpPr>
          <a:xfrm>
            <a:off x="459876" y="1875618"/>
            <a:ext cx="5458587" cy="562053"/>
            <a:chOff x="1258773" y="1798615"/>
            <a:chExt cx="5458587" cy="562053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63D88A0E-D2F7-1384-EC34-FD40C9CEE0A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58773" y="2122510"/>
              <a:ext cx="5458587" cy="238158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8F703EB1-8610-4B29-A7E5-C1535F6FE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58773" y="1798615"/>
              <a:ext cx="1390844" cy="323895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B5603031-5503-7B5E-FC25-2F39649E8271}"/>
              </a:ext>
            </a:extLst>
          </p:cNvPr>
          <p:cNvSpPr txBox="1"/>
          <p:nvPr/>
        </p:nvSpPr>
        <p:spPr>
          <a:xfrm>
            <a:off x="459876" y="2498367"/>
            <a:ext cx="31378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/>
              <a:t>의존성 추가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8C28672C-0F09-0DFB-B256-5F33B617FD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876" y="2820673"/>
            <a:ext cx="3648584" cy="1533739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BD4C1B19-0823-6605-43C1-E446400E3C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1438" y="2820673"/>
            <a:ext cx="4201111" cy="1581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0747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3F1E0228-947C-4D61-6E05-E82BEB8A66EF}"/>
              </a:ext>
            </a:extLst>
          </p:cNvPr>
          <p:cNvSpPr txBox="1"/>
          <p:nvPr/>
        </p:nvSpPr>
        <p:spPr>
          <a:xfrm>
            <a:off x="6094396" y="393327"/>
            <a:ext cx="6055894" cy="482404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000">
                <a:solidFill>
                  <a:srgbClr val="CF8E6D"/>
                </a:solidFill>
                <a:effectLst/>
                <a:latin typeface="JetBrains Mono"/>
              </a:rPr>
              <a:t>healthcheck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:</a:t>
            </a:r>
            <a:b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     </a:t>
            </a:r>
            <a:r>
              <a:rPr lang="en-US" altLang="ko-KR" sz="1000" i="1">
                <a:solidFill>
                  <a:srgbClr val="5F826B"/>
                </a:solidFill>
                <a:effectLst/>
                <a:latin typeface="JetBrains Mono"/>
              </a:rPr>
              <a:t># </a:t>
            </a:r>
            <a:r>
              <a:rPr lang="ko-KR" altLang="en-US" sz="1000" i="1">
                <a:solidFill>
                  <a:srgbClr val="5F826B"/>
                </a:solidFill>
                <a:effectLst/>
                <a:latin typeface="Courier New" panose="02070309020205020404" pitchFamily="49" charset="0"/>
              </a:rPr>
              <a:t>✅ 내부에서 외부 리스너로 체크해도 되고</a:t>
            </a:r>
            <a:r>
              <a:rPr lang="en-US" altLang="ko-KR" sz="1000" i="1">
                <a:solidFill>
                  <a:srgbClr val="5F826B"/>
                </a:solidFill>
                <a:effectLst/>
                <a:latin typeface="JetBrains Mono"/>
              </a:rPr>
              <a:t>, internal://9092</a:t>
            </a:r>
            <a:r>
              <a:rPr lang="ko-KR" altLang="en-US" sz="1000" i="1">
                <a:solidFill>
                  <a:srgbClr val="5F826B"/>
                </a:solidFill>
                <a:effectLst/>
                <a:latin typeface="Courier New" panose="02070309020205020404" pitchFamily="49" charset="0"/>
              </a:rPr>
              <a:t>로 해도 됨</a:t>
            </a:r>
            <a:br>
              <a:rPr lang="ko-KR" altLang="en-US" sz="1000" i="1">
                <a:solidFill>
                  <a:srgbClr val="5F826B"/>
                </a:solidFill>
                <a:effectLst/>
                <a:latin typeface="Courier New" panose="02070309020205020404" pitchFamily="49" charset="0"/>
              </a:rPr>
            </a:br>
            <a:r>
              <a:rPr lang="ko-KR" altLang="en-US" sz="1000" i="1">
                <a:solidFill>
                  <a:srgbClr val="5F826B"/>
                </a:solidFill>
                <a:effectLst/>
                <a:latin typeface="Courier New" panose="02070309020205020404" pitchFamily="49" charset="0"/>
              </a:rPr>
              <a:t>      </a:t>
            </a:r>
            <a:r>
              <a:rPr lang="en-US" altLang="ko-KR" sz="1000" i="1">
                <a:solidFill>
                  <a:srgbClr val="5F826B"/>
                </a:solidFill>
                <a:effectLst/>
                <a:latin typeface="JetBrains Mono"/>
              </a:rPr>
              <a:t># </a:t>
            </a:r>
            <a:r>
              <a:rPr lang="ko-KR" altLang="en-US" sz="1000" i="1">
                <a:solidFill>
                  <a:srgbClr val="5F826B"/>
                </a:solidFill>
                <a:effectLst/>
                <a:latin typeface="Courier New" panose="02070309020205020404" pitchFamily="49" charset="0"/>
              </a:rPr>
              <a:t>여기서는 기존 의도 유지</a:t>
            </a:r>
            <a:br>
              <a:rPr lang="ko-KR" altLang="en-US" sz="1000" i="1">
                <a:solidFill>
                  <a:srgbClr val="5F826B"/>
                </a:solidFill>
                <a:effectLst/>
                <a:latin typeface="Courier New" panose="02070309020205020404" pitchFamily="49" charset="0"/>
              </a:rPr>
            </a:br>
            <a:r>
              <a:rPr lang="ko-KR" altLang="en-US" sz="1000" i="1">
                <a:solidFill>
                  <a:srgbClr val="5F826B"/>
                </a:solidFill>
                <a:effectLst/>
                <a:latin typeface="Courier New" panose="02070309020205020404" pitchFamily="49" charset="0"/>
              </a:rPr>
              <a:t>      </a:t>
            </a:r>
            <a:r>
              <a:rPr lang="en-US" altLang="ko-KR" sz="1000">
                <a:solidFill>
                  <a:srgbClr val="CF8E6D"/>
                </a:solidFill>
                <a:effectLst/>
                <a:latin typeface="JetBrains Mono"/>
              </a:rPr>
              <a:t>test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: [</a:t>
            </a:r>
            <a:r>
              <a:rPr lang="en-US" altLang="ko-KR" sz="1000">
                <a:solidFill>
                  <a:srgbClr val="6AAB73"/>
                </a:solidFill>
                <a:effectLst/>
                <a:latin typeface="JetBrains Mono"/>
              </a:rPr>
              <a:t>"CMD-SHELL"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lang="en-US" altLang="ko-KR" sz="1000">
                <a:solidFill>
                  <a:srgbClr val="6AAB73"/>
                </a:solidFill>
                <a:effectLst/>
                <a:latin typeface="JetBrains Mono"/>
              </a:rPr>
              <a:t>"rpk cluster health -X brokers=localhost:19092 || exit 1"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]</a:t>
            </a:r>
            <a:b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     </a:t>
            </a:r>
            <a:r>
              <a:rPr lang="en-US" altLang="ko-KR" sz="1000">
                <a:solidFill>
                  <a:srgbClr val="CF8E6D"/>
                </a:solidFill>
                <a:effectLst/>
                <a:latin typeface="JetBrains Mono"/>
              </a:rPr>
              <a:t>interval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: 5s</a:t>
            </a:r>
            <a:b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     </a:t>
            </a:r>
            <a:r>
              <a:rPr lang="en-US" altLang="ko-KR" sz="1000">
                <a:solidFill>
                  <a:srgbClr val="CF8E6D"/>
                </a:solidFill>
                <a:effectLst/>
                <a:latin typeface="JetBrains Mono"/>
              </a:rPr>
              <a:t>timeout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: 3s</a:t>
            </a:r>
            <a:b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     </a:t>
            </a:r>
            <a:r>
              <a:rPr lang="en-US" altLang="ko-KR" sz="1000">
                <a:solidFill>
                  <a:srgbClr val="CF8E6D"/>
                </a:solidFill>
                <a:effectLst/>
                <a:latin typeface="JetBrains Mono"/>
              </a:rPr>
              <a:t>retries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: 20</a:t>
            </a:r>
            <a:b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</a:br>
            <a:b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 </a:t>
            </a:r>
            <a:r>
              <a:rPr lang="en-US" altLang="ko-KR" sz="1000">
                <a:solidFill>
                  <a:srgbClr val="CF8E6D"/>
                </a:solidFill>
                <a:effectLst/>
                <a:latin typeface="JetBrains Mono"/>
              </a:rPr>
              <a:t>console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:</a:t>
            </a:r>
            <a:b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en-US" altLang="ko-KR" sz="1000">
                <a:solidFill>
                  <a:srgbClr val="CF8E6D"/>
                </a:solidFill>
                <a:effectLst/>
                <a:latin typeface="JetBrains Mono"/>
              </a:rPr>
              <a:t>image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: docker.redpanda.com/redpandadata/console:latest</a:t>
            </a:r>
            <a:b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en-US" altLang="ko-KR" sz="1000">
                <a:solidFill>
                  <a:srgbClr val="CF8E6D"/>
                </a:solidFill>
                <a:effectLst/>
                <a:latin typeface="JetBrains Mono"/>
              </a:rPr>
              <a:t>ports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:</a:t>
            </a:r>
            <a:b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     - </a:t>
            </a:r>
            <a:r>
              <a:rPr lang="en-US" altLang="ko-KR" sz="1000">
                <a:solidFill>
                  <a:srgbClr val="6AAB73"/>
                </a:solidFill>
                <a:effectLst/>
                <a:latin typeface="JetBrains Mono"/>
              </a:rPr>
              <a:t>"8090:8080"</a:t>
            </a:r>
            <a:br>
              <a:rPr lang="en-US" altLang="ko-KR" sz="1000">
                <a:solidFill>
                  <a:srgbClr val="6AAB73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6AAB73"/>
                </a:solidFill>
                <a:effectLst/>
                <a:latin typeface="JetBrains Mono"/>
              </a:rPr>
              <a:t>    </a:t>
            </a:r>
            <a:r>
              <a:rPr lang="en-US" altLang="ko-KR" sz="1000">
                <a:solidFill>
                  <a:srgbClr val="CF8E6D"/>
                </a:solidFill>
                <a:effectLst/>
                <a:latin typeface="JetBrains Mono"/>
              </a:rPr>
              <a:t>entrypoint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: /bin/sh</a:t>
            </a:r>
            <a:b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en-US" altLang="ko-KR" sz="1000">
                <a:solidFill>
                  <a:srgbClr val="CF8E6D"/>
                </a:solidFill>
                <a:effectLst/>
                <a:latin typeface="JetBrains Mono"/>
              </a:rPr>
              <a:t>command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: -c 'echo "$$CONSOLE_CONFIG_FILE" &gt; /tmp/config.yml; /app/console'</a:t>
            </a:r>
            <a:b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en-US" altLang="ko-KR" sz="1000">
                <a:solidFill>
                  <a:srgbClr val="CF8E6D"/>
                </a:solidFill>
                <a:effectLst/>
                <a:latin typeface="JetBrains Mono"/>
              </a:rPr>
              <a:t>environment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:</a:t>
            </a:r>
            <a:b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     </a:t>
            </a:r>
            <a:r>
              <a:rPr lang="en-US" altLang="ko-KR" sz="1000">
                <a:solidFill>
                  <a:srgbClr val="CF8E6D"/>
                </a:solidFill>
                <a:effectLst/>
                <a:latin typeface="JetBrains Mono"/>
              </a:rPr>
              <a:t>CONFIG_FILEPATH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: /tmp/config.yml</a:t>
            </a:r>
            <a:b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     </a:t>
            </a:r>
            <a:r>
              <a:rPr lang="en-US" altLang="ko-KR" sz="1000">
                <a:solidFill>
                  <a:srgbClr val="CF8E6D"/>
                </a:solidFill>
                <a:effectLst/>
                <a:latin typeface="JetBrains Mono"/>
              </a:rPr>
              <a:t>CONSOLE_CONFIG_FILE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: |</a:t>
            </a:r>
            <a:b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       kafka:</a:t>
            </a:r>
            <a:b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         brokers: ["redpanda:9092"]        # </a:t>
            </a:r>
            <a:r>
              <a:rPr lang="ko-KR" altLang="en-US" sz="1000">
                <a:solidFill>
                  <a:srgbClr val="BCBEC4"/>
                </a:solidFill>
                <a:effectLst/>
                <a:latin typeface="Courier New" panose="02070309020205020404" pitchFamily="49" charset="0"/>
              </a:rPr>
              <a:t>✅ 도커 내부 클라이언트는</a:t>
            </a:r>
            <a:r>
              <a:rPr lang="ko-KR" altLang="en-US" sz="1000">
                <a:solidFill>
                  <a:srgbClr val="BCBEC4"/>
                </a:solidFill>
                <a:effectLst/>
                <a:latin typeface="JetBrains Mono"/>
              </a:rPr>
              <a:t> 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internal </a:t>
            </a:r>
            <a:r>
              <a:rPr lang="ko-KR" altLang="en-US" sz="1000">
                <a:solidFill>
                  <a:srgbClr val="BCBEC4"/>
                </a:solidFill>
                <a:effectLst/>
                <a:latin typeface="Courier New" panose="02070309020205020404" pitchFamily="49" charset="0"/>
              </a:rPr>
              <a:t>리스너 사용</a:t>
            </a:r>
            <a:br>
              <a:rPr lang="ko-KR" altLang="en-US" sz="1000">
                <a:solidFill>
                  <a:srgbClr val="BCBEC4"/>
                </a:solidFill>
                <a:effectLst/>
                <a:latin typeface="Courier New" panose="02070309020205020404" pitchFamily="49" charset="0"/>
              </a:rPr>
            </a:br>
            <a:r>
              <a:rPr lang="ko-KR" altLang="en-US" sz="1000">
                <a:solidFill>
                  <a:srgbClr val="BCBEC4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redpanda:</a:t>
            </a:r>
            <a:b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         adminApi:</a:t>
            </a:r>
            <a:b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           enabled: true</a:t>
            </a:r>
            <a:b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           urls: ["http://redpanda:9644"]  # </a:t>
            </a:r>
            <a:r>
              <a:rPr lang="ko-KR" altLang="en-US" sz="1000">
                <a:solidFill>
                  <a:srgbClr val="BCBEC4"/>
                </a:solidFill>
                <a:effectLst/>
                <a:latin typeface="Courier New" panose="02070309020205020404" pitchFamily="49" charset="0"/>
              </a:rPr>
              <a:t>✅ 도커 내부에서</a:t>
            </a:r>
            <a:r>
              <a:rPr lang="ko-KR" altLang="en-US" sz="1000">
                <a:solidFill>
                  <a:srgbClr val="BCBEC4"/>
                </a:solidFill>
                <a:effectLst/>
                <a:latin typeface="JetBrains Mono"/>
              </a:rPr>
              <a:t> 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admin api </a:t>
            </a:r>
            <a:r>
              <a:rPr lang="ko-KR" altLang="en-US" sz="1000">
                <a:solidFill>
                  <a:srgbClr val="BCBEC4"/>
                </a:solidFill>
                <a:effectLst/>
                <a:latin typeface="Courier New" panose="02070309020205020404" pitchFamily="49" charset="0"/>
              </a:rPr>
              <a:t>접근</a:t>
            </a:r>
            <a:br>
              <a:rPr lang="ko-KR" altLang="en-US" sz="1000">
                <a:solidFill>
                  <a:srgbClr val="BCBEC4"/>
                </a:solidFill>
                <a:effectLst/>
                <a:latin typeface="Courier New" panose="02070309020205020404" pitchFamily="49" charset="0"/>
              </a:rPr>
            </a:br>
            <a:br>
              <a:rPr lang="ko-KR" altLang="en-US" sz="1000">
                <a:solidFill>
                  <a:srgbClr val="BCBEC4"/>
                </a:solidFill>
                <a:effectLst/>
                <a:latin typeface="Courier New" panose="02070309020205020404" pitchFamily="49" charset="0"/>
              </a:rPr>
            </a:br>
            <a:r>
              <a:rPr lang="ko-KR" altLang="en-US" sz="1000">
                <a:solidFill>
                  <a:srgbClr val="BCBEC4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altLang="ko-KR" sz="1000">
                <a:solidFill>
                  <a:srgbClr val="CF8E6D"/>
                </a:solidFill>
                <a:effectLst/>
                <a:latin typeface="JetBrains Mono"/>
              </a:rPr>
              <a:t>depends_on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:</a:t>
            </a:r>
            <a:b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     </a:t>
            </a:r>
            <a:r>
              <a:rPr lang="en-US" altLang="ko-KR" sz="1000">
                <a:solidFill>
                  <a:srgbClr val="CF8E6D"/>
                </a:solidFill>
                <a:effectLst/>
                <a:latin typeface="JetBrains Mono"/>
              </a:rPr>
              <a:t>redpanda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:</a:t>
            </a:r>
            <a:b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       </a:t>
            </a:r>
            <a:r>
              <a:rPr lang="en-US" altLang="ko-KR" sz="1000">
                <a:solidFill>
                  <a:srgbClr val="CF8E6D"/>
                </a:solidFill>
                <a:effectLst/>
                <a:latin typeface="JetBrains Mono"/>
              </a:rPr>
              <a:t>condition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: service_healthy  </a:t>
            </a:r>
            <a:r>
              <a:rPr lang="en-US" altLang="ko-KR" sz="1000" i="1">
                <a:solidFill>
                  <a:srgbClr val="5F826B"/>
                </a:solidFill>
                <a:effectLst/>
                <a:latin typeface="JetBrains Mono"/>
              </a:rPr>
              <a:t># </a:t>
            </a:r>
            <a:r>
              <a:rPr lang="ko-KR" altLang="en-US" sz="1000" i="1">
                <a:solidFill>
                  <a:srgbClr val="5F826B"/>
                </a:solidFill>
                <a:effectLst/>
                <a:latin typeface="Courier New" panose="02070309020205020404" pitchFamily="49" charset="0"/>
              </a:rPr>
              <a:t>✅</a:t>
            </a:r>
            <a:r>
              <a:rPr lang="ko-KR" altLang="en-US" sz="1000" i="1">
                <a:solidFill>
                  <a:srgbClr val="5F826B"/>
                </a:solidFill>
                <a:effectLst/>
                <a:latin typeface="JetBrains Mono"/>
              </a:rPr>
              <a:t> </a:t>
            </a:r>
            <a:r>
              <a:rPr lang="en-US" altLang="ko-KR" sz="1000" i="1">
                <a:solidFill>
                  <a:srgbClr val="5F826B"/>
                </a:solidFill>
                <a:effectLst/>
                <a:latin typeface="JetBrains Mono"/>
              </a:rPr>
              <a:t>"</a:t>
            </a:r>
            <a:r>
              <a:rPr lang="ko-KR" altLang="en-US" sz="1000" i="1">
                <a:solidFill>
                  <a:srgbClr val="5F826B"/>
                </a:solidFill>
                <a:effectLst/>
                <a:latin typeface="Courier New" panose="02070309020205020404" pitchFamily="49" charset="0"/>
              </a:rPr>
              <a:t>실행 순서</a:t>
            </a:r>
            <a:r>
              <a:rPr lang="en-US" altLang="ko-KR" sz="1000" i="1">
                <a:solidFill>
                  <a:srgbClr val="5F826B"/>
                </a:solidFill>
                <a:effectLst/>
                <a:latin typeface="JetBrains Mono"/>
              </a:rPr>
              <a:t>"</a:t>
            </a:r>
            <a:r>
              <a:rPr lang="ko-KR" altLang="en-US" sz="1000" i="1">
                <a:solidFill>
                  <a:srgbClr val="5F826B"/>
                </a:solidFill>
                <a:effectLst/>
                <a:latin typeface="Courier New" panose="02070309020205020404" pitchFamily="49" charset="0"/>
              </a:rPr>
              <a:t>가 아니라</a:t>
            </a:r>
            <a:r>
              <a:rPr lang="ko-KR" altLang="en-US" sz="1000" i="1">
                <a:solidFill>
                  <a:srgbClr val="5F826B"/>
                </a:solidFill>
                <a:effectLst/>
                <a:latin typeface="JetBrains Mono"/>
              </a:rPr>
              <a:t> </a:t>
            </a:r>
            <a:r>
              <a:rPr lang="en-US" altLang="ko-KR" sz="1000" i="1">
                <a:solidFill>
                  <a:srgbClr val="5F826B"/>
                </a:solidFill>
                <a:effectLst/>
                <a:latin typeface="JetBrains Mono"/>
              </a:rPr>
              <a:t>"</a:t>
            </a:r>
            <a:r>
              <a:rPr lang="ko-KR" altLang="en-US" sz="1000" i="1">
                <a:solidFill>
                  <a:srgbClr val="5F826B"/>
                </a:solidFill>
                <a:effectLst/>
                <a:latin typeface="Courier New" panose="02070309020205020404" pitchFamily="49" charset="0"/>
              </a:rPr>
              <a:t>준비 완료</a:t>
            </a:r>
            <a:r>
              <a:rPr lang="en-US" altLang="ko-KR" sz="1000" i="1">
                <a:solidFill>
                  <a:srgbClr val="5F826B"/>
                </a:solidFill>
                <a:effectLst/>
                <a:latin typeface="JetBrains Mono"/>
              </a:rPr>
              <a:t>"</a:t>
            </a:r>
            <a:r>
              <a:rPr lang="ko-KR" altLang="en-US" sz="1000" i="1">
                <a:solidFill>
                  <a:srgbClr val="5F826B"/>
                </a:solidFill>
                <a:effectLst/>
                <a:latin typeface="Courier New" panose="02070309020205020404" pitchFamily="49" charset="0"/>
              </a:rPr>
              <a:t>를 보장</a:t>
            </a:r>
            <a:br>
              <a:rPr lang="ko-KR" altLang="en-US" sz="1000" i="1">
                <a:solidFill>
                  <a:srgbClr val="5F826B"/>
                </a:solidFill>
                <a:effectLst/>
                <a:latin typeface="Courier New" panose="02070309020205020404" pitchFamily="49" charset="0"/>
              </a:rPr>
            </a:br>
            <a:br>
              <a:rPr lang="ko-KR" altLang="en-US" sz="1000" i="1">
                <a:solidFill>
                  <a:srgbClr val="5F826B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000">
                <a:solidFill>
                  <a:srgbClr val="CF8E6D"/>
                </a:solidFill>
                <a:effectLst/>
                <a:latin typeface="JetBrains Mono"/>
              </a:rPr>
              <a:t>volumes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:</a:t>
            </a:r>
            <a:b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 </a:t>
            </a:r>
            <a:r>
              <a:rPr lang="en-US" altLang="ko-KR" sz="1000">
                <a:solidFill>
                  <a:srgbClr val="CF8E6D"/>
                </a:solidFill>
                <a:effectLst/>
                <a:latin typeface="JetBrains Mono"/>
              </a:rPr>
              <a:t>redpanda_data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E6F803C-69F1-EF97-C815-63BD65F93387}"/>
              </a:ext>
            </a:extLst>
          </p:cNvPr>
          <p:cNvSpPr txBox="1"/>
          <p:nvPr/>
        </p:nvSpPr>
        <p:spPr>
          <a:xfrm>
            <a:off x="219777" y="393327"/>
            <a:ext cx="5622758" cy="542456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050">
                <a:solidFill>
                  <a:srgbClr val="CF8E6D"/>
                </a:solidFill>
                <a:effectLst/>
                <a:latin typeface="JetBrains Mono"/>
              </a:rPr>
              <a:t>services</a:t>
            </a:r>
            <a:r>
              <a:rPr lang="en-US" altLang="ko-KR" sz="1050">
                <a:solidFill>
                  <a:srgbClr val="BCBEC4"/>
                </a:solidFill>
                <a:effectLst/>
                <a:latin typeface="JetBrains Mono"/>
              </a:rPr>
              <a:t>:</a:t>
            </a:r>
            <a:br>
              <a:rPr lang="en-US" altLang="ko-KR" sz="105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50">
                <a:solidFill>
                  <a:srgbClr val="BCBEC4"/>
                </a:solidFill>
                <a:effectLst/>
                <a:latin typeface="JetBrains Mono"/>
              </a:rPr>
              <a:t>  </a:t>
            </a:r>
            <a:r>
              <a:rPr lang="en-US" altLang="ko-KR" sz="1050">
                <a:solidFill>
                  <a:srgbClr val="CF8E6D"/>
                </a:solidFill>
                <a:effectLst/>
                <a:latin typeface="JetBrains Mono"/>
              </a:rPr>
              <a:t>redpanda</a:t>
            </a:r>
            <a:r>
              <a:rPr lang="en-US" altLang="ko-KR" sz="1050">
                <a:solidFill>
                  <a:srgbClr val="BCBEC4"/>
                </a:solidFill>
                <a:effectLst/>
                <a:latin typeface="JetBrains Mono"/>
              </a:rPr>
              <a:t>:</a:t>
            </a:r>
            <a:br>
              <a:rPr lang="en-US" altLang="ko-KR" sz="105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5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en-US" altLang="ko-KR" sz="1050">
                <a:solidFill>
                  <a:srgbClr val="CF8E6D"/>
                </a:solidFill>
                <a:effectLst/>
                <a:latin typeface="JetBrains Mono"/>
              </a:rPr>
              <a:t>image</a:t>
            </a:r>
            <a:r>
              <a:rPr lang="en-US" altLang="ko-KR" sz="1050">
                <a:solidFill>
                  <a:srgbClr val="BCBEC4"/>
                </a:solidFill>
                <a:effectLst/>
                <a:latin typeface="JetBrains Mono"/>
              </a:rPr>
              <a:t>: docker.redpanda.com/redpandadata/redpanda:latest</a:t>
            </a:r>
            <a:br>
              <a:rPr lang="en-US" altLang="ko-KR" sz="105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5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en-US" altLang="ko-KR" sz="1050">
                <a:solidFill>
                  <a:srgbClr val="CF8E6D"/>
                </a:solidFill>
                <a:effectLst/>
                <a:latin typeface="JetBrains Mono"/>
              </a:rPr>
              <a:t>command</a:t>
            </a:r>
            <a:r>
              <a:rPr lang="en-US" altLang="ko-KR" sz="1050">
                <a:solidFill>
                  <a:srgbClr val="BCBEC4"/>
                </a:solidFill>
                <a:effectLst/>
                <a:latin typeface="JetBrains Mono"/>
              </a:rPr>
              <a:t>:</a:t>
            </a:r>
            <a:br>
              <a:rPr lang="en-US" altLang="ko-KR" sz="105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50">
                <a:solidFill>
                  <a:srgbClr val="BCBEC4"/>
                </a:solidFill>
                <a:effectLst/>
                <a:latin typeface="JetBrains Mono"/>
              </a:rPr>
              <a:t>      - redpanda</a:t>
            </a:r>
            <a:br>
              <a:rPr lang="en-US" altLang="ko-KR" sz="105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50">
                <a:solidFill>
                  <a:srgbClr val="BCBEC4"/>
                </a:solidFill>
                <a:effectLst/>
                <a:latin typeface="JetBrains Mono"/>
              </a:rPr>
              <a:t>      - start</a:t>
            </a:r>
            <a:br>
              <a:rPr lang="en-US" altLang="ko-KR" sz="105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50">
                <a:solidFill>
                  <a:srgbClr val="BCBEC4"/>
                </a:solidFill>
                <a:effectLst/>
                <a:latin typeface="JetBrains Mono"/>
              </a:rPr>
              <a:t>      - --mode</a:t>
            </a:r>
            <a:br>
              <a:rPr lang="en-US" altLang="ko-KR" sz="105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50">
                <a:solidFill>
                  <a:srgbClr val="BCBEC4"/>
                </a:solidFill>
                <a:effectLst/>
                <a:latin typeface="JetBrains Mono"/>
              </a:rPr>
              <a:t>      - dev-container</a:t>
            </a:r>
            <a:br>
              <a:rPr lang="en-US" altLang="ko-KR" sz="1050">
                <a:solidFill>
                  <a:srgbClr val="BCBEC4"/>
                </a:solidFill>
                <a:effectLst/>
                <a:latin typeface="JetBrains Mono"/>
              </a:rPr>
            </a:br>
            <a:br>
              <a:rPr lang="en-US" altLang="ko-KR" sz="105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50">
                <a:solidFill>
                  <a:srgbClr val="BCBEC4"/>
                </a:solidFill>
                <a:effectLst/>
                <a:latin typeface="JetBrains Mono"/>
              </a:rPr>
              <a:t>      </a:t>
            </a:r>
            <a:r>
              <a:rPr lang="en-US" altLang="ko-KR" sz="1050" i="1">
                <a:solidFill>
                  <a:srgbClr val="5F826B"/>
                </a:solidFill>
                <a:effectLst/>
                <a:latin typeface="JetBrains Mono"/>
              </a:rPr>
              <a:t># </a:t>
            </a:r>
            <a:r>
              <a:rPr lang="ko-KR" altLang="en-US" sz="1050" i="1">
                <a:solidFill>
                  <a:srgbClr val="5F826B"/>
                </a:solidFill>
                <a:effectLst/>
                <a:latin typeface="Courier New" panose="02070309020205020404" pitchFamily="49" charset="0"/>
              </a:rPr>
              <a:t>✅ 내부</a:t>
            </a:r>
            <a:r>
              <a:rPr lang="en-US" altLang="ko-KR" sz="1050" i="1">
                <a:solidFill>
                  <a:srgbClr val="5F826B"/>
                </a:solidFill>
                <a:effectLst/>
                <a:latin typeface="JetBrains Mono"/>
              </a:rPr>
              <a:t>/</a:t>
            </a:r>
            <a:r>
              <a:rPr lang="ko-KR" altLang="en-US" sz="1050" i="1">
                <a:solidFill>
                  <a:srgbClr val="5F826B"/>
                </a:solidFill>
                <a:effectLst/>
                <a:latin typeface="Courier New" panose="02070309020205020404" pitchFamily="49" charset="0"/>
              </a:rPr>
              <a:t>외부 리스너 분리</a:t>
            </a:r>
            <a:r>
              <a:rPr lang="en-US" altLang="ko-KR" sz="1050" i="1">
                <a:solidFill>
                  <a:srgbClr val="5F826B"/>
                </a:solidFill>
                <a:effectLst/>
                <a:latin typeface="JetBrains Mono"/>
              </a:rPr>
              <a:t>: </a:t>
            </a:r>
            <a:r>
              <a:rPr lang="ko-KR" altLang="en-US" sz="1050" i="1">
                <a:solidFill>
                  <a:srgbClr val="5F826B"/>
                </a:solidFill>
                <a:effectLst/>
                <a:latin typeface="Courier New" panose="02070309020205020404" pitchFamily="49" charset="0"/>
              </a:rPr>
              <a:t>컨테이너 내부는</a:t>
            </a:r>
            <a:r>
              <a:rPr lang="ko-KR" altLang="en-US" sz="1050" i="1">
                <a:solidFill>
                  <a:srgbClr val="5F826B"/>
                </a:solidFill>
                <a:effectLst/>
                <a:latin typeface="JetBrains Mono"/>
              </a:rPr>
              <a:t> </a:t>
            </a:r>
            <a:r>
              <a:rPr lang="en-US" altLang="ko-KR" sz="1050" i="1">
                <a:solidFill>
                  <a:srgbClr val="5F826B"/>
                </a:solidFill>
                <a:effectLst/>
                <a:latin typeface="JetBrains Mono"/>
              </a:rPr>
              <a:t>9092, </a:t>
            </a:r>
            <a:r>
              <a:rPr lang="ko-KR" altLang="en-US" sz="1050" i="1">
                <a:solidFill>
                  <a:srgbClr val="5F826B"/>
                </a:solidFill>
                <a:effectLst/>
                <a:latin typeface="Courier New" panose="02070309020205020404" pitchFamily="49" charset="0"/>
              </a:rPr>
              <a:t>호스트는</a:t>
            </a:r>
            <a:r>
              <a:rPr lang="ko-KR" altLang="en-US" sz="1050" i="1">
                <a:solidFill>
                  <a:srgbClr val="5F826B"/>
                </a:solidFill>
                <a:effectLst/>
                <a:latin typeface="JetBrains Mono"/>
              </a:rPr>
              <a:t> </a:t>
            </a:r>
            <a:r>
              <a:rPr lang="en-US" altLang="ko-KR" sz="1050" i="1">
                <a:solidFill>
                  <a:srgbClr val="5F826B"/>
                </a:solidFill>
                <a:effectLst/>
                <a:latin typeface="JetBrains Mono"/>
              </a:rPr>
              <a:t>19092</a:t>
            </a:r>
            <a:br>
              <a:rPr lang="en-US" altLang="ko-KR" sz="1050" i="1">
                <a:solidFill>
                  <a:srgbClr val="5F826B"/>
                </a:solidFill>
                <a:effectLst/>
                <a:latin typeface="JetBrains Mono"/>
              </a:rPr>
            </a:br>
            <a:r>
              <a:rPr lang="en-US" altLang="ko-KR" sz="1050" i="1">
                <a:solidFill>
                  <a:srgbClr val="5F826B"/>
                </a:solidFill>
                <a:effectLst/>
                <a:latin typeface="JetBrains Mono"/>
              </a:rPr>
              <a:t>      </a:t>
            </a:r>
            <a:r>
              <a:rPr lang="en-US" altLang="ko-KR" sz="1050">
                <a:solidFill>
                  <a:srgbClr val="BCBEC4"/>
                </a:solidFill>
                <a:effectLst/>
                <a:latin typeface="JetBrains Mono"/>
              </a:rPr>
              <a:t>- --kafka-addr</a:t>
            </a:r>
            <a:br>
              <a:rPr lang="en-US" altLang="ko-KR" sz="105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50">
                <a:solidFill>
                  <a:srgbClr val="BCBEC4"/>
                </a:solidFill>
                <a:effectLst/>
                <a:latin typeface="JetBrains Mono"/>
              </a:rPr>
              <a:t>      - internal://0.0.0.0:9092,external://0.0.0.0:19092</a:t>
            </a:r>
            <a:br>
              <a:rPr lang="en-US" altLang="ko-KR" sz="1050">
                <a:solidFill>
                  <a:srgbClr val="BCBEC4"/>
                </a:solidFill>
                <a:effectLst/>
                <a:latin typeface="JetBrains Mono"/>
              </a:rPr>
            </a:br>
            <a:br>
              <a:rPr lang="en-US" altLang="ko-KR" sz="105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50">
                <a:solidFill>
                  <a:srgbClr val="BCBEC4"/>
                </a:solidFill>
                <a:effectLst/>
                <a:latin typeface="JetBrains Mono"/>
              </a:rPr>
              <a:t>      </a:t>
            </a:r>
            <a:r>
              <a:rPr lang="en-US" altLang="ko-KR" sz="1050" i="1">
                <a:solidFill>
                  <a:srgbClr val="5F826B"/>
                </a:solidFill>
                <a:effectLst/>
                <a:latin typeface="JetBrains Mono"/>
              </a:rPr>
              <a:t># </a:t>
            </a:r>
            <a:r>
              <a:rPr lang="ko-KR" altLang="en-US" sz="1050" i="1">
                <a:solidFill>
                  <a:srgbClr val="5F826B"/>
                </a:solidFill>
                <a:effectLst/>
                <a:latin typeface="Courier New" panose="02070309020205020404" pitchFamily="49" charset="0"/>
              </a:rPr>
              <a:t>✅ 광고 주소</a:t>
            </a:r>
            <a:r>
              <a:rPr lang="en-US" altLang="ko-KR" sz="1050" i="1">
                <a:solidFill>
                  <a:srgbClr val="5F826B"/>
                </a:solidFill>
                <a:effectLst/>
                <a:latin typeface="JetBrains Mono"/>
              </a:rPr>
              <a:t>: </a:t>
            </a:r>
            <a:r>
              <a:rPr lang="ko-KR" altLang="en-US" sz="1050" i="1">
                <a:solidFill>
                  <a:srgbClr val="5F826B"/>
                </a:solidFill>
                <a:effectLst/>
                <a:latin typeface="Courier New" panose="02070309020205020404" pitchFamily="49" charset="0"/>
              </a:rPr>
              <a:t>내부 클라이언트는</a:t>
            </a:r>
            <a:r>
              <a:rPr lang="ko-KR" altLang="en-US" sz="1050" i="1">
                <a:solidFill>
                  <a:srgbClr val="5F826B"/>
                </a:solidFill>
                <a:effectLst/>
                <a:latin typeface="JetBrains Mono"/>
              </a:rPr>
              <a:t> </a:t>
            </a:r>
            <a:r>
              <a:rPr lang="en-US" altLang="ko-KR" sz="1050" i="1">
                <a:solidFill>
                  <a:srgbClr val="5F826B"/>
                </a:solidFill>
                <a:effectLst/>
                <a:latin typeface="JetBrains Mono"/>
              </a:rPr>
              <a:t>redpanda:9092 / </a:t>
            </a:r>
            <a:r>
              <a:rPr lang="ko-KR" altLang="en-US" sz="1050" i="1">
                <a:solidFill>
                  <a:srgbClr val="5F826B"/>
                </a:solidFill>
                <a:effectLst/>
                <a:latin typeface="Courier New" panose="02070309020205020404" pitchFamily="49" charset="0"/>
              </a:rPr>
              <a:t>호스트는</a:t>
            </a:r>
            <a:r>
              <a:rPr lang="ko-KR" altLang="en-US" sz="1050" i="1">
                <a:solidFill>
                  <a:srgbClr val="5F826B"/>
                </a:solidFill>
                <a:effectLst/>
                <a:latin typeface="JetBrains Mono"/>
              </a:rPr>
              <a:t> </a:t>
            </a:r>
            <a:r>
              <a:rPr lang="en-US" altLang="ko-KR" sz="1050" i="1">
                <a:solidFill>
                  <a:srgbClr val="5F826B"/>
                </a:solidFill>
                <a:effectLst/>
                <a:latin typeface="JetBrains Mono"/>
              </a:rPr>
              <a:t>localhost:19092</a:t>
            </a:r>
            <a:br>
              <a:rPr lang="en-US" altLang="ko-KR" sz="1050" i="1">
                <a:solidFill>
                  <a:srgbClr val="5F826B"/>
                </a:solidFill>
                <a:effectLst/>
                <a:latin typeface="JetBrains Mono"/>
              </a:rPr>
            </a:br>
            <a:r>
              <a:rPr lang="en-US" altLang="ko-KR" sz="1050" i="1">
                <a:solidFill>
                  <a:srgbClr val="5F826B"/>
                </a:solidFill>
                <a:effectLst/>
                <a:latin typeface="JetBrains Mono"/>
              </a:rPr>
              <a:t>      </a:t>
            </a:r>
            <a:r>
              <a:rPr lang="en-US" altLang="ko-KR" sz="1050">
                <a:solidFill>
                  <a:srgbClr val="BCBEC4"/>
                </a:solidFill>
                <a:effectLst/>
                <a:latin typeface="JetBrains Mono"/>
              </a:rPr>
              <a:t>- --advertise-kafka-addr</a:t>
            </a:r>
            <a:br>
              <a:rPr lang="en-US" altLang="ko-KR" sz="105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50">
                <a:solidFill>
                  <a:srgbClr val="BCBEC4"/>
                </a:solidFill>
                <a:effectLst/>
                <a:latin typeface="JetBrains Mono"/>
              </a:rPr>
              <a:t>      - internal://redpanda:9092,external://localhost:19092</a:t>
            </a:r>
            <a:br>
              <a:rPr lang="en-US" altLang="ko-KR" sz="1050">
                <a:solidFill>
                  <a:srgbClr val="BCBEC4"/>
                </a:solidFill>
                <a:effectLst/>
                <a:latin typeface="JetBrains Mono"/>
              </a:rPr>
            </a:br>
            <a:br>
              <a:rPr lang="en-US" altLang="ko-KR" sz="105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50">
                <a:solidFill>
                  <a:srgbClr val="BCBEC4"/>
                </a:solidFill>
                <a:effectLst/>
                <a:latin typeface="JetBrains Mono"/>
              </a:rPr>
              <a:t>      </a:t>
            </a:r>
            <a:r>
              <a:rPr lang="en-US" altLang="ko-KR" sz="1050" i="1">
                <a:solidFill>
                  <a:srgbClr val="5F826B"/>
                </a:solidFill>
                <a:effectLst/>
                <a:latin typeface="JetBrains Mono"/>
              </a:rPr>
              <a:t># (</a:t>
            </a:r>
            <a:r>
              <a:rPr lang="ko-KR" altLang="en-US" sz="1050" i="1">
                <a:solidFill>
                  <a:srgbClr val="5F826B"/>
                </a:solidFill>
                <a:effectLst/>
                <a:latin typeface="Courier New" panose="02070309020205020404" pitchFamily="49" charset="0"/>
              </a:rPr>
              <a:t>선택</a:t>
            </a:r>
            <a:r>
              <a:rPr lang="en-US" altLang="ko-KR" sz="1050" i="1">
                <a:solidFill>
                  <a:srgbClr val="5F826B"/>
                </a:solidFill>
                <a:effectLst/>
                <a:latin typeface="JetBrains Mono"/>
              </a:rPr>
              <a:t>) </a:t>
            </a:r>
            <a:r>
              <a:rPr lang="ko-KR" altLang="en-US" sz="1050" i="1">
                <a:solidFill>
                  <a:srgbClr val="5F826B"/>
                </a:solidFill>
                <a:effectLst/>
                <a:latin typeface="Courier New" panose="02070309020205020404" pitchFamily="49" charset="0"/>
              </a:rPr>
              <a:t>개발환경에서 리소스 과소</a:t>
            </a:r>
            <a:r>
              <a:rPr lang="en-US" altLang="ko-KR" sz="1050" i="1">
                <a:solidFill>
                  <a:srgbClr val="5F826B"/>
                </a:solidFill>
                <a:effectLst/>
                <a:latin typeface="JetBrains Mono"/>
              </a:rPr>
              <a:t>/</a:t>
            </a:r>
            <a:r>
              <a:rPr lang="ko-KR" altLang="en-US" sz="1050" i="1">
                <a:solidFill>
                  <a:srgbClr val="5F826B"/>
                </a:solidFill>
                <a:effectLst/>
                <a:latin typeface="Courier New" panose="02070309020205020404" pitchFamily="49" charset="0"/>
              </a:rPr>
              <a:t>과다를 피하고 싶으면 튜닝 옵션 추가 가능</a:t>
            </a:r>
            <a:br>
              <a:rPr lang="ko-KR" altLang="en-US" sz="1050" i="1">
                <a:solidFill>
                  <a:srgbClr val="5F826B"/>
                </a:solidFill>
                <a:effectLst/>
                <a:latin typeface="Courier New" panose="02070309020205020404" pitchFamily="49" charset="0"/>
              </a:rPr>
            </a:br>
            <a:r>
              <a:rPr lang="ko-KR" altLang="en-US" sz="1050" i="1">
                <a:solidFill>
                  <a:srgbClr val="5F826B"/>
                </a:solidFill>
                <a:effectLst/>
                <a:latin typeface="Courier New" panose="02070309020205020404" pitchFamily="49" charset="0"/>
              </a:rPr>
              <a:t>      </a:t>
            </a:r>
            <a:r>
              <a:rPr lang="en-US" altLang="ko-KR" sz="1050" i="1">
                <a:solidFill>
                  <a:srgbClr val="5F826B"/>
                </a:solidFill>
                <a:effectLst/>
                <a:latin typeface="JetBrains Mono"/>
              </a:rPr>
              <a:t># - --smp</a:t>
            </a:r>
            <a:br>
              <a:rPr lang="en-US" altLang="ko-KR" sz="1050" i="1">
                <a:solidFill>
                  <a:srgbClr val="5F826B"/>
                </a:solidFill>
                <a:effectLst/>
                <a:latin typeface="JetBrains Mono"/>
              </a:rPr>
            </a:br>
            <a:r>
              <a:rPr lang="en-US" altLang="ko-KR" sz="1050" i="1">
                <a:solidFill>
                  <a:srgbClr val="5F826B"/>
                </a:solidFill>
                <a:effectLst/>
                <a:latin typeface="JetBrains Mono"/>
              </a:rPr>
              <a:t>      # - "1"</a:t>
            </a:r>
            <a:br>
              <a:rPr lang="en-US" altLang="ko-KR" sz="1050" i="1">
                <a:solidFill>
                  <a:srgbClr val="5F826B"/>
                </a:solidFill>
                <a:effectLst/>
                <a:latin typeface="JetBrains Mono"/>
              </a:rPr>
            </a:br>
            <a:r>
              <a:rPr lang="en-US" altLang="ko-KR" sz="1050" i="1">
                <a:solidFill>
                  <a:srgbClr val="5F826B"/>
                </a:solidFill>
                <a:effectLst/>
                <a:latin typeface="JetBrains Mono"/>
              </a:rPr>
              <a:t>      # - --memory</a:t>
            </a:r>
            <a:br>
              <a:rPr lang="en-US" altLang="ko-KR" sz="1050" i="1">
                <a:solidFill>
                  <a:srgbClr val="5F826B"/>
                </a:solidFill>
                <a:effectLst/>
                <a:latin typeface="JetBrains Mono"/>
              </a:rPr>
            </a:br>
            <a:r>
              <a:rPr lang="en-US" altLang="ko-KR" sz="1050" i="1">
                <a:solidFill>
                  <a:srgbClr val="5F826B"/>
                </a:solidFill>
                <a:effectLst/>
                <a:latin typeface="JetBrains Mono"/>
              </a:rPr>
              <a:t>      # - "1G"</a:t>
            </a:r>
            <a:br>
              <a:rPr lang="en-US" altLang="ko-KR" sz="1050" i="1">
                <a:solidFill>
                  <a:srgbClr val="5F826B"/>
                </a:solidFill>
                <a:effectLst/>
                <a:latin typeface="JetBrains Mono"/>
              </a:rPr>
            </a:br>
            <a:r>
              <a:rPr lang="en-US" altLang="ko-KR" sz="1050" i="1">
                <a:solidFill>
                  <a:srgbClr val="5F826B"/>
                </a:solidFill>
                <a:effectLst/>
                <a:latin typeface="JetBrains Mono"/>
              </a:rPr>
              <a:t>      # - --overprovisioned</a:t>
            </a:r>
            <a:br>
              <a:rPr lang="en-US" altLang="ko-KR" sz="1050" i="1">
                <a:solidFill>
                  <a:srgbClr val="5F826B"/>
                </a:solidFill>
                <a:effectLst/>
                <a:latin typeface="JetBrains Mono"/>
              </a:rPr>
            </a:br>
            <a:r>
              <a:rPr lang="en-US" altLang="ko-KR" sz="1050" i="1">
                <a:solidFill>
                  <a:srgbClr val="5F826B"/>
                </a:solidFill>
                <a:effectLst/>
                <a:latin typeface="JetBrains Mono"/>
              </a:rPr>
              <a:t>      # - --reserved-memory</a:t>
            </a:r>
            <a:br>
              <a:rPr lang="en-US" altLang="ko-KR" sz="1050" i="1">
                <a:solidFill>
                  <a:srgbClr val="5F826B"/>
                </a:solidFill>
                <a:effectLst/>
                <a:latin typeface="JetBrains Mono"/>
              </a:rPr>
            </a:br>
            <a:r>
              <a:rPr lang="en-US" altLang="ko-KR" sz="1050" i="1">
                <a:solidFill>
                  <a:srgbClr val="5F826B"/>
                </a:solidFill>
                <a:effectLst/>
                <a:latin typeface="JetBrains Mono"/>
              </a:rPr>
              <a:t>      # - "0M"</a:t>
            </a:r>
          </a:p>
          <a:p>
            <a:br>
              <a:rPr lang="en-US" altLang="ko-KR" sz="1050" i="1">
                <a:solidFill>
                  <a:srgbClr val="5F826B"/>
                </a:solidFill>
                <a:effectLst/>
                <a:latin typeface="JetBrains Mono"/>
              </a:rPr>
            </a:br>
            <a:r>
              <a:rPr lang="en-US" altLang="ko-KR" sz="1050">
                <a:solidFill>
                  <a:srgbClr val="CF8E6D"/>
                </a:solidFill>
                <a:latin typeface="JetBrains Mono"/>
              </a:rPr>
              <a:t> ports</a:t>
            </a:r>
            <a:r>
              <a:rPr lang="en-US" altLang="ko-KR" sz="1050">
                <a:solidFill>
                  <a:srgbClr val="BCBEC4"/>
                </a:solidFill>
                <a:latin typeface="JetBrains Mono"/>
              </a:rPr>
              <a:t>:</a:t>
            </a:r>
            <a:br>
              <a:rPr lang="en-US" altLang="ko-KR" sz="1050">
                <a:solidFill>
                  <a:srgbClr val="BCBEC4"/>
                </a:solidFill>
                <a:latin typeface="JetBrains Mono"/>
              </a:rPr>
            </a:br>
            <a:r>
              <a:rPr lang="en-US" altLang="ko-KR" sz="1050">
                <a:solidFill>
                  <a:srgbClr val="BCBEC4"/>
                </a:solidFill>
                <a:latin typeface="JetBrains Mono"/>
              </a:rPr>
              <a:t>      - </a:t>
            </a:r>
            <a:r>
              <a:rPr lang="en-US" altLang="ko-KR" sz="1050">
                <a:solidFill>
                  <a:srgbClr val="6AAB73"/>
                </a:solidFill>
                <a:latin typeface="JetBrains Mono"/>
              </a:rPr>
              <a:t>"19092:19092" </a:t>
            </a:r>
            <a:r>
              <a:rPr lang="en-US" altLang="ko-KR" sz="1050" i="1">
                <a:solidFill>
                  <a:srgbClr val="5F826B"/>
                </a:solidFill>
                <a:latin typeface="JetBrains Mono"/>
              </a:rPr>
              <a:t># </a:t>
            </a:r>
            <a:r>
              <a:rPr lang="ko-KR" altLang="en-US" sz="1050" i="1">
                <a:solidFill>
                  <a:srgbClr val="5F826B"/>
                </a:solidFill>
                <a:latin typeface="Courier New" panose="02070309020205020404" pitchFamily="49" charset="0"/>
              </a:rPr>
              <a:t>호스트</a:t>
            </a:r>
            <a:r>
              <a:rPr lang="en-US" altLang="ko-KR" sz="1050" i="1">
                <a:solidFill>
                  <a:srgbClr val="5F826B"/>
                </a:solidFill>
                <a:latin typeface="JetBrains Mono"/>
              </a:rPr>
              <a:t>(</a:t>
            </a:r>
            <a:r>
              <a:rPr lang="ko-KR" altLang="en-US" sz="1050" i="1">
                <a:solidFill>
                  <a:srgbClr val="5F826B"/>
                </a:solidFill>
                <a:latin typeface="Courier New" panose="02070309020205020404" pitchFamily="49" charset="0"/>
              </a:rPr>
              <a:t>스프링 앱</a:t>
            </a:r>
            <a:r>
              <a:rPr lang="en-US" altLang="ko-KR" sz="1050" i="1">
                <a:solidFill>
                  <a:srgbClr val="5F826B"/>
                </a:solidFill>
                <a:latin typeface="JetBrains Mono"/>
              </a:rPr>
              <a:t>) </a:t>
            </a:r>
            <a:r>
              <a:rPr lang="ko-KR" altLang="en-US" sz="1050" i="1">
                <a:solidFill>
                  <a:srgbClr val="5F826B"/>
                </a:solidFill>
                <a:latin typeface="Courier New" panose="02070309020205020404" pitchFamily="49" charset="0"/>
              </a:rPr>
              <a:t>접근용</a:t>
            </a:r>
            <a:br>
              <a:rPr lang="ko-KR" altLang="en-US" sz="1050" i="1">
                <a:solidFill>
                  <a:srgbClr val="5F826B"/>
                </a:solidFill>
                <a:latin typeface="Courier New" panose="02070309020205020404" pitchFamily="49" charset="0"/>
              </a:rPr>
            </a:br>
            <a:r>
              <a:rPr lang="ko-KR" altLang="en-US" sz="1050" i="1">
                <a:solidFill>
                  <a:srgbClr val="5F826B"/>
                </a:solidFill>
                <a:latin typeface="Courier New" panose="02070309020205020404" pitchFamily="49" charset="0"/>
              </a:rPr>
              <a:t>      </a:t>
            </a:r>
            <a:r>
              <a:rPr lang="en-US" altLang="ko-KR" sz="1050">
                <a:solidFill>
                  <a:srgbClr val="BCBEC4"/>
                </a:solidFill>
                <a:latin typeface="JetBrains Mono"/>
              </a:rPr>
              <a:t>- </a:t>
            </a:r>
            <a:r>
              <a:rPr lang="en-US" altLang="ko-KR" sz="1050">
                <a:solidFill>
                  <a:srgbClr val="6AAB73"/>
                </a:solidFill>
                <a:latin typeface="JetBrains Mono"/>
              </a:rPr>
              <a:t>"9644:9644"   </a:t>
            </a:r>
            <a:r>
              <a:rPr lang="en-US" altLang="ko-KR" sz="1050" i="1">
                <a:solidFill>
                  <a:srgbClr val="5F826B"/>
                </a:solidFill>
                <a:latin typeface="JetBrains Mono"/>
              </a:rPr>
              <a:t># (</a:t>
            </a:r>
            <a:r>
              <a:rPr lang="ko-KR" altLang="en-US" sz="1050" i="1">
                <a:solidFill>
                  <a:srgbClr val="5F826B"/>
                </a:solidFill>
                <a:latin typeface="Courier New" panose="02070309020205020404" pitchFamily="49" charset="0"/>
              </a:rPr>
              <a:t>선택</a:t>
            </a:r>
            <a:r>
              <a:rPr lang="en-US" altLang="ko-KR" sz="1050" i="1">
                <a:solidFill>
                  <a:srgbClr val="5F826B"/>
                </a:solidFill>
                <a:latin typeface="JetBrains Mono"/>
              </a:rPr>
              <a:t>) Admin API. </a:t>
            </a:r>
            <a:r>
              <a:rPr lang="ko-KR" altLang="en-US" sz="1050" i="1">
                <a:solidFill>
                  <a:srgbClr val="5F826B"/>
                </a:solidFill>
                <a:latin typeface="Courier New" panose="02070309020205020404" pitchFamily="49" charset="0"/>
              </a:rPr>
              <a:t>필요 없으면 이 라인 제거 가능</a:t>
            </a:r>
            <a:br>
              <a:rPr lang="ko-KR" altLang="en-US" sz="1050" i="1">
                <a:solidFill>
                  <a:srgbClr val="5F826B"/>
                </a:solidFill>
                <a:latin typeface="Courier New" panose="02070309020205020404" pitchFamily="49" charset="0"/>
              </a:rPr>
            </a:br>
            <a:br>
              <a:rPr lang="ko-KR" altLang="en-US" sz="1050" i="1">
                <a:solidFill>
                  <a:srgbClr val="5F826B"/>
                </a:solidFill>
                <a:latin typeface="Courier New" panose="02070309020205020404" pitchFamily="49" charset="0"/>
              </a:rPr>
            </a:br>
            <a:r>
              <a:rPr lang="ko-KR" altLang="en-US" sz="1050" i="1">
                <a:solidFill>
                  <a:srgbClr val="5F826B"/>
                </a:solidFill>
                <a:latin typeface="Courier New" panose="02070309020205020404" pitchFamily="49" charset="0"/>
              </a:rPr>
              <a:t>    </a:t>
            </a:r>
            <a:r>
              <a:rPr lang="en-US" altLang="ko-KR" sz="1050" i="1">
                <a:solidFill>
                  <a:srgbClr val="5F826B"/>
                </a:solidFill>
                <a:latin typeface="JetBrains Mono"/>
              </a:rPr>
              <a:t># </a:t>
            </a:r>
            <a:r>
              <a:rPr lang="ko-KR" altLang="en-US" sz="1050" i="1">
                <a:solidFill>
                  <a:srgbClr val="5F826B"/>
                </a:solidFill>
                <a:latin typeface="Courier New" panose="02070309020205020404" pitchFamily="49" charset="0"/>
              </a:rPr>
              <a:t>✅ 데이터 유지가 필요하면 볼륨 추가</a:t>
            </a:r>
            <a:br>
              <a:rPr lang="ko-KR" altLang="en-US" sz="1050" i="1">
                <a:solidFill>
                  <a:srgbClr val="5F826B"/>
                </a:solidFill>
                <a:latin typeface="Courier New" panose="02070309020205020404" pitchFamily="49" charset="0"/>
              </a:rPr>
            </a:br>
            <a:r>
              <a:rPr lang="ko-KR" altLang="en-US" sz="1050" i="1">
                <a:solidFill>
                  <a:srgbClr val="5F826B"/>
                </a:solidFill>
                <a:latin typeface="Courier New" panose="02070309020205020404" pitchFamily="49" charset="0"/>
              </a:rPr>
              <a:t>    </a:t>
            </a:r>
            <a:r>
              <a:rPr lang="en-US" altLang="ko-KR" sz="1050">
                <a:solidFill>
                  <a:srgbClr val="CF8E6D"/>
                </a:solidFill>
                <a:latin typeface="JetBrains Mono"/>
              </a:rPr>
              <a:t>volumes</a:t>
            </a:r>
            <a:r>
              <a:rPr lang="en-US" altLang="ko-KR" sz="1050">
                <a:solidFill>
                  <a:srgbClr val="BCBEC4"/>
                </a:solidFill>
                <a:latin typeface="JetBrains Mono"/>
              </a:rPr>
              <a:t>:</a:t>
            </a:r>
            <a:br>
              <a:rPr lang="en-US" altLang="ko-KR" sz="1050">
                <a:solidFill>
                  <a:srgbClr val="BCBEC4"/>
                </a:solidFill>
                <a:latin typeface="JetBrains Mono"/>
              </a:rPr>
            </a:br>
            <a:r>
              <a:rPr lang="en-US" altLang="ko-KR" sz="1050">
                <a:solidFill>
                  <a:srgbClr val="BCBEC4"/>
                </a:solidFill>
                <a:latin typeface="JetBrains Mono"/>
              </a:rPr>
              <a:t>      - redpanda_data:/var/lib/redpanda/data</a:t>
            </a:r>
            <a:endParaRPr lang="ko-KR" altLang="en-US" sz="105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BD64B968-E0D8-BE10-E2D0-0608A4C4B87C}"/>
              </a:ext>
            </a:extLst>
          </p:cNvPr>
          <p:cNvGrpSpPr/>
          <p:nvPr/>
        </p:nvGrpSpPr>
        <p:grpSpPr>
          <a:xfrm>
            <a:off x="5955901" y="5432072"/>
            <a:ext cx="1409897" cy="771633"/>
            <a:chOff x="459876" y="2820673"/>
            <a:chExt cx="1409897" cy="771633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46B42ACF-A36F-CAA8-2920-8AEE7AD3B24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9876" y="2820673"/>
              <a:ext cx="1409897" cy="771633"/>
            </a:xfrm>
            <a:prstGeom prst="rect">
              <a:avLst/>
            </a:prstGeom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A7A56861-086B-3B78-210A-B52F970691A0}"/>
                </a:ext>
              </a:extLst>
            </p:cNvPr>
            <p:cNvSpPr/>
            <p:nvPr/>
          </p:nvSpPr>
          <p:spPr>
            <a:xfrm>
              <a:off x="741145" y="3282215"/>
              <a:ext cx="1039529" cy="310091"/>
            </a:xfrm>
            <a:prstGeom prst="rect">
              <a:avLst/>
            </a:pr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9E1DA6FE-5BC6-49B7-BEB8-FDC99166A984}"/>
              </a:ext>
            </a:extLst>
          </p:cNvPr>
          <p:cNvSpPr txBox="1"/>
          <p:nvPr/>
        </p:nvSpPr>
        <p:spPr>
          <a:xfrm>
            <a:off x="7365798" y="5431949"/>
            <a:ext cx="27357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compose.yml</a:t>
            </a:r>
            <a:r>
              <a:rPr lang="ko-KR" altLang="en-US" sz="1200"/>
              <a:t> 추가 </a:t>
            </a:r>
            <a:r>
              <a:rPr lang="en-US" altLang="ko-KR" sz="1200"/>
              <a:t>- </a:t>
            </a:r>
            <a:r>
              <a:rPr lang="ko-KR" altLang="en-US" sz="1200"/>
              <a:t>설정은 </a:t>
            </a:r>
            <a:r>
              <a:rPr lang="en-US" altLang="ko-KR" sz="1200"/>
              <a:t>git</a:t>
            </a:r>
            <a:r>
              <a:rPr lang="ko-KR" altLang="en-US" sz="1200"/>
              <a:t>에서 복제</a:t>
            </a:r>
          </a:p>
        </p:txBody>
      </p:sp>
    </p:spTree>
    <p:extLst>
      <p:ext uri="{BB962C8B-B14F-4D97-AF65-F5344CB8AC3E}">
        <p14:creationId xmlns:p14="http://schemas.microsoft.com/office/powerpoint/2010/main" val="75357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60DB1170-F50F-C621-21CF-FC2B9F3C50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5602" y="4831882"/>
            <a:ext cx="2664522" cy="191946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9B6946F-5B35-3B02-259E-DA9176728C69}"/>
              </a:ext>
            </a:extLst>
          </p:cNvPr>
          <p:cNvSpPr txBox="1"/>
          <p:nvPr/>
        </p:nvSpPr>
        <p:spPr>
          <a:xfrm>
            <a:off x="519764" y="452387"/>
            <a:ext cx="11396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IDE </a:t>
            </a:r>
            <a:r>
              <a:rPr lang="ko-KR" altLang="en-US"/>
              <a:t>환경에서 </a:t>
            </a:r>
            <a:r>
              <a:rPr lang="en-US" altLang="ko-KR"/>
              <a:t>compose </a:t>
            </a:r>
            <a:r>
              <a:rPr lang="ko-KR" altLang="en-US"/>
              <a:t>파일로 </a:t>
            </a:r>
            <a:r>
              <a:rPr lang="en-US" altLang="ko-KR"/>
              <a:t>Kafka </a:t>
            </a:r>
            <a:r>
              <a:rPr lang="ko-KR" altLang="en-US"/>
              <a:t>컨테이너 실행 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E8F8CC47-34FA-9925-6A71-5E477C72B49C}"/>
              </a:ext>
            </a:extLst>
          </p:cNvPr>
          <p:cNvGrpSpPr/>
          <p:nvPr/>
        </p:nvGrpSpPr>
        <p:grpSpPr>
          <a:xfrm>
            <a:off x="519764" y="972056"/>
            <a:ext cx="2562583" cy="1371791"/>
            <a:chOff x="519764" y="972056"/>
            <a:chExt cx="2562583" cy="1371791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D1060E04-BD3E-766E-E9D5-D87FEF9115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9764" y="972056"/>
              <a:ext cx="2562583" cy="1371791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9A7C97B7-1180-56DD-9EC2-2D23F287B436}"/>
                </a:ext>
              </a:extLst>
            </p:cNvPr>
            <p:cNvSpPr/>
            <p:nvPr/>
          </p:nvSpPr>
          <p:spPr>
            <a:xfrm>
              <a:off x="519764" y="1251284"/>
              <a:ext cx="471638" cy="36933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9AF041C1-D25D-F9A8-D04B-F3D202D102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4181" y="972056"/>
            <a:ext cx="6087478" cy="396974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29A3FA1-A026-5687-0BC5-BD9444714852}"/>
              </a:ext>
            </a:extLst>
          </p:cNvPr>
          <p:cNvSpPr txBox="1"/>
          <p:nvPr/>
        </p:nvSpPr>
        <p:spPr>
          <a:xfrm>
            <a:off x="3185962" y="5072514"/>
            <a:ext cx="88071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compose.yml</a:t>
            </a:r>
            <a:r>
              <a:rPr lang="ko-KR" altLang="en-US" sz="1200"/>
              <a:t> 에 보면 </a:t>
            </a:r>
            <a:r>
              <a:rPr lang="en-US" altLang="ko-KR" sz="1200"/>
              <a:t>console</a:t>
            </a:r>
            <a:r>
              <a:rPr lang="ko-KR" altLang="en-US" sz="1200"/>
              <a:t>이라는 컨테이너가 보인다</a:t>
            </a:r>
            <a:r>
              <a:rPr lang="en-US" altLang="ko-KR" sz="1200"/>
              <a:t>.</a:t>
            </a:r>
            <a:br>
              <a:rPr lang="en-US" altLang="ko-KR" sz="1200"/>
            </a:br>
            <a:r>
              <a:rPr lang="ko-KR" altLang="en-US" sz="1200"/>
              <a:t>이는 카프카 상황을 모니터링하기 쉽게해주는 </a:t>
            </a:r>
            <a:r>
              <a:rPr lang="en-US" altLang="ko-KR" sz="1200"/>
              <a:t>RedPanda</a:t>
            </a:r>
            <a:r>
              <a:rPr lang="ko-KR" altLang="en-US" sz="1200"/>
              <a:t>가 제공하는</a:t>
            </a:r>
            <a:r>
              <a:rPr lang="en-US" altLang="ko-KR" sz="1200"/>
              <a:t> </a:t>
            </a:r>
            <a:r>
              <a:rPr lang="ko-KR" altLang="en-US" sz="1200"/>
              <a:t>유틸리티 사이트이다</a:t>
            </a:r>
            <a:r>
              <a:rPr lang="en-US" altLang="ko-KR" sz="1200"/>
              <a:t>.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916328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453845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52</TotalTime>
  <Words>793</Words>
  <Application>Microsoft Office PowerPoint</Application>
  <PresentationFormat>와이드스크린</PresentationFormat>
  <Paragraphs>14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3" baseType="lpstr">
      <vt:lpstr>JetBrains Mono</vt:lpstr>
      <vt:lpstr>Calibri</vt:lpstr>
      <vt:lpstr>Calibri Light</vt:lpstr>
      <vt:lpstr>Courier New</vt:lpstr>
      <vt:lpstr>추억</vt:lpstr>
      <vt:lpstr>K-Training Kafka</vt:lpstr>
      <vt:lpstr>1강 Kafka Container없이 테스트 환경 구축</vt:lpstr>
      <vt:lpstr>PowerPoint 프레젠테이션</vt:lpstr>
      <vt:lpstr>PowerPoint 프레젠테이션</vt:lpstr>
      <vt:lpstr>2강 IDE Docker 개발환경 셋팅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khb</dc:creator>
  <cp:lastModifiedBy>khb</cp:lastModifiedBy>
  <cp:revision>20</cp:revision>
  <dcterms:created xsi:type="dcterms:W3CDTF">2026-09-27T05:27:08Z</dcterms:created>
  <dcterms:modified xsi:type="dcterms:W3CDTF">2026-09-27T06:19:22Z</dcterms:modified>
</cp:coreProperties>
</file>