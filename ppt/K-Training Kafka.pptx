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75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0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79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85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76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46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5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22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1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01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95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4738FBA-62D2-435D-B25A-BA659C9D73E1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359F51E-316C-4383-BC4E-ACF85AFC6E2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19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52559-817B-FC78-CDD0-4BA2A927A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K-Training Kafka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85ECEB-4704-0572-D99A-47A2BCF1A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88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F0186-0390-613D-DEB5-DB9EDF32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1</a:t>
            </a:r>
            <a:r>
              <a:rPr lang="ko-KR" altLang="en-US" sz="4000"/>
              <a:t>강 </a:t>
            </a:r>
            <a:r>
              <a:rPr lang="en-US" altLang="ko-KR" sz="4000"/>
              <a:t>Kafka Container</a:t>
            </a:r>
            <a:r>
              <a:rPr lang="ko-KR" altLang="en-US" sz="4000"/>
              <a:t>없이 테스트 환경 구축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6A5E74-3DA3-C31F-7587-850D4829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543" y="1968744"/>
            <a:ext cx="9034914" cy="395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8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4794567-3B9B-F509-5337-9F5FAE5E9414}"/>
              </a:ext>
            </a:extLst>
          </p:cNvPr>
          <p:cNvGrpSpPr/>
          <p:nvPr/>
        </p:nvGrpSpPr>
        <p:grpSpPr>
          <a:xfrm>
            <a:off x="190099" y="317825"/>
            <a:ext cx="6097604" cy="5956206"/>
            <a:chOff x="190099" y="288949"/>
            <a:chExt cx="6097604" cy="59562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9B2559-C89F-C35F-8038-05C16A370598}"/>
                </a:ext>
              </a:extLst>
            </p:cNvPr>
            <p:cNvSpPr txBox="1"/>
            <p:nvPr/>
          </p:nvSpPr>
          <p:spPr>
            <a:xfrm>
              <a:off x="190099" y="612844"/>
              <a:ext cx="6097604" cy="563231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server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port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</a:t>
              </a:r>
              <a:r>
                <a:rPr lang="en-US" altLang="ko-KR" sz="1200">
                  <a:solidFill>
                    <a:srgbClr val="2AACB8"/>
                  </a:solidFill>
                  <a:effectLst/>
                  <a:latin typeface="JetBrains Mono"/>
                </a:rPr>
                <a:t>8080</a:t>
              </a:r>
              <a:br>
                <a:rPr lang="en-US" altLang="ko-KR" sz="1200">
                  <a:solidFill>
                    <a:srgbClr val="2AACB8"/>
                  </a:solidFill>
                  <a:effectLst/>
                  <a:latin typeface="JetBrains Mono"/>
                </a:rPr>
              </a:br>
              <a:br>
                <a:rPr lang="en-US" altLang="ko-KR" sz="1200">
                  <a:solidFill>
                    <a:srgbClr val="2AACB8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spring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application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name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back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config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import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optional:file:.env[.properties]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profiles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active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dev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output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ansi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enabled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</a:t>
              </a:r>
              <a:r>
                <a:rPr lang="en-US" altLang="ko-KR" sz="1200" i="1">
                  <a:solidFill>
                    <a:srgbClr val="C77DBB"/>
                  </a:solidFill>
                  <a:effectLst/>
                  <a:latin typeface="JetBrains Mono"/>
                </a:rPr>
                <a:t>always</a:t>
              </a:r>
              <a:br>
                <a:rPr lang="en-US" altLang="ko-KR" sz="1200" i="1">
                  <a:solidFill>
                    <a:srgbClr val="C77DBB"/>
                  </a:solidFill>
                  <a:effectLst/>
                  <a:latin typeface="JetBrains Mono"/>
                </a:rPr>
              </a:br>
              <a:r>
                <a:rPr lang="en-US" altLang="ko-KR" sz="1200" i="1">
                  <a:solidFill>
                    <a:srgbClr val="C77DBB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jackson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serialization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 i="1">
                  <a:solidFill>
                    <a:srgbClr val="C77DBB"/>
                  </a:solidFill>
                  <a:effectLst/>
                  <a:latin typeface="JetBrains Mono"/>
                </a:rPr>
                <a:t>fail-on-empty-beans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false</a:t>
              </a:r>
              <a:b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  kafka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producer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value-serializer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org.springframework.kafka.support.serializer.JacksonJsonSerializer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properties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spring.json.add.type.headers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true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consumer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group-id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back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value-deserializer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org.springframework.kafka.support.serializer.JacksonJsonDeserializer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properties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spring.json.trusted.packages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com.back.*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spring.json.use.type.headers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true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logging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level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200">
                  <a:solidFill>
                    <a:srgbClr val="CF8E6D"/>
                  </a:solidFill>
                  <a:effectLst/>
                  <a:latin typeface="JetBrains Mono"/>
                </a:rPr>
                <a:t>com.back</a:t>
              </a:r>
              <a:r>
                <a:rPr lang="en-US" altLang="ko-KR" sz="1200">
                  <a:solidFill>
                    <a:srgbClr val="BCBEC4"/>
                  </a:solidFill>
                  <a:effectLst/>
                  <a:latin typeface="JetBrains Mono"/>
                </a:rPr>
                <a:t>: </a:t>
              </a:r>
              <a:r>
                <a:rPr lang="en-US" altLang="ko-KR" sz="1200">
                  <a:solidFill>
                    <a:srgbClr val="57AAF7"/>
                  </a:solidFill>
                  <a:effectLst/>
                  <a:latin typeface="JetBrains Mono"/>
                </a:rPr>
                <a:t>DEBUG</a:t>
              </a:r>
              <a:endParaRPr lang="en-US" altLang="ko-KR" sz="1200">
                <a:solidFill>
                  <a:srgbClr val="BCBEC4"/>
                </a:solidFill>
                <a:effectLst/>
                <a:latin typeface="JetBrains Mono"/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855C5B2-A416-B163-566A-5C83BF80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099" y="288949"/>
              <a:ext cx="1390844" cy="323895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E311460-C9B9-0D53-0D69-42A165EAFEC4}"/>
              </a:ext>
            </a:extLst>
          </p:cNvPr>
          <p:cNvGrpSpPr/>
          <p:nvPr/>
        </p:nvGrpSpPr>
        <p:grpSpPr>
          <a:xfrm>
            <a:off x="6506677" y="641719"/>
            <a:ext cx="5495223" cy="1774221"/>
            <a:chOff x="3047198" y="802445"/>
            <a:chExt cx="6097604" cy="17543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7F0AFA-EB90-74CE-A910-E2CD5DBEAC69}"/>
                </a:ext>
              </a:extLst>
            </p:cNvPr>
            <p:cNvSpPr txBox="1"/>
            <p:nvPr/>
          </p:nvSpPr>
          <p:spPr>
            <a:xfrm>
              <a:off x="3047198" y="802445"/>
              <a:ext cx="6097604" cy="175432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800">
                  <a:solidFill>
                    <a:srgbClr val="CF8E6D"/>
                  </a:solidFill>
                  <a:effectLst/>
                  <a:latin typeface="JetBrains Mono"/>
                </a:rPr>
                <a:t>spring</a:t>
              </a: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  </a:t>
              </a:r>
              <a:r>
                <a:rPr lang="en-US" altLang="ko-KR" sz="1800">
                  <a:solidFill>
                    <a:srgbClr val="CF8E6D"/>
                  </a:solidFill>
                  <a:effectLst/>
                  <a:latin typeface="JetBrains Mono"/>
                </a:rPr>
                <a:t>kafka</a:t>
              </a: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800" i="1">
                  <a:solidFill>
                    <a:srgbClr val="5F826B"/>
                  </a:solidFill>
                  <a:effectLst/>
                  <a:latin typeface="JetBrains Mono"/>
                </a:rPr>
                <a:t># No need to set `bootstrap-servers` in the test profile; `@EmbeddedKafka` provides it.</a:t>
              </a:r>
              <a:br>
                <a:rPr lang="en-US" altLang="ko-KR" sz="1800" i="1">
                  <a:solidFill>
                    <a:srgbClr val="5F826B"/>
                  </a:solidFill>
                  <a:effectLst/>
                  <a:latin typeface="JetBrains Mono"/>
                </a:rPr>
              </a:br>
              <a:r>
                <a:rPr lang="en-US" altLang="ko-KR" sz="1800" i="1">
                  <a:solidFill>
                    <a:srgbClr val="5F826B"/>
                  </a:solidFill>
                  <a:effectLst/>
                  <a:latin typeface="JetBrains Mono"/>
                </a:rPr>
                <a:t>    </a:t>
              </a:r>
              <a:r>
                <a:rPr lang="en-US" altLang="ko-KR" sz="1800">
                  <a:solidFill>
                    <a:srgbClr val="CF8E6D"/>
                  </a:solidFill>
                  <a:effectLst/>
                  <a:latin typeface="JetBrains Mono"/>
                </a:rPr>
                <a:t>consumer</a:t>
              </a: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:</a:t>
              </a:r>
              <a:b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      </a:t>
              </a:r>
              <a:r>
                <a:rPr lang="en-US" altLang="ko-KR" sz="1800">
                  <a:solidFill>
                    <a:srgbClr val="CF8E6D"/>
                  </a:solidFill>
                  <a:effectLst/>
                  <a:latin typeface="JetBrains Mono"/>
                </a:rPr>
                <a:t>auto-offset-reset</a:t>
              </a:r>
              <a:r>
                <a:rPr lang="en-US" altLang="ko-KR" sz="1800">
                  <a:solidFill>
                    <a:srgbClr val="BCBEC4"/>
                  </a:solidFill>
                  <a:effectLst/>
                  <a:latin typeface="JetBrains Mono"/>
                </a:rPr>
                <a:t>: </a:t>
              </a:r>
              <a:r>
                <a:rPr lang="en-US" altLang="ko-KR" sz="1800">
                  <a:solidFill>
                    <a:srgbClr val="57AAF7"/>
                  </a:solidFill>
                  <a:effectLst/>
                  <a:latin typeface="JetBrains Mono"/>
                </a:rPr>
                <a:t>earliest</a:t>
              </a:r>
              <a:endParaRPr lang="en-US" altLang="ko-KR" sz="1800">
                <a:solidFill>
                  <a:srgbClr val="BCBEC4"/>
                </a:solidFill>
                <a:effectLst/>
                <a:latin typeface="JetBrains Mono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A830025-06D5-629C-1461-B108F5C3D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92010" y="802445"/>
              <a:ext cx="1552792" cy="323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029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6F32-3AD4-EBEE-E04C-3762D9BC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F30764-67DA-45B7-F113-00CE9057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47" y="209059"/>
            <a:ext cx="2734057" cy="27245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1B8619-9187-6073-5C60-ED30CCD53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508" y="209059"/>
            <a:ext cx="6601746" cy="43821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D8A1D0-9EF9-C6DD-8C2E-B772E0EFE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06" y="4837454"/>
            <a:ext cx="4667901" cy="609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8D0BA9F-78DA-6F32-7AF6-177677DC5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128" y="103181"/>
            <a:ext cx="3972025" cy="3142949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1601D1-42BF-A5C9-34AF-624C9F2A36C4}"/>
              </a:ext>
            </a:extLst>
          </p:cNvPr>
          <p:cNvSpPr/>
          <p:nvPr/>
        </p:nvSpPr>
        <p:spPr>
          <a:xfrm>
            <a:off x="3609474" y="2675823"/>
            <a:ext cx="4071486" cy="500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70290A-480A-3181-0B50-051E2E5BFEF7}"/>
              </a:ext>
            </a:extLst>
          </p:cNvPr>
          <p:cNvSpPr/>
          <p:nvPr/>
        </p:nvSpPr>
        <p:spPr>
          <a:xfrm>
            <a:off x="3489575" y="3246130"/>
            <a:ext cx="5904682" cy="43553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2AAF70-3DBC-61EA-3A75-EEC90B6780D4}"/>
              </a:ext>
            </a:extLst>
          </p:cNvPr>
          <p:cNvSpPr txBox="1"/>
          <p:nvPr/>
        </p:nvSpPr>
        <p:spPr>
          <a:xfrm>
            <a:off x="5284269" y="4735629"/>
            <a:ext cx="6721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빨간색 박스 </a:t>
            </a:r>
            <a:r>
              <a:rPr lang="en-US" altLang="ko-KR" sz="1200"/>
              <a:t>Kafka </a:t>
            </a:r>
            <a:r>
              <a:rPr lang="ko-KR" altLang="en-US" sz="1200"/>
              <a:t>레코드 전송 </a:t>
            </a:r>
            <a:r>
              <a:rPr lang="en-US" altLang="ko-KR" sz="1200"/>
              <a:t>(Producer)</a:t>
            </a:r>
            <a:br>
              <a:rPr lang="en-US" altLang="ko-KR" sz="1200"/>
            </a:br>
            <a:r>
              <a:rPr lang="ko-KR" altLang="en-US" sz="1200"/>
              <a:t>연두색 박스 레코드 수신</a:t>
            </a:r>
            <a:r>
              <a:rPr lang="en-US" altLang="ko-KR" sz="1200"/>
              <a:t>(Consumer)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코드 내용 </a:t>
            </a:r>
            <a:r>
              <a:rPr lang="en-US" altLang="ko-KR" sz="1200"/>
              <a:t>: 10</a:t>
            </a:r>
            <a:r>
              <a:rPr lang="ko-KR" altLang="en-US" sz="1200"/>
              <a:t>초 대기 </a:t>
            </a:r>
            <a:r>
              <a:rPr lang="en-US" altLang="ko-KR" sz="1200"/>
              <a:t>- </a:t>
            </a:r>
            <a:r>
              <a:rPr lang="ko-KR" altLang="en-US" sz="1200"/>
              <a:t>리스너 수신 확인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58AE8C6-14E4-7A5E-838B-739EC9C016C3}"/>
              </a:ext>
            </a:extLst>
          </p:cNvPr>
          <p:cNvGrpSpPr/>
          <p:nvPr/>
        </p:nvGrpSpPr>
        <p:grpSpPr>
          <a:xfrm>
            <a:off x="354706" y="5539819"/>
            <a:ext cx="5574456" cy="1209844"/>
            <a:chOff x="354706" y="5539819"/>
            <a:chExt cx="5574456" cy="120984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FD00E17-EB6A-2DA4-9F37-19BB77FFF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4706" y="5539819"/>
              <a:ext cx="3305636" cy="120984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C2D1DF-D53E-0843-CDA7-0D802492B56C}"/>
                </a:ext>
              </a:extLst>
            </p:cNvPr>
            <p:cNvSpPr txBox="1"/>
            <p:nvPr/>
          </p:nvSpPr>
          <p:spPr>
            <a:xfrm>
              <a:off x="3753853" y="5611528"/>
              <a:ext cx="21753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record</a:t>
              </a:r>
              <a:r>
                <a:rPr lang="ko-KR" altLang="en-US" sz="1200"/>
                <a:t> 타입을 </a:t>
              </a:r>
              <a:r>
                <a:rPr lang="en-US" altLang="ko-KR" sz="1200"/>
                <a:t>class</a:t>
              </a:r>
              <a:r>
                <a:rPr lang="ko-KR" altLang="en-US" sz="1200"/>
                <a:t>로 비슷하게 표현하면 </a:t>
              </a:r>
              <a:br>
                <a:rPr lang="en-US" altLang="ko-KR" sz="1200"/>
              </a:br>
              <a:r>
                <a:rPr lang="ko-KR" altLang="en-US" sz="1200"/>
                <a:t>좌측 사진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634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83EF3-B60E-A7A7-85D2-040C82D5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07478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263</Words>
  <Application>Microsoft Office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JetBrains Mono</vt:lpstr>
      <vt:lpstr>Calibri</vt:lpstr>
      <vt:lpstr>Calibri Light</vt:lpstr>
      <vt:lpstr>추억</vt:lpstr>
      <vt:lpstr>K-Training Kafka</vt:lpstr>
      <vt:lpstr>1강 Kafka Container없이 테스트 환경 구축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</cp:revision>
  <dcterms:created xsi:type="dcterms:W3CDTF">2026-09-27T05:27:08Z</dcterms:created>
  <dcterms:modified xsi:type="dcterms:W3CDTF">2026-09-27T05:55:46Z</dcterms:modified>
</cp:coreProperties>
</file>