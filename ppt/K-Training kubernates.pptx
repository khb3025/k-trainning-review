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85" r:id="rId23"/>
    <p:sldId id="280" r:id="rId24"/>
    <p:sldId id="281" r:id="rId25"/>
    <p:sldId id="282" r:id="rId26"/>
    <p:sldId id="283" r:id="rId27"/>
    <p:sldId id="286" r:id="rId28"/>
    <p:sldId id="288" r:id="rId29"/>
    <p:sldId id="289" r:id="rId30"/>
    <p:sldId id="291" r:id="rId31"/>
    <p:sldId id="290" r:id="rId32"/>
    <p:sldId id="292" r:id="rId33"/>
    <p:sldId id="293" r:id="rId34"/>
    <p:sldId id="294" r:id="rId35"/>
    <p:sldId id="296" r:id="rId36"/>
    <p:sldId id="295" r:id="rId37"/>
    <p:sldId id="297" r:id="rId38"/>
    <p:sldId id="298" r:id="rId39"/>
    <p:sldId id="299" r:id="rId40"/>
    <p:sldId id="300" r:id="rId41"/>
    <p:sldId id="301" r:id="rId42"/>
    <p:sldId id="302" r:id="rId43"/>
    <p:sldId id="304" r:id="rId44"/>
    <p:sldId id="303" r:id="rId45"/>
    <p:sldId id="305" r:id="rId46"/>
    <p:sldId id="307" r:id="rId47"/>
    <p:sldId id="306" r:id="rId48"/>
    <p:sldId id="308" r:id="rId49"/>
    <p:sldId id="310" r:id="rId50"/>
    <p:sldId id="309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3987093-DF23-423E-A6C8-1808CE2C7FFE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3강" id="{40B87A3F-319D-4E2E-BCFB-BF135D97E1E4}">
          <p14:sldIdLst>
            <p14:sldId id="266"/>
            <p14:sldId id="267"/>
          </p14:sldIdLst>
        </p14:section>
        <p14:section name="4" id="{3A14862E-4756-4B41-BCF2-048076668614}">
          <p14:sldIdLst>
            <p14:sldId id="270"/>
            <p14:sldId id="268"/>
            <p14:sldId id="269"/>
            <p14:sldId id="271"/>
            <p14:sldId id="272"/>
            <p14:sldId id="273"/>
          </p14:sldIdLst>
        </p14:section>
        <p14:section name="5" id="{59EFD2AF-42F4-4427-BCAF-50C9C9CC81DA}">
          <p14:sldIdLst>
            <p14:sldId id="274"/>
            <p14:sldId id="277"/>
            <p14:sldId id="278"/>
          </p14:sldIdLst>
        </p14:section>
        <p14:section name="6" id="{6E94DAE8-73AD-4042-9430-31A5C073A98B}">
          <p14:sldIdLst>
            <p14:sldId id="279"/>
            <p14:sldId id="285"/>
            <p14:sldId id="280"/>
            <p14:sldId id="281"/>
            <p14:sldId id="282"/>
          </p14:sldIdLst>
        </p14:section>
        <p14:section name="7" id="{D1A7545E-BEFB-4DBB-BDB6-5AD01396529D}">
          <p14:sldIdLst>
            <p14:sldId id="283"/>
            <p14:sldId id="286"/>
            <p14:sldId id="288"/>
            <p14:sldId id="289"/>
          </p14:sldIdLst>
        </p14:section>
        <p14:section name="8" id="{8B584C39-61EC-41F1-90D7-2A59928A9543}">
          <p14:sldIdLst>
            <p14:sldId id="291"/>
            <p14:sldId id="290"/>
            <p14:sldId id="292"/>
            <p14:sldId id="293"/>
            <p14:sldId id="294"/>
          </p14:sldIdLst>
        </p14:section>
        <p14:section name="9" id="{137BE949-A280-435C-9DD3-E08B30D90C5F}">
          <p14:sldIdLst>
            <p14:sldId id="296"/>
            <p14:sldId id="295"/>
            <p14:sldId id="297"/>
          </p14:sldIdLst>
        </p14:section>
        <p14:section name="10" id="{B94E26EC-1AE3-4B78-955F-651C04062315}">
          <p14:sldIdLst>
            <p14:sldId id="298"/>
            <p14:sldId id="299"/>
            <p14:sldId id="300"/>
            <p14:sldId id="301"/>
            <p14:sldId id="302"/>
          </p14:sldIdLst>
        </p14:section>
        <p14:section name="11" id="{2388107C-C683-4070-897B-084A3A9A98F0}">
          <p14:sldIdLst>
            <p14:sldId id="304"/>
            <p14:sldId id="303"/>
            <p14:sldId id="305"/>
          </p14:sldIdLst>
        </p14:section>
        <p14:section name="13" id="{4D94EBFB-9520-4A48-9CBB-5D972EE04ECB}">
          <p14:sldIdLst>
            <p14:sldId id="307"/>
            <p14:sldId id="306"/>
            <p14:sldId id="308"/>
            <p14:sldId id="310"/>
            <p14:sldId id="309"/>
          </p14:sldIdLst>
        </p14:section>
        <p14:section name="14" id="{35BED7CE-7A7D-4D64-91CD-28425C554458}">
          <p14:sldIdLst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15" id="{4C76AB5D-5202-4D92-A7BB-792CE0000F85}">
          <p14:sldIdLst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5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23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6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3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1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2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64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5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27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88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5B3914-7CC7-4309-90EA-6C96980E3898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22E908A-6FEC-4BFD-B0CB-0B913FA9485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04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D695E-1A8F-42F3-A190-331834E0B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kubernates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9730E2-3679-57EB-0BBC-E2D7B1B7F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802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D769F-11C0-F4FE-BE69-A1D0F187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Docker Desktop </a:t>
            </a:r>
            <a:r>
              <a:rPr lang="ko-KR" altLang="en-US" sz="4000"/>
              <a:t>환경에서 </a:t>
            </a:r>
            <a:r>
              <a:rPr lang="en-US" altLang="ko-KR" sz="4000"/>
              <a:t>Kubernates</a:t>
            </a:r>
            <a:r>
              <a:rPr lang="ko-KR" altLang="en-US" sz="4000"/>
              <a:t>설치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8B074D-BA4B-BE88-46EE-88E03B51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1" y="1900989"/>
            <a:ext cx="8280994" cy="4090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79519-A83F-6F69-2437-7FCA524617E5}"/>
              </a:ext>
            </a:extLst>
          </p:cNvPr>
          <p:cNvSpPr txBox="1"/>
          <p:nvPr/>
        </p:nvSpPr>
        <p:spPr>
          <a:xfrm>
            <a:off x="7040079" y="2664054"/>
            <a:ext cx="4709160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Docker Desktop 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최신 버전으로 업데이트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Docker Desktop Settings → Kubernetes 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메뉴 이동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"Enable Kubernetes" 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체크박스 활성화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Cluster Settings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에서 </a:t>
            </a: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"kubeadm" 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선택 </a:t>
            </a:r>
            <a:r>
              <a:rPr lang="en-US" altLang="ko-KR" sz="1400">
                <a:solidFill>
                  <a:srgbClr val="222222"/>
                </a:solidFill>
                <a:latin typeface="Pretendard Variable"/>
              </a:rPr>
              <a:t>(single node)</a:t>
            </a:r>
            <a:endParaRPr lang="ko-KR" altLang="en-US" sz="1400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"Apply &amp; Restart" 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클릭 후 설치 완료 대기 </a:t>
            </a: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(3~5</a:t>
            </a:r>
            <a:r>
              <a:rPr lang="ko-KR" altLang="en-US" sz="1400" b="0" i="0">
                <a:solidFill>
                  <a:srgbClr val="222222"/>
                </a:solidFill>
                <a:effectLst/>
                <a:latin typeface="Pretendard Variable"/>
              </a:rPr>
              <a:t>분 소요</a:t>
            </a:r>
            <a:r>
              <a:rPr lang="en-US" altLang="ko-KR" sz="1400" b="0" i="0">
                <a:solidFill>
                  <a:srgbClr val="222222"/>
                </a:solidFill>
                <a:effectLst/>
                <a:latin typeface="Pretendard Variable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14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6EFAC-9E3F-0662-1742-CD3D8E6B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Kubectl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DAAC5F-CC99-763E-5D9B-1994AA743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06" y="2000560"/>
            <a:ext cx="8849960" cy="2029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89B8D-00AF-1719-E96F-652362B8124B}"/>
              </a:ext>
            </a:extLst>
          </p:cNvPr>
          <p:cNvSpPr txBox="1"/>
          <p:nvPr/>
        </p:nvSpPr>
        <p:spPr>
          <a:xfrm>
            <a:off x="1260909" y="4244741"/>
            <a:ext cx="1005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명령어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385063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89146-E3BC-B375-BF1B-6C978FBB0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E09AA-63C1-4640-AF14-A4E5E9F85649}"/>
              </a:ext>
            </a:extLst>
          </p:cNvPr>
          <p:cNvSpPr txBox="1"/>
          <p:nvPr/>
        </p:nvSpPr>
        <p:spPr>
          <a:xfrm>
            <a:off x="7113069" y="2156059"/>
            <a:ext cx="4254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클러스터 내에 노드가 있음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4DD2FD-A9DB-AEA2-CF0C-CEA822C27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64" y="2156059"/>
            <a:ext cx="5748461" cy="38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0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63608-DB80-53D0-A105-2AB2CFA5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강 기본 명령어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94CE77-ED83-8D6F-507A-31BE4A93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8194"/>
            <a:ext cx="4058216" cy="924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8496FE-6C38-150B-7061-FF592B779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070" y="2012856"/>
            <a:ext cx="2886478" cy="25435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4FC395-8432-E213-7B61-79CF8A606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92" y="3003082"/>
            <a:ext cx="5677692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9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2A9A2-52DC-4F8B-4589-E64AB97A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3B798-8086-8AD1-1508-52569CF9194F}"/>
              </a:ext>
            </a:extLst>
          </p:cNvPr>
          <p:cNvSpPr txBox="1"/>
          <p:nvPr/>
        </p:nvSpPr>
        <p:spPr>
          <a:xfrm>
            <a:off x="1097280" y="1954376"/>
            <a:ext cx="6097604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describe node docker-desktop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6FCEA9-0592-4C0F-A6B7-9F0A7BDA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164" y="2311033"/>
            <a:ext cx="5531602" cy="42603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6623D7-BBF3-7465-60AE-C6092383A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75" y="2434304"/>
            <a:ext cx="477269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29F03-88EE-A700-B772-9E15CE33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F2BA96-A66E-E777-234D-A7C149F5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16" y="1737360"/>
            <a:ext cx="7487695" cy="1409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AF2CFB-B65D-8298-2637-FD1A24C87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33" y="3429000"/>
            <a:ext cx="2429214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54F38-3B68-1665-D114-B872256C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0D9763-C621-649A-3E6C-61F361E1A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05" y="1984107"/>
            <a:ext cx="2276793" cy="714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C55688-E538-7E0A-D2A1-6CF6F95BB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86" y="2341344"/>
            <a:ext cx="4744112" cy="3562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165147-FC5E-1CF7-C8B1-A2D4BFA3E33D}"/>
              </a:ext>
            </a:extLst>
          </p:cNvPr>
          <p:cNvSpPr txBox="1"/>
          <p:nvPr/>
        </p:nvSpPr>
        <p:spPr>
          <a:xfrm>
            <a:off x="5611528" y="3859731"/>
            <a:ext cx="4533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논리 파티션</a:t>
            </a:r>
          </a:p>
        </p:txBody>
      </p:sp>
    </p:spTree>
    <p:extLst>
      <p:ext uri="{BB962C8B-B14F-4D97-AF65-F5344CB8AC3E}">
        <p14:creationId xmlns:p14="http://schemas.microsoft.com/office/powerpoint/2010/main" val="134994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EDFC6-9AFA-E6AB-CC30-F86AF8B9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83D4E2-04D1-8D03-1624-B73717F0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90" y="1935033"/>
            <a:ext cx="5258534" cy="4239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B4A02A-1F8B-9329-BAF7-39B2619D3FE4}"/>
              </a:ext>
            </a:extLst>
          </p:cNvPr>
          <p:cNvSpPr txBox="1"/>
          <p:nvPr/>
        </p:nvSpPr>
        <p:spPr>
          <a:xfrm>
            <a:off x="6352674" y="2415941"/>
            <a:ext cx="5258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클러</a:t>
            </a:r>
          </a:p>
        </p:txBody>
      </p:sp>
    </p:spTree>
    <p:extLst>
      <p:ext uri="{BB962C8B-B14F-4D97-AF65-F5344CB8AC3E}">
        <p14:creationId xmlns:p14="http://schemas.microsoft.com/office/powerpoint/2010/main" val="406787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83593-87FD-C987-1E8B-2D0AF522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강 </a:t>
            </a:r>
            <a:r>
              <a:rPr lang="en-US" altLang="ko-KR"/>
              <a:t>Pod</a:t>
            </a:r>
            <a:r>
              <a:rPr lang="ko-KR" altLang="en-US"/>
              <a:t>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AD031-195E-FFC3-379C-98A46B8B686B}"/>
              </a:ext>
            </a:extLst>
          </p:cNvPr>
          <p:cNvSpPr txBox="1"/>
          <p:nvPr/>
        </p:nvSpPr>
        <p:spPr>
          <a:xfrm>
            <a:off x="1097280" y="1972460"/>
            <a:ext cx="922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>
                <a:solidFill>
                  <a:srgbClr val="999999"/>
                </a:solidFill>
                <a:effectLst/>
                <a:latin typeface="Pretendard Variable"/>
              </a:rPr>
              <a:t>? </a:t>
            </a:r>
            <a:r>
              <a:rPr lang="ko-KR" altLang="en-US" b="1" i="0">
                <a:solidFill>
                  <a:srgbClr val="999999"/>
                </a:solidFill>
                <a:effectLst/>
                <a:latin typeface="Pretendard Variable"/>
              </a:rPr>
              <a:t>이 파트에서 배우는 것</a:t>
            </a:r>
            <a:r>
              <a:rPr lang="en-US" altLang="ko-KR" b="0" i="0">
                <a:solidFill>
                  <a:srgbClr val="999999"/>
                </a:solidFill>
                <a:effectLst/>
                <a:latin typeface="Pretendard Variable"/>
              </a:rPr>
              <a:t>: Kubernetes</a:t>
            </a:r>
            <a:r>
              <a:rPr lang="ko-KR" altLang="en-US" b="0" i="0">
                <a:solidFill>
                  <a:srgbClr val="999999"/>
                </a:solidFill>
                <a:effectLst/>
                <a:latin typeface="Pretendard Variable"/>
              </a:rPr>
              <a:t>에서 가장 기본이 되는 </a:t>
            </a:r>
            <a:r>
              <a:rPr lang="en-US" altLang="ko-KR" b="0" i="0">
                <a:solidFill>
                  <a:srgbClr val="999999"/>
                </a:solidFill>
                <a:effectLst/>
                <a:latin typeface="Pretendard Variable"/>
              </a:rPr>
              <a:t>Pod</a:t>
            </a:r>
            <a:r>
              <a:rPr lang="ko-KR" altLang="en-US" b="0" i="0">
                <a:solidFill>
                  <a:srgbClr val="999999"/>
                </a:solidFill>
                <a:effectLst/>
                <a:latin typeface="Pretendard Variable"/>
              </a:rPr>
              <a:t>를 만들고 관리하는 방법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FB57A6-FD64-6876-7910-893050F2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691" y="2576892"/>
            <a:ext cx="4410691" cy="2391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B303CE-E954-3D0E-6360-3EAF33FF2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76892"/>
            <a:ext cx="3982006" cy="2010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22B7E6-6469-33B3-6EB5-063C10070D17}"/>
              </a:ext>
            </a:extLst>
          </p:cNvPr>
          <p:cNvSpPr txBox="1"/>
          <p:nvPr/>
        </p:nvSpPr>
        <p:spPr>
          <a:xfrm>
            <a:off x="895149" y="5062888"/>
            <a:ext cx="648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명령형으로 </a:t>
            </a:r>
            <a:r>
              <a:rPr lang="en-US" altLang="ko-KR"/>
              <a:t>pod </a:t>
            </a:r>
            <a:r>
              <a:rPr lang="ko-KR" altLang="en-US"/>
              <a:t>생성</a:t>
            </a:r>
            <a:r>
              <a:rPr lang="en-US" altLang="ko-KR"/>
              <a:t>, </a:t>
            </a:r>
            <a:r>
              <a:rPr lang="ko-KR" altLang="en-US"/>
              <a:t>삭제</a:t>
            </a:r>
            <a:r>
              <a:rPr lang="en-US" altLang="ko-KR"/>
              <a:t>, </a:t>
            </a:r>
            <a:r>
              <a:rPr lang="ko-KR" altLang="en-US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34450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75DED-C087-0468-5F58-13B36053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5D7F2FC-9C63-522E-B505-D9FE748150B0}"/>
              </a:ext>
            </a:extLst>
          </p:cNvPr>
          <p:cNvGrpSpPr/>
          <p:nvPr/>
        </p:nvGrpSpPr>
        <p:grpSpPr>
          <a:xfrm>
            <a:off x="1097280" y="1867088"/>
            <a:ext cx="8768136" cy="3854591"/>
            <a:chOff x="1097280" y="1867088"/>
            <a:chExt cx="8768136" cy="385459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86E638A-45D5-292D-C05F-D32C4930A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67088"/>
              <a:ext cx="8768136" cy="385459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5272FCB-614C-3CEE-C117-EDCFBEE02E82}"/>
                </a:ext>
              </a:extLst>
            </p:cNvPr>
            <p:cNvSpPr/>
            <p:nvPr/>
          </p:nvSpPr>
          <p:spPr>
            <a:xfrm>
              <a:off x="5245768" y="3272589"/>
              <a:ext cx="3907857" cy="2695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9D27121-D584-D7DC-A371-33C5A335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730" y="4678514"/>
            <a:ext cx="6084950" cy="152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3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D2DE8-53E1-73D4-728E-1BF4F2F9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강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DA87F1-F111-C304-32F7-FA22A042BFC6}"/>
              </a:ext>
            </a:extLst>
          </p:cNvPr>
          <p:cNvGrpSpPr/>
          <p:nvPr/>
        </p:nvGrpSpPr>
        <p:grpSpPr>
          <a:xfrm>
            <a:off x="551450" y="1950847"/>
            <a:ext cx="4925324" cy="4288618"/>
            <a:chOff x="551450" y="1950847"/>
            <a:chExt cx="4925324" cy="42886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2D6C58-1605-AC5E-393B-004B8D317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450" y="1950847"/>
              <a:ext cx="4925324" cy="428861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6B652D2-1AA4-8C8E-E280-65CE93270A0F}"/>
                </a:ext>
              </a:extLst>
            </p:cNvPr>
            <p:cNvSpPr/>
            <p:nvPr/>
          </p:nvSpPr>
          <p:spPr>
            <a:xfrm>
              <a:off x="551450" y="3676851"/>
              <a:ext cx="4925324" cy="25626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36F0AD-6B8A-93B6-C0BF-8A05713179B7}"/>
              </a:ext>
            </a:extLst>
          </p:cNvPr>
          <p:cNvSpPr txBox="1"/>
          <p:nvPr/>
        </p:nvSpPr>
        <p:spPr>
          <a:xfrm>
            <a:off x="5871411" y="2213811"/>
            <a:ext cx="542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선언형으로 삭제</a:t>
            </a:r>
            <a:r>
              <a:rPr lang="en-US" altLang="ko-KR"/>
              <a:t>/ </a:t>
            </a:r>
            <a:r>
              <a:rPr lang="ko-KR" altLang="en-US"/>
              <a:t>수정 </a:t>
            </a:r>
            <a:r>
              <a:rPr lang="en-US" altLang="ko-KR"/>
              <a:t>/ </a:t>
            </a:r>
            <a:r>
              <a:rPr lang="ko-KR" altLang="en-US"/>
              <a:t>생성 해보기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86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27F38-5B35-EFF5-286C-CCEA65F0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021382-2666-526D-6B95-71AF4E44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6080"/>
            <a:ext cx="3191320" cy="7335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EE13A2-5D4C-99B2-2193-FE875F0C6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81262"/>
            <a:ext cx="3067478" cy="895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BE7D1E-68F9-9441-0594-DC05C086C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505" y="3066998"/>
            <a:ext cx="1705213" cy="724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A64523-3208-14BB-65D0-B47899744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431" y="3066998"/>
            <a:ext cx="3661094" cy="27390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205FEB-8AA2-98EE-B218-1572EA3B489F}"/>
              </a:ext>
            </a:extLst>
          </p:cNvPr>
          <p:cNvSpPr txBox="1"/>
          <p:nvPr/>
        </p:nvSpPr>
        <p:spPr>
          <a:xfrm>
            <a:off x="4581625" y="1936080"/>
            <a:ext cx="503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이미지로 컨테이너를 만들고 </a:t>
            </a:r>
            <a:r>
              <a:rPr lang="en-US" altLang="ko-KR"/>
              <a:t>Pod</a:t>
            </a:r>
            <a:r>
              <a:rPr lang="ko-KR" altLang="en-US"/>
              <a:t>에 담음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AF45BC9-1BC6-6774-F363-86F25D89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872" y="4067373"/>
            <a:ext cx="2657846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1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60E32-438A-FA53-821A-CFE77C86C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0A531C-2494-393D-2FAA-C0C1EEDE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93" y="1939721"/>
            <a:ext cx="4481836" cy="34311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D4D5E2-127A-1ED8-25CE-45420B91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59" y="1939721"/>
            <a:ext cx="6848548" cy="227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4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1F6BF-90E5-EBCD-20C5-1E79E331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38466F-1432-5398-08E0-FEE2C5B2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80182"/>
            <a:ext cx="4991797" cy="279121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A9AFA35-5626-9AF9-8E7C-426E8397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18" y="3780182"/>
            <a:ext cx="5134692" cy="254353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AAE39944-1D50-0590-8E94-95CD99917EFB}"/>
              </a:ext>
            </a:extLst>
          </p:cNvPr>
          <p:cNvGrpSpPr/>
          <p:nvPr/>
        </p:nvGrpSpPr>
        <p:grpSpPr>
          <a:xfrm>
            <a:off x="1633088" y="817960"/>
            <a:ext cx="8704446" cy="2795362"/>
            <a:chOff x="1633088" y="817960"/>
            <a:chExt cx="8704446" cy="279536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9732BC6-F3A6-1C3E-537A-45BAC07AA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3088" y="817960"/>
              <a:ext cx="8704446" cy="2795362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A87A581-41C6-156B-160F-48BF12D27420}"/>
                </a:ext>
              </a:extLst>
            </p:cNvPr>
            <p:cNvSpPr/>
            <p:nvPr/>
          </p:nvSpPr>
          <p:spPr>
            <a:xfrm>
              <a:off x="3003082" y="3089709"/>
              <a:ext cx="1905802" cy="3392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702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FE678-4E87-1117-8F6B-A230AA13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E9C5C-BF61-BAB0-ACDB-6BD0128427E2}"/>
              </a:ext>
            </a:extLst>
          </p:cNvPr>
          <p:cNvSpPr txBox="1"/>
          <p:nvPr/>
        </p:nvSpPr>
        <p:spPr>
          <a:xfrm>
            <a:off x="1097280" y="1944880"/>
            <a:ext cx="6097604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Pod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nginx-pod.yaml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0A0EAE-53D8-42FE-D5CA-4B5154489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29000"/>
            <a:ext cx="3810532" cy="25911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45E40B-8BDF-5A9F-83ED-5D46C1463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778" y="2834638"/>
            <a:ext cx="4258269" cy="341995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6E9D13E-4484-3C4C-8C61-632CC1DF5670}"/>
              </a:ext>
            </a:extLst>
          </p:cNvPr>
          <p:cNvSpPr/>
          <p:nvPr/>
        </p:nvSpPr>
        <p:spPr>
          <a:xfrm>
            <a:off x="5573027" y="4543124"/>
            <a:ext cx="2444817" cy="423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B48D7-9DEB-EAF9-E655-BDF94174A201}"/>
              </a:ext>
            </a:extLst>
          </p:cNvPr>
          <p:cNvSpPr txBox="1"/>
          <p:nvPr/>
        </p:nvSpPr>
        <p:spPr>
          <a:xfrm>
            <a:off x="8210349" y="4543124"/>
            <a:ext cx="352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수정후 </a:t>
            </a:r>
            <a:r>
              <a:rPr lang="en-US" altLang="ko-KR"/>
              <a:t>apply</a:t>
            </a:r>
            <a:r>
              <a:rPr lang="ko-KR" altLang="en-US"/>
              <a:t>하면 하기처럼 뜸</a:t>
            </a:r>
          </a:p>
        </p:txBody>
      </p:sp>
    </p:spTree>
    <p:extLst>
      <p:ext uri="{BB962C8B-B14F-4D97-AF65-F5344CB8AC3E}">
        <p14:creationId xmlns:p14="http://schemas.microsoft.com/office/powerpoint/2010/main" val="1248134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FE536-B86B-A509-DF22-9701B6A7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885EAD-C9F6-5F21-449D-5F9B483B7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86" y="2077924"/>
            <a:ext cx="5608435" cy="40473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BFF02E-89EB-4D02-EE07-727B6B311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297" y="2386847"/>
            <a:ext cx="4639322" cy="17147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3A9A27-1A79-0218-EE69-65D655A8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009" y="2284917"/>
            <a:ext cx="4365897" cy="404732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85591A2-8C6F-D25A-E3AE-D9B399E3DEB7}"/>
              </a:ext>
            </a:extLst>
          </p:cNvPr>
          <p:cNvSpPr/>
          <p:nvPr/>
        </p:nvSpPr>
        <p:spPr>
          <a:xfrm>
            <a:off x="3705726" y="5496025"/>
            <a:ext cx="1540042" cy="629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pod </a:t>
            </a:r>
            <a:r>
              <a:rPr lang="ko-KR" altLang="en-US"/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472033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D7E22-9E45-F9A5-07C3-970C2F71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multi-container pod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C8117-33D8-047B-3A90-FFC341E11557}"/>
              </a:ext>
            </a:extLst>
          </p:cNvPr>
          <p:cNvSpPr txBox="1"/>
          <p:nvPr/>
        </p:nvSpPr>
        <p:spPr>
          <a:xfrm>
            <a:off x="1097280" y="2018844"/>
            <a:ext cx="10202779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왜 하나의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에 여러 컨테이너를 넣나요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?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일반적으로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하나의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에는 하나의 컨테이너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를 넣는 것이 권장됩니다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하지만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밀접하게 협력해야 하는 컨테이너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들은 같은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에 넣습니다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F9947-FBC7-B723-D069-EE8093AE1739}"/>
              </a:ext>
            </a:extLst>
          </p:cNvPr>
          <p:cNvSpPr txBox="1"/>
          <p:nvPr/>
        </p:nvSpPr>
        <p:spPr>
          <a:xfrm>
            <a:off x="1097280" y="3168187"/>
            <a:ext cx="6097604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같은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에 넣는 경우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  <a:endParaRPr lang="ko-KR" altLang="en-US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항상 같이 배포되어야 함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같은 네트워크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/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스토리지를 공유해야 함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스케일링 단위가 같음</a:t>
            </a:r>
          </a:p>
        </p:txBody>
      </p:sp>
    </p:spTree>
    <p:extLst>
      <p:ext uri="{BB962C8B-B14F-4D97-AF65-F5344CB8AC3E}">
        <p14:creationId xmlns:p14="http://schemas.microsoft.com/office/powerpoint/2010/main" val="3636148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9ED5B7-1BB9-88DC-46BD-7AD9B096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63" y="250246"/>
            <a:ext cx="5312858" cy="19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86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8819E8-7A6F-D430-A5DF-5AFBC4AD2A32}"/>
              </a:ext>
            </a:extLst>
          </p:cNvPr>
          <p:cNvSpPr txBox="1"/>
          <p:nvPr/>
        </p:nvSpPr>
        <p:spPr>
          <a:xfrm>
            <a:off x="334478" y="315778"/>
            <a:ext cx="4102769" cy="46166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apiVersion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v1</a:t>
            </a:r>
            <a:b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kind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Pod</a:t>
            </a:r>
            <a:b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metadata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multi-container-pod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spec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containers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메인 애플리케이션 컨테이너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main-app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image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nginx:1.25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ports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containerPort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80</a:t>
            </a:r>
            <a:b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volumeMounts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shared-logs    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볼륨 마운트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mountPath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/var/log/nginx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nginx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로그 경로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사이드카 컨테이너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(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로그 수집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)</a:t>
            </a:r>
            <a:b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log-sidecar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image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busybox:1.36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로그 파일을 실시간으로 읽어서 출력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command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[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'sh'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'-c'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'tail -F /var/log/nginx/access.log'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volumeMounts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shared-logs    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같은 볼륨 마운트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mountPath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/var/log/nginx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공유 볼륨 정의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volumes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-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shared-logs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emptyDir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{}             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Pod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수명과 같은 임시 볼륨</a:t>
            </a:r>
            <a:endParaRPr lang="ko-KR" altLang="en-US" sz="105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14044-D154-A6C3-7560-F4935C2FBB78}"/>
              </a:ext>
            </a:extLst>
          </p:cNvPr>
          <p:cNvSpPr txBox="1"/>
          <p:nvPr/>
        </p:nvSpPr>
        <p:spPr>
          <a:xfrm>
            <a:off x="4571200" y="414334"/>
            <a:ext cx="6097604" cy="4561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>
                <a:latin typeface="Consolas" panose="020B0609020204030204" pitchFamily="49" charset="0"/>
              </a:rPr>
              <a:t>(</a:t>
            </a:r>
            <a:r>
              <a:rPr lang="ko-KR" altLang="en-US" sz="1200">
                <a:latin typeface="Consolas" panose="020B0609020204030204" pitchFamily="49" charset="0"/>
              </a:rPr>
              <a:t>대표 패턴</a:t>
            </a:r>
            <a:r>
              <a:rPr lang="en-US" altLang="ko-KR" sz="1200"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200">
                <a:latin typeface="Consolas" panose="020B0609020204030204" pitchFamily="49" charset="0"/>
              </a:rPr>
              <a:t>사이드카 패턴으로 </a:t>
            </a:r>
            <a:r>
              <a:rPr lang="en-US" altLang="ko-KR" sz="1200">
                <a:latin typeface="Consolas" panose="020B0609020204030204" pitchFamily="49" charset="0"/>
              </a:rPr>
              <a:t>POD </a:t>
            </a:r>
            <a:r>
              <a:rPr lang="ko-KR" altLang="en-US" sz="1200">
                <a:latin typeface="Consolas" panose="020B0609020204030204" pitchFamily="49" charset="0"/>
              </a:rPr>
              <a:t>내 컨테이너 생성</a:t>
            </a:r>
            <a:endParaRPr lang="en-US" altLang="ko-KR" sz="1200"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>
                <a:latin typeface="Consolas" panose="020B0609020204030204" pitchFamily="49" charset="0"/>
              </a:rPr>
              <a:t>#POD </a:t>
            </a:r>
            <a:r>
              <a:rPr lang="ko-KR" altLang="en-US" sz="1200">
                <a:latin typeface="Consolas" panose="020B0609020204030204" pitchFamily="49" charset="0"/>
              </a:rPr>
              <a:t>생성</a:t>
            </a: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apply -f multi-container-pod.yaml</a:t>
            </a:r>
            <a:endParaRPr lang="en-US" altLang="ko-KR" sz="1200"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# POD </a:t>
            </a:r>
            <a:r>
              <a:rPr lang="ko-KR" altLang="en-US" sz="1200" b="0" i="0">
                <a:effectLst/>
                <a:latin typeface="Consolas" panose="020B0609020204030204" pitchFamily="49" charset="0"/>
              </a:rPr>
              <a:t>상태확인</a:t>
            </a: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>
                <a:latin typeface="Consolas" panose="020B0609020204030204" pitchFamily="49" charset="0"/>
              </a:rPr>
              <a:t>kubectl get pods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※ </a:t>
            </a:r>
            <a:r>
              <a:rPr lang="ko-KR" altLang="en-US" sz="1200" b="0" i="0">
                <a:effectLst/>
                <a:latin typeface="Consolas" panose="020B0609020204030204" pitchFamily="49" charset="0"/>
              </a:rPr>
              <a:t>테스트 해보기</a:t>
            </a: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r>
              <a:rPr lang="en-US" altLang="ko-KR" sz="1200"/>
              <a:t># 1. nginx</a:t>
            </a:r>
            <a:r>
              <a:rPr lang="ko-KR" altLang="en-US" sz="1200"/>
              <a:t>에 접속 요청 생성 </a:t>
            </a:r>
            <a:r>
              <a:rPr lang="en-US" altLang="ko-KR" sz="1200"/>
              <a:t>(</a:t>
            </a:r>
            <a:r>
              <a:rPr lang="ko-KR" altLang="en-US" sz="1200"/>
              <a:t>로그 발생</a:t>
            </a:r>
            <a:r>
              <a:rPr lang="en-US" altLang="ko-KR" sz="1200"/>
              <a:t>)</a:t>
            </a:r>
            <a:endParaRPr lang="ko-KR" altLang="en-US" sz="1200"/>
          </a:p>
          <a:p>
            <a:r>
              <a:rPr lang="en-US" altLang="ko-KR" sz="1200"/>
              <a:t>kubectl exec multi-container-pod -c main-app -- curl localhost</a:t>
            </a:r>
          </a:p>
          <a:p>
            <a:endParaRPr lang="en-US" altLang="ko-KR" sz="1200"/>
          </a:p>
          <a:p>
            <a:r>
              <a:rPr lang="en-US" altLang="ko-KR" sz="1200"/>
              <a:t># 2. </a:t>
            </a:r>
            <a:r>
              <a:rPr lang="ko-KR" altLang="en-US" sz="1200"/>
              <a:t>사이드카에서 로그 확인</a:t>
            </a:r>
          </a:p>
          <a:p>
            <a:r>
              <a:rPr lang="en-US" altLang="ko-KR" sz="1200"/>
              <a:t>kubectl logs multi-container-pod -c log-sidecar</a:t>
            </a:r>
          </a:p>
          <a:p>
            <a:endParaRPr lang="en-US" altLang="ko-KR" sz="1200"/>
          </a:p>
          <a:p>
            <a:r>
              <a:rPr lang="en-US" altLang="ko-KR" sz="1200"/>
              <a:t># 3. </a:t>
            </a:r>
            <a:r>
              <a:rPr lang="ko-KR" altLang="en-US" sz="1200"/>
              <a:t>파드 종료</a:t>
            </a:r>
          </a:p>
          <a:p>
            <a:r>
              <a:rPr lang="en-US" altLang="ko-KR" sz="1200"/>
              <a:t>kubectl delete -f multi-container-pod.yaml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697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B31AE-D127-AA04-EB07-E78453FE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Deployment </a:t>
            </a:r>
            <a:r>
              <a:rPr lang="ko-KR" altLang="en-US"/>
              <a:t>생성하기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5D0EB0-D963-F6E1-94ED-D329F052E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04" y="2020892"/>
            <a:ext cx="6168792" cy="4550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49AC4D-8D50-9FE3-2F82-314F36F55996}"/>
              </a:ext>
            </a:extLst>
          </p:cNvPr>
          <p:cNvSpPr txBox="1"/>
          <p:nvPr/>
        </p:nvSpPr>
        <p:spPr>
          <a:xfrm>
            <a:off x="693018" y="2845387"/>
            <a:ext cx="3744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Deployment</a:t>
            </a:r>
            <a:r>
              <a:rPr lang="ko-KR" altLang="en-US"/>
              <a:t>를 적용해야 하는 이유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86076-E4B2-77C6-698F-2D1021ED9F9D}"/>
              </a:ext>
            </a:extLst>
          </p:cNvPr>
          <p:cNvSpPr txBox="1"/>
          <p:nvPr/>
        </p:nvSpPr>
        <p:spPr>
          <a:xfrm>
            <a:off x="693018" y="3325962"/>
            <a:ext cx="6097604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자동 복구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Pod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가 죽으면 새로 만듦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스케일링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Pod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수를 쉽게 늘리고 줄임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롤링 업데이트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무중단으로 새 버전 배포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롤백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문제 시 이전 버전으로 복원</a:t>
            </a:r>
          </a:p>
        </p:txBody>
      </p:sp>
    </p:spTree>
    <p:extLst>
      <p:ext uri="{BB962C8B-B14F-4D97-AF65-F5344CB8AC3E}">
        <p14:creationId xmlns:p14="http://schemas.microsoft.com/office/powerpoint/2010/main" val="2719798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BE94E-8774-04E5-8B22-7E84D23F61D7}"/>
              </a:ext>
            </a:extLst>
          </p:cNvPr>
          <p:cNvSpPr txBox="1"/>
          <p:nvPr/>
        </p:nvSpPr>
        <p:spPr>
          <a:xfrm>
            <a:off x="190099" y="267651"/>
            <a:ext cx="6097604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apiVersion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apps/v1    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Pod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는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v1, Deployment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는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apps/v1</a:t>
            </a:r>
            <a:b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kind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Deployment</a:t>
            </a:r>
            <a:b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metadata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nginx-deployment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labels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app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spec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replicas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2AACB8"/>
                </a:solidFill>
                <a:effectLst/>
                <a:latin typeface="JetBrains Mono"/>
              </a:rPr>
              <a:t>3          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⭐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Pod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를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3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개 유지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selector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           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⭐ 관리할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Pod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를 찾는 조건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matchLabels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app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template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           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⭐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Pod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템플릿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(Pod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정의와 동일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)</a:t>
            </a:r>
            <a:b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metadata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labels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app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     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selector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와 일치해야 함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!</a:t>
            </a:r>
            <a:b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spec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containers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-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image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nginx:1.25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ports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-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containerPort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2AACB8"/>
                </a:solidFill>
                <a:effectLst/>
                <a:latin typeface="JetBrains Mono"/>
              </a:rPr>
              <a:t>80</a:t>
            </a:r>
            <a:br>
              <a:rPr lang="en-US" altLang="ko-KR" sz="11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2AACB8"/>
                </a:solidFill>
                <a:effectLst/>
                <a:latin typeface="JetBrains Mono"/>
              </a:rPr>
              <a:t>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resources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requests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memory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"64Mi"</a:t>
            </a:r>
            <a:b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  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cpu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"100m"</a:t>
            </a:r>
            <a:b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limits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memory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"128Mi"</a:t>
            </a:r>
            <a:b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      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cpu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"200m"</a:t>
            </a:r>
            <a:endParaRPr lang="en-US" altLang="ko-KR" sz="110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74382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C14E6-A3CA-3274-B62F-CD9951FD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EC5F23-0DD4-73C8-EB12-4449CB2CC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54" y="2449895"/>
            <a:ext cx="5668166" cy="514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A7346-A5FC-22B6-EC8E-5C7C7B7A575D}"/>
              </a:ext>
            </a:extLst>
          </p:cNvPr>
          <p:cNvSpPr txBox="1"/>
          <p:nvPr/>
        </p:nvSpPr>
        <p:spPr>
          <a:xfrm>
            <a:off x="1097280" y="1767657"/>
            <a:ext cx="6097604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Deployment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nginx-deployment.yaml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93F985-2CE6-6E78-FEFD-EC6D3112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674" y="1874102"/>
            <a:ext cx="4734586" cy="2534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AEBE70-303E-1A15-AA06-EE5B87189AD2}"/>
              </a:ext>
            </a:extLst>
          </p:cNvPr>
          <p:cNvSpPr txBox="1"/>
          <p:nvPr/>
        </p:nvSpPr>
        <p:spPr>
          <a:xfrm>
            <a:off x="1034175" y="3206316"/>
            <a:ext cx="6097604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Deployment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목록 확인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deployments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또는 줄여서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deploy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FE335B0-B4A4-8B24-01FD-334C004BA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33" y="4581051"/>
            <a:ext cx="543000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50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64FF3-951B-8330-B6E3-4F4FF04C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93F86-316F-D126-6308-A74AC9ACC263}"/>
              </a:ext>
            </a:extLst>
          </p:cNvPr>
          <p:cNvSpPr txBox="1"/>
          <p:nvPr/>
        </p:nvSpPr>
        <p:spPr>
          <a:xfrm>
            <a:off x="1097280" y="1868140"/>
            <a:ext cx="6097604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ReplicaSet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확인 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자동 생성됨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replicasets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또는 줄여서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rs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23DAA2-FDE7-A406-7705-1D377B82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29000"/>
            <a:ext cx="5506218" cy="6477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9FCA63-D4B0-9ABD-5E6B-6D5747E06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24" y="4476443"/>
            <a:ext cx="7354326" cy="1524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E02BD9-88BD-7429-71FC-2C6412E8A502}"/>
              </a:ext>
            </a:extLst>
          </p:cNvPr>
          <p:cNvSpPr txBox="1"/>
          <p:nvPr/>
        </p:nvSpPr>
        <p:spPr>
          <a:xfrm>
            <a:off x="5657249" y="1923485"/>
            <a:ext cx="6097604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Pod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확인 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(3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개 생성됨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pods -l </a:t>
            </a:r>
            <a:r>
              <a:rPr lang="en-US" altLang="ko-KR" b="0" i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nginx</a:t>
            </a:r>
          </a:p>
        </p:txBody>
      </p:sp>
    </p:spTree>
    <p:extLst>
      <p:ext uri="{BB962C8B-B14F-4D97-AF65-F5344CB8AC3E}">
        <p14:creationId xmlns:p14="http://schemas.microsoft.com/office/powerpoint/2010/main" val="222968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1C6AE-C982-8715-085B-EFD0199A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06194-31A5-AD2A-DDE7-A551F3C6AAD8}"/>
              </a:ext>
            </a:extLst>
          </p:cNvPr>
          <p:cNvSpPr txBox="1"/>
          <p:nvPr/>
        </p:nvSpPr>
        <p:spPr>
          <a:xfrm>
            <a:off x="382604" y="2022274"/>
            <a:ext cx="6097604" cy="172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Pod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하나 삭제해보기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delete pod 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pod-name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바로 확인 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새 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Pod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가 생성됨</a:t>
            </a: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pods -l </a:t>
            </a:r>
            <a:r>
              <a:rPr lang="en-US" altLang="ko-KR" b="0" i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nginx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1C2F7D-321E-C7F6-E35C-93D1656F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900" y="2094463"/>
            <a:ext cx="3846700" cy="19337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20C9EE-D07B-AF53-EA8A-DA69164320A7}"/>
              </a:ext>
            </a:extLst>
          </p:cNvPr>
          <p:cNvSpPr txBox="1"/>
          <p:nvPr/>
        </p:nvSpPr>
        <p:spPr>
          <a:xfrm>
            <a:off x="382604" y="4462636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Consolas" panose="020B0609020204030204" pitchFamily="49" charset="0"/>
              </a:rPr>
              <a:t>kubectl delete pod </a:t>
            </a:r>
            <a:r>
              <a:rPr lang="en-US" altLang="ko-KR" sz="1400" b="0" i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nginx-deployment-7c9dddfb48-kccrf</a:t>
            </a:r>
            <a:endParaRPr lang="ko-KR" altLang="en-US" sz="14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7A199AC-1281-B54C-01AE-EABA4FD72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90" y="4882203"/>
            <a:ext cx="5530825" cy="74438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00CD7755-DE0D-2575-1909-35C06F6C3E82}"/>
              </a:ext>
            </a:extLst>
          </p:cNvPr>
          <p:cNvGrpSpPr/>
          <p:nvPr/>
        </p:nvGrpSpPr>
        <p:grpSpPr>
          <a:xfrm>
            <a:off x="6432082" y="4307982"/>
            <a:ext cx="3846700" cy="1892821"/>
            <a:chOff x="6432082" y="4307982"/>
            <a:chExt cx="3846700" cy="189282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5C521E8-C33A-2A44-E03E-CFB875535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2082" y="4307982"/>
              <a:ext cx="3846700" cy="1892821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7DAA9A7-C822-5F24-7785-1FD3402BBF49}"/>
                </a:ext>
              </a:extLst>
            </p:cNvPr>
            <p:cNvSpPr/>
            <p:nvPr/>
          </p:nvSpPr>
          <p:spPr>
            <a:xfrm>
              <a:off x="6631806" y="5832909"/>
              <a:ext cx="3320716" cy="3561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76BA04-4BF7-3CA4-7B37-63BBA6AAFF3C}"/>
              </a:ext>
            </a:extLst>
          </p:cNvPr>
          <p:cNvSpPr/>
          <p:nvPr/>
        </p:nvSpPr>
        <p:spPr>
          <a:xfrm>
            <a:off x="4645892" y="2885297"/>
            <a:ext cx="3320716" cy="3561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678B5AE-30F6-A28C-A0C2-58736FBF5377}"/>
              </a:ext>
            </a:extLst>
          </p:cNvPr>
          <p:cNvCxnSpPr>
            <a:endCxn id="13" idx="0"/>
          </p:cNvCxnSpPr>
          <p:nvPr/>
        </p:nvCxnSpPr>
        <p:spPr>
          <a:xfrm>
            <a:off x="6306250" y="3262964"/>
            <a:ext cx="1985914" cy="2569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EB708F-7034-844C-FA18-B0CA9D1AEEAB}"/>
              </a:ext>
            </a:extLst>
          </p:cNvPr>
          <p:cNvSpPr txBox="1"/>
          <p:nvPr/>
        </p:nvSpPr>
        <p:spPr>
          <a:xfrm>
            <a:off x="7295949" y="3946358"/>
            <a:ext cx="376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죽였지만 새로 생성됨</a:t>
            </a:r>
          </a:p>
        </p:txBody>
      </p:sp>
    </p:spTree>
    <p:extLst>
      <p:ext uri="{BB962C8B-B14F-4D97-AF65-F5344CB8AC3E}">
        <p14:creationId xmlns:p14="http://schemas.microsoft.com/office/powerpoint/2010/main" val="4191533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CDEFC-2A1B-02F6-9809-DE24448A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스케일링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EB839-102D-5015-A5E7-68367D8B0E2B}"/>
              </a:ext>
            </a:extLst>
          </p:cNvPr>
          <p:cNvSpPr txBox="1"/>
          <p:nvPr/>
        </p:nvSpPr>
        <p:spPr>
          <a:xfrm>
            <a:off x="1097280" y="1977043"/>
            <a:ext cx="992364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스케일링이란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?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트래픽이 늘어나면 서버를 더 투입하고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줄어들면 서버를 줄이는 것을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스케일링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이라고 합니다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427F2B-B388-7389-CC50-E8B044A6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47841"/>
            <a:ext cx="5734850" cy="1562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ED3FB4-5C3C-7ABB-F11B-86AD976EC039}"/>
              </a:ext>
            </a:extLst>
          </p:cNvPr>
          <p:cNvSpPr txBox="1"/>
          <p:nvPr/>
        </p:nvSpPr>
        <p:spPr>
          <a:xfrm>
            <a:off x="1316253" y="4237191"/>
            <a:ext cx="9839427" cy="90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200" b="0" i="0">
                <a:effectLst/>
                <a:latin typeface="Consolas" panose="020B0609020204030204" pitchFamily="49" charset="0"/>
              </a:rPr>
              <a:t>명령형 스케일 업 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: kubectl scale deployment nginx-deployment --replicas</a:t>
            </a:r>
            <a:r>
              <a:rPr lang="en-US" altLang="ko-KR" sz="12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>
                <a:solidFill>
                  <a:srgbClr val="990055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ko-KR" altLang="en-US" sz="1200" b="0" i="0">
                <a:solidFill>
                  <a:srgbClr val="990055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카프카랑은 다르게 줄일수 있음</a:t>
            </a:r>
            <a:br>
              <a:rPr lang="en-US" altLang="ko-KR" sz="12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DFC588-046A-C7B3-1A52-584AA865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613" y="2727299"/>
            <a:ext cx="3263701" cy="1813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5F3DC1-ACC3-7862-7A93-750A9B2ED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53" y="4639129"/>
            <a:ext cx="2910876" cy="216184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567587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2FDF0-3B91-19E1-2E33-700444D1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스케일링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80F74-A31D-4D3D-DE6B-719037B535C7}"/>
              </a:ext>
            </a:extLst>
          </p:cNvPr>
          <p:cNvSpPr txBox="1"/>
          <p:nvPr/>
        </p:nvSpPr>
        <p:spPr>
          <a:xfrm>
            <a:off x="1097280" y="1977043"/>
            <a:ext cx="992364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선언형 스케일링 방법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EB8CCF-CA81-538F-059D-AB70C2E737C5}"/>
              </a:ext>
            </a:extLst>
          </p:cNvPr>
          <p:cNvGrpSpPr/>
          <p:nvPr/>
        </p:nvGrpSpPr>
        <p:grpSpPr>
          <a:xfrm>
            <a:off x="1171074" y="2313032"/>
            <a:ext cx="4180572" cy="4373759"/>
            <a:chOff x="1171074" y="2313032"/>
            <a:chExt cx="4180572" cy="437375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AB3010D-3A7C-A072-662D-39E68CEE1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1074" y="2313032"/>
              <a:ext cx="4180572" cy="437375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DF19C8-C568-6BB9-DCDC-514472729E2B}"/>
                </a:ext>
              </a:extLst>
            </p:cNvPr>
            <p:cNvSpPr/>
            <p:nvPr/>
          </p:nvSpPr>
          <p:spPr>
            <a:xfrm>
              <a:off x="1790299" y="3022333"/>
              <a:ext cx="770021" cy="2502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2C44051-9859-67A5-489D-05332798E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234" y="2375870"/>
            <a:ext cx="5496692" cy="2953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5FB956-CFBE-32D7-0E1F-837C382C1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125" y="2815940"/>
            <a:ext cx="4251520" cy="283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35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9CDF73-8E8B-A52D-AA43-AF350ABB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504599"/>
            <a:ext cx="8658764" cy="604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48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32E7B6-FDAE-A888-86CA-CB06DAA4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5" y="376151"/>
            <a:ext cx="8287907" cy="339137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5EDA4E-085E-61C7-FD83-A5594BD224FB}"/>
              </a:ext>
            </a:extLst>
          </p:cNvPr>
          <p:cNvSpPr/>
          <p:nvPr/>
        </p:nvSpPr>
        <p:spPr>
          <a:xfrm>
            <a:off x="625642" y="3429000"/>
            <a:ext cx="7931217" cy="247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79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063B3-8BA6-EA56-C5AD-B5931539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롤링 업데이트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129D22-F0D6-F08A-78D8-65DD8CC7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19" y="1924884"/>
            <a:ext cx="6472349" cy="43992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A3159A-0748-F082-E526-4F5894DB5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779" y="2559814"/>
            <a:ext cx="5761221" cy="18774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A0C73E-CF66-E597-A910-1BF95939BF76}"/>
              </a:ext>
            </a:extLst>
          </p:cNvPr>
          <p:cNvSpPr txBox="1"/>
          <p:nvPr/>
        </p:nvSpPr>
        <p:spPr>
          <a:xfrm>
            <a:off x="7346081" y="4313835"/>
            <a:ext cx="4574406" cy="202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sz="1050" b="1" i="0">
                <a:solidFill>
                  <a:srgbClr val="222222"/>
                </a:solidFill>
                <a:effectLst/>
                <a:latin typeface="Pretendard Variable"/>
              </a:rPr>
              <a:t>롤링 업데이트의 장점</a:t>
            </a:r>
            <a:r>
              <a:rPr lang="en-US" altLang="ko-KR" sz="1050" b="1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  <a:endParaRPr lang="ko-KR" altLang="en-US" sz="1050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050" b="1" i="0">
                <a:solidFill>
                  <a:srgbClr val="222222"/>
                </a:solidFill>
                <a:effectLst/>
                <a:latin typeface="Pretendard Variable"/>
              </a:rPr>
              <a:t>무중단 배포</a:t>
            </a:r>
            <a:r>
              <a:rPr lang="en-US" altLang="ko-KR" sz="1050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sz="1050" b="0" i="0">
                <a:solidFill>
                  <a:srgbClr val="222222"/>
                </a:solidFill>
                <a:effectLst/>
                <a:latin typeface="Pretendard Variable"/>
              </a:rPr>
              <a:t>항상 일부 </a:t>
            </a:r>
            <a:r>
              <a:rPr lang="en-US" altLang="ko-KR" sz="1050" b="0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sz="1050" b="0" i="0">
                <a:solidFill>
                  <a:srgbClr val="222222"/>
                </a:solidFill>
                <a:effectLst/>
                <a:latin typeface="Pretendard Variable"/>
              </a:rPr>
              <a:t>가 서비스 중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050" b="1" i="0">
                <a:solidFill>
                  <a:srgbClr val="222222"/>
                </a:solidFill>
                <a:effectLst/>
                <a:latin typeface="Pretendard Variable"/>
              </a:rPr>
              <a:t>안전한 배포</a:t>
            </a:r>
            <a:r>
              <a:rPr lang="en-US" altLang="ko-KR" sz="1050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sz="1050" b="0" i="0">
                <a:solidFill>
                  <a:srgbClr val="222222"/>
                </a:solidFill>
                <a:effectLst/>
                <a:latin typeface="Pretendard Variable"/>
              </a:rPr>
              <a:t>문제 발생 시 롤백 가능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050" b="1" i="0">
                <a:solidFill>
                  <a:srgbClr val="222222"/>
                </a:solidFill>
                <a:effectLst/>
                <a:latin typeface="Pretendard Variable"/>
              </a:rPr>
              <a:t>점진적 검증</a:t>
            </a:r>
            <a:r>
              <a:rPr lang="en-US" altLang="ko-KR" sz="1050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sz="1050" b="0" i="0">
                <a:solidFill>
                  <a:srgbClr val="222222"/>
                </a:solidFill>
                <a:effectLst/>
                <a:latin typeface="Pretendard Variable"/>
              </a:rPr>
              <a:t>새 버전이 안정적인지 확인하면서 배포</a:t>
            </a:r>
          </a:p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sz="1050" b="1" i="0">
                <a:solidFill>
                  <a:srgbClr val="222222"/>
                </a:solidFill>
                <a:effectLst/>
                <a:latin typeface="Pretendard Variable"/>
              </a:rPr>
              <a:t>준비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D3360-82DA-866C-9C0D-070D55558A1B}"/>
              </a:ext>
            </a:extLst>
          </p:cNvPr>
          <p:cNvSpPr txBox="1"/>
          <p:nvPr/>
        </p:nvSpPr>
        <p:spPr>
          <a:xfrm>
            <a:off x="6304547" y="1819175"/>
            <a:ext cx="465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쿠버네티스가 자동으로 지원해줌</a:t>
            </a:r>
          </a:p>
        </p:txBody>
      </p:sp>
    </p:spTree>
    <p:extLst>
      <p:ext uri="{BB962C8B-B14F-4D97-AF65-F5344CB8AC3E}">
        <p14:creationId xmlns:p14="http://schemas.microsoft.com/office/powerpoint/2010/main" val="2268794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ABCA4-E070-050D-7103-D1E259282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9" y="369043"/>
            <a:ext cx="2391109" cy="10955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B0C38C-3952-7126-97D8-BE0CE3BCE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127" y="264253"/>
            <a:ext cx="5877745" cy="1305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436A90-70D5-E5C8-A896-D8655E6B2762}"/>
              </a:ext>
            </a:extLst>
          </p:cNvPr>
          <p:cNvSpPr txBox="1"/>
          <p:nvPr/>
        </p:nvSpPr>
        <p:spPr>
          <a:xfrm>
            <a:off x="3157127" y="1707419"/>
            <a:ext cx="8460566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</a:t>
            </a:r>
            <a:r>
              <a:rPr lang="en-US" altLang="ko-KR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 image deployment/nginx-deployment </a:t>
            </a:r>
            <a:r>
              <a:rPr lang="en-US" altLang="ko-KR" b="0" i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nginx:1.26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9C20FF-999C-257D-8FEB-998EF5765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29" y="2465130"/>
            <a:ext cx="4906060" cy="34485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DEF8E0-2978-46AB-2C35-DC11CFF4D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957" y="2465130"/>
            <a:ext cx="5058481" cy="291505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625F12-497A-DF5F-8623-E64E3ED7B3DB}"/>
              </a:ext>
            </a:extLst>
          </p:cNvPr>
          <p:cNvSpPr/>
          <p:nvPr/>
        </p:nvSpPr>
        <p:spPr>
          <a:xfrm>
            <a:off x="1658753" y="2666198"/>
            <a:ext cx="2431984" cy="762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순차적으로 변경중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059E1C-E9AA-B44D-1A76-9C8ABAAC7159}"/>
              </a:ext>
            </a:extLst>
          </p:cNvPr>
          <p:cNvSpPr/>
          <p:nvPr/>
        </p:nvSpPr>
        <p:spPr>
          <a:xfrm>
            <a:off x="7682563" y="2465130"/>
            <a:ext cx="2431984" cy="762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변경완료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9077B-722A-8622-3806-B2C6EFB7132D}"/>
              </a:ext>
            </a:extLst>
          </p:cNvPr>
          <p:cNvSpPr txBox="1"/>
          <p:nvPr/>
        </p:nvSpPr>
        <p:spPr>
          <a:xfrm>
            <a:off x="5849753" y="5380187"/>
            <a:ext cx="6097604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변경도중 확인</a:t>
            </a:r>
            <a:endParaRPr lang="en-US" altLang="ko-KR" b="0" i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ReplicaSet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확인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get rs</a:t>
            </a:r>
          </a:p>
        </p:txBody>
      </p:sp>
    </p:spTree>
    <p:extLst>
      <p:ext uri="{BB962C8B-B14F-4D97-AF65-F5344CB8AC3E}">
        <p14:creationId xmlns:p14="http://schemas.microsoft.com/office/powerpoint/2010/main" val="3009177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AD07E4-6FBD-FF97-AC92-F90EF7B5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89" y="330583"/>
            <a:ext cx="9030960" cy="4810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1964E6-6D2E-8AC3-C9E3-07DD30D965E9}"/>
              </a:ext>
            </a:extLst>
          </p:cNvPr>
          <p:cNvSpPr txBox="1"/>
          <p:nvPr/>
        </p:nvSpPr>
        <p:spPr>
          <a:xfrm>
            <a:off x="498108" y="5141379"/>
            <a:ext cx="10532444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buNone/>
            </a:pPr>
            <a:r>
              <a:rPr lang="en-US" altLang="ko-KR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kubectl annotate deployment/nginx-deployment kubernetes.io/change-cause</a:t>
            </a:r>
            <a:r>
              <a:rPr lang="en-US" altLang="ko-KR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"Update to nginx 1.26"</a:t>
            </a:r>
            <a:endParaRPr lang="en-US" altLang="ko-KR" b="0" i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286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930E63-D129-2C05-4B6A-355D40613187}"/>
              </a:ext>
            </a:extLst>
          </p:cNvPr>
          <p:cNvSpPr txBox="1"/>
          <p:nvPr/>
        </p:nvSpPr>
        <p:spPr>
          <a:xfrm>
            <a:off x="421105" y="465876"/>
            <a:ext cx="7606364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2: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롤백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(Rollback)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새 버전에 문제가 있다면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?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롤백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으로 이전 버전으로 돌아갈 수 있습니다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  <a:p>
            <a:r>
              <a:rPr lang="en-US" altLang="ko-KR"/>
              <a:t>rollout undo: </a:t>
            </a:r>
            <a:r>
              <a:rPr lang="ko-KR" altLang="en-US"/>
              <a:t>이전 리비전으로 복원</a:t>
            </a:r>
          </a:p>
          <a:p>
            <a:r>
              <a:rPr lang="ko-KR" altLang="en-US"/>
              <a:t>이전 </a:t>
            </a:r>
            <a:r>
              <a:rPr lang="en-US" altLang="ko-KR"/>
              <a:t>ReplicaSet</a:t>
            </a:r>
            <a:r>
              <a:rPr lang="ko-KR" altLang="en-US"/>
              <a:t>을 다시 활성화</a:t>
            </a:r>
            <a:endParaRPr lang="en-US" altLang="ko-KR" b="0" i="0">
              <a:solidFill>
                <a:srgbClr val="222222"/>
              </a:solidFill>
              <a:effectLst/>
              <a:latin typeface="Pretendard Variable"/>
            </a:endParaRPr>
          </a:p>
          <a:p>
            <a:pPr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</a:pPr>
            <a:r>
              <a:rPr lang="en-US" altLang="ko-KR"/>
              <a:t>kubectl rollout undo deployment/nginx-deployment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endParaRPr lang="en-US" altLang="ko-KR" b="0" i="0">
              <a:solidFill>
                <a:srgbClr val="222222"/>
              </a:solidFill>
              <a:effectLst/>
              <a:latin typeface="Pretendard Variable"/>
            </a:endParaRPr>
          </a:p>
          <a:p>
            <a:r>
              <a:rPr lang="en-US" altLang="ko-KR"/>
              <a:t># </a:t>
            </a:r>
            <a:r>
              <a:rPr lang="ko-KR" altLang="en-US"/>
              <a:t>특정 리비전으로 롤백</a:t>
            </a:r>
          </a:p>
          <a:p>
            <a:r>
              <a:rPr lang="en-US" altLang="ko-KR"/>
              <a:t>kubectl rollout undo deployment/nginx-deployment --to-revision=2</a:t>
            </a:r>
          </a:p>
          <a:p>
            <a:pPr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</a:pPr>
            <a:r>
              <a:rPr lang="en-US" altLang="ko-KR"/>
              <a:t>kubectl rollout history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/>
              <a:t>비전 번호 확인 가능</a:t>
            </a:r>
            <a:endParaRPr lang="en-US" altLang="ko-KR" b="0" i="0">
              <a:solidFill>
                <a:srgbClr val="222222"/>
              </a:solidFill>
              <a:effectLst/>
              <a:latin typeface="Pretendard Variable"/>
            </a:endParaRPr>
          </a:p>
        </p:txBody>
      </p:sp>
    </p:spTree>
    <p:extLst>
      <p:ext uri="{BB962C8B-B14F-4D97-AF65-F5344CB8AC3E}">
        <p14:creationId xmlns:p14="http://schemas.microsoft.com/office/powerpoint/2010/main" val="1852488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B57473-95AF-522B-6E20-BEF68E446858}"/>
              </a:ext>
            </a:extLst>
          </p:cNvPr>
          <p:cNvSpPr txBox="1"/>
          <p:nvPr/>
        </p:nvSpPr>
        <p:spPr>
          <a:xfrm>
            <a:off x="267101" y="331123"/>
            <a:ext cx="6097604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롤링 업데이트 전략 설정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YAML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에서 롤링 업데이트 동작을 세밀하게 조정할 수 있습니다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D397A-F40E-ACEB-F45C-51E792920BCC}"/>
              </a:ext>
            </a:extLst>
          </p:cNvPr>
          <p:cNvSpPr txBox="1"/>
          <p:nvPr/>
        </p:nvSpPr>
        <p:spPr>
          <a:xfrm>
            <a:off x="613611" y="1384113"/>
            <a:ext cx="8491888" cy="357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spec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 RollingUpdate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rollingUpdate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    </a:t>
            </a: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maxSurge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동시에 추가로 만들 수 있는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Pod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수</a:t>
            </a:r>
            <a:endParaRPr lang="ko-KR" altLang="en-US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400" b="0" i="0">
                <a:effectLst/>
                <a:latin typeface="Consolas" panose="020B0609020204030204" pitchFamily="49" charset="0"/>
              </a:rPr>
              <a:t>      </a:t>
            </a:r>
            <a:r>
              <a:rPr lang="en-US" altLang="ko-KR" sz="140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maxUnavailable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동시에 중단될 수 있는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Pod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수</a:t>
            </a:r>
            <a:endParaRPr lang="en-US" altLang="ko-KR" sz="1400" b="0" i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40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ko-KR" altLang="en-US"/>
              <a:t>💡 </a:t>
            </a:r>
            <a:r>
              <a:rPr lang="ko-KR" altLang="en-US" b="1"/>
              <a:t>전략 선택 가이드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 b="1"/>
              <a:t>무중단 중요</a:t>
            </a:r>
            <a:r>
              <a:rPr lang="en-US" altLang="ko-KR"/>
              <a:t>: maxUnavailable: 0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항상 모든 </a:t>
            </a:r>
            <a:r>
              <a:rPr lang="en-US" altLang="ko-KR"/>
              <a:t>Pod </a:t>
            </a:r>
            <a:r>
              <a:rPr lang="ko-KR" altLang="en-US"/>
              <a:t>유지</a:t>
            </a:r>
            <a:r>
              <a:rPr lang="en-US" altLang="ko-KR"/>
              <a:t>)</a:t>
            </a:r>
          </a:p>
          <a:p>
            <a:r>
              <a:rPr lang="ko-KR" altLang="en-US" b="1"/>
              <a:t>빠른 배포 중요</a:t>
            </a:r>
            <a:r>
              <a:rPr lang="en-US" altLang="ko-KR"/>
              <a:t>: maxSurge: 2, maxUnavailable: 1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여러 개 동시 교체</a:t>
            </a:r>
            <a:r>
              <a:rPr lang="en-US" altLang="ko-KR"/>
              <a:t>)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ko-KR" altLang="en-US" sz="1400" b="0" i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637BE-F221-78EE-89C7-08B82FEB804D}"/>
              </a:ext>
            </a:extLst>
          </p:cNvPr>
          <p:cNvSpPr txBox="1"/>
          <p:nvPr/>
        </p:nvSpPr>
        <p:spPr>
          <a:xfrm>
            <a:off x="7931215" y="486604"/>
            <a:ext cx="3087303" cy="5033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핵심 개념</a:t>
            </a:r>
          </a:p>
          <a:p>
            <a:pPr algn="l">
              <a:lnSpc>
                <a:spcPts val="1350"/>
              </a:lnSpc>
              <a:spcBef>
                <a:spcPts val="750"/>
              </a:spcBef>
              <a:spcAft>
                <a:spcPts val="150"/>
              </a:spcAft>
              <a:buNone/>
            </a:pP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롤링 업데이트 </a:t>
            </a:r>
            <a:r>
              <a:rPr lang="en-US" altLang="ko-KR" sz="1200" b="1" i="0">
                <a:solidFill>
                  <a:srgbClr val="222222"/>
                </a:solidFill>
                <a:effectLst/>
                <a:latin typeface="Pretendard Variable"/>
              </a:rPr>
              <a:t>(Rolling Update)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서비스 </a:t>
            </a: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중단 없이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 점진적으로 새 버전 배포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기본 </a:t>
            </a:r>
            <a:r>
              <a:rPr lang="en-US" altLang="ko-KR" sz="1200" b="0" i="0">
                <a:solidFill>
                  <a:srgbClr val="222222"/>
                </a:solidFill>
                <a:effectLst/>
                <a:latin typeface="Pretendard Variable"/>
              </a:rPr>
              <a:t>Deployment 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전략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200" b="0" i="0">
                <a:solidFill>
                  <a:srgbClr val="222222"/>
                </a:solidFill>
                <a:effectLst/>
                <a:latin typeface="Pretendard Variable"/>
              </a:rPr>
              <a:t>ReplicaSet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을 새로 만들고 점진적으로 전환</a:t>
            </a:r>
          </a:p>
          <a:p>
            <a:pPr algn="l">
              <a:lnSpc>
                <a:spcPts val="1350"/>
              </a:lnSpc>
              <a:spcBef>
                <a:spcPts val="750"/>
              </a:spcBef>
              <a:spcAft>
                <a:spcPts val="150"/>
              </a:spcAft>
              <a:buNone/>
            </a:pP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롤백 </a:t>
            </a:r>
            <a:r>
              <a:rPr lang="en-US" altLang="ko-KR" sz="1200" b="1" i="0">
                <a:solidFill>
                  <a:srgbClr val="222222"/>
                </a:solidFill>
                <a:effectLst/>
                <a:latin typeface="Pretendard Variable"/>
              </a:rPr>
              <a:t>(Rollback)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문제 발생 시 </a:t>
            </a: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이전 버전으로 복원</a:t>
            </a:r>
            <a:endParaRPr lang="ko-KR" altLang="en-US" sz="1200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이전 </a:t>
            </a:r>
            <a:r>
              <a:rPr lang="en-US" altLang="ko-KR" sz="1200" b="0" i="0">
                <a:solidFill>
                  <a:srgbClr val="222222"/>
                </a:solidFill>
                <a:effectLst/>
                <a:latin typeface="Pretendard Variable"/>
              </a:rPr>
              <a:t>ReplicaSet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이 보관되어 있어 빠르게 롤백 가능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200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kubectl rollout undo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로 간단히 실행</a:t>
            </a:r>
          </a:p>
          <a:p>
            <a:pPr algn="l">
              <a:lnSpc>
                <a:spcPts val="1350"/>
              </a:lnSpc>
              <a:spcBef>
                <a:spcPts val="750"/>
              </a:spcBef>
              <a:spcAft>
                <a:spcPts val="150"/>
              </a:spcAft>
              <a:buNone/>
            </a:pP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리비전 </a:t>
            </a:r>
            <a:r>
              <a:rPr lang="en-US" altLang="ko-KR" sz="1200" b="1" i="0">
                <a:solidFill>
                  <a:srgbClr val="222222"/>
                </a:solidFill>
                <a:effectLst/>
                <a:latin typeface="Pretendard Variable"/>
              </a:rPr>
              <a:t>(Revision)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각 업데이트의 </a:t>
            </a:r>
            <a:r>
              <a:rPr lang="ko-KR" altLang="en-US" sz="1200" b="1" i="0">
                <a:solidFill>
                  <a:srgbClr val="222222"/>
                </a:solidFill>
                <a:effectLst/>
                <a:latin typeface="Pretendard Variable"/>
              </a:rPr>
              <a:t>버전 번호</a:t>
            </a:r>
            <a:endParaRPr lang="ko-KR" altLang="en-US" sz="1200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200" b="0" i="0">
                <a:solidFill>
                  <a:srgbClr val="222222"/>
                </a:solidFill>
                <a:effectLst/>
                <a:latin typeface="Pretendard Variable"/>
              </a:rPr>
              <a:t>ReplicaSet </a:t>
            </a: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단위로 관리됨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222222"/>
                </a:solidFill>
                <a:effectLst/>
                <a:latin typeface="Pretendard Variable"/>
              </a:rPr>
              <a:t>특정 리비전으로 롤백 가능</a:t>
            </a:r>
          </a:p>
        </p:txBody>
      </p:sp>
    </p:spTree>
    <p:extLst>
      <p:ext uri="{BB962C8B-B14F-4D97-AF65-F5344CB8AC3E}">
        <p14:creationId xmlns:p14="http://schemas.microsoft.com/office/powerpoint/2010/main" val="1945169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140A9-C1D6-E992-FF56-9300CE115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ClusterIP Service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91D893-937E-3FBB-407B-E0A567F35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11" y="1814362"/>
            <a:ext cx="4739347" cy="4611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11D7AF-0599-02CB-3790-046D48D3DB6E}"/>
              </a:ext>
            </a:extLst>
          </p:cNvPr>
          <p:cNvSpPr txBox="1"/>
          <p:nvPr/>
        </p:nvSpPr>
        <p:spPr>
          <a:xfrm>
            <a:off x="5406991" y="1814362"/>
            <a:ext cx="6097604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Service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의 역할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  <a:endParaRPr lang="ko-KR" altLang="en-US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고정된 접점 제공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Pod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가 바뀌어도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Service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이름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/IP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는 유지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로드 밸런싱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여러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에 트래픽 분산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서비스 디스커버리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이름으로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를 찾을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634128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597C83-393C-2EE6-11C8-4F28A8A31D73}"/>
              </a:ext>
            </a:extLst>
          </p:cNvPr>
          <p:cNvSpPr txBox="1"/>
          <p:nvPr/>
        </p:nvSpPr>
        <p:spPr>
          <a:xfrm>
            <a:off x="575110" y="587589"/>
            <a:ext cx="11023332" cy="4644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nginx-deployment.yaml</a:t>
            </a:r>
          </a:p>
          <a:p>
            <a:pPr>
              <a:lnSpc>
                <a:spcPts val="1920"/>
              </a:lnSpc>
              <a:spcBef>
                <a:spcPts val="150"/>
              </a:spcBef>
            </a:pPr>
            <a:r>
              <a:rPr lang="en-US" altLang="ko-KR"/>
              <a:t>kubectl apply -f nginx-service-clusterip.yaml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buNone/>
            </a:pPr>
            <a:endParaRPr lang="en-US" altLang="ko-KR" b="0" i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buNone/>
            </a:pPr>
            <a:endParaRPr lang="en-US" altLang="ko-KR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pPr>
              <a:lnSpc>
                <a:spcPts val="1920"/>
              </a:lnSpc>
              <a:spcBef>
                <a:spcPts val="150"/>
              </a:spcBef>
            </a:pPr>
            <a:r>
              <a:rPr lang="en-US" altLang="ko-KR"/>
              <a:t>kubectl get services (= kubectl get svc)</a:t>
            </a:r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>
              <a:lnSpc>
                <a:spcPts val="1920"/>
              </a:lnSpc>
              <a:spcBef>
                <a:spcPts val="150"/>
              </a:spcBef>
            </a:pPr>
            <a:endParaRPr lang="en-US" altLang="ko-KR"/>
          </a:p>
          <a:p>
            <a:pPr algn="l">
              <a:lnSpc>
                <a:spcPts val="1920"/>
              </a:lnSpc>
              <a:spcBef>
                <a:spcPts val="150"/>
              </a:spcBef>
              <a:buNone/>
            </a:pPr>
            <a:endParaRPr lang="en-US" altLang="ko-KR" b="0" i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9AE64E-DF19-BBDF-2F1B-E8AB7A25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58" y="1925041"/>
            <a:ext cx="672558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13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069ED-60EE-E09F-505B-3813FDA67EE4}"/>
              </a:ext>
            </a:extLst>
          </p:cNvPr>
          <p:cNvSpPr txBox="1"/>
          <p:nvPr/>
        </p:nvSpPr>
        <p:spPr>
          <a:xfrm>
            <a:off x="305602" y="374666"/>
            <a:ext cx="10243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kubectl run curl-test --image=curlimages/curl -it --rm --restart=Never -- curl nginx-service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컬 테스트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31DE2-2410-4C1D-AEB8-34EDF11AE80E}"/>
              </a:ext>
            </a:extLst>
          </p:cNvPr>
          <p:cNvSpPr txBox="1"/>
          <p:nvPr/>
        </p:nvSpPr>
        <p:spPr>
          <a:xfrm>
            <a:off x="488482" y="743998"/>
            <a:ext cx="60976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Curl </a:t>
            </a:r>
            <a:r>
              <a:rPr lang="ko-KR" altLang="en-US" sz="1200"/>
              <a:t>명령어로 </a:t>
            </a:r>
            <a:r>
              <a:rPr lang="en-US" altLang="ko-KR" sz="1200"/>
              <a:t>nginx </a:t>
            </a:r>
            <a:r>
              <a:rPr lang="ko-KR" altLang="en-US" sz="1200"/>
              <a:t>서비스를 요청해봄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Welcom to nginx</a:t>
            </a:r>
            <a:r>
              <a:rPr lang="ko-KR" altLang="en-US" sz="1200"/>
              <a:t>는 앱없이 </a:t>
            </a:r>
            <a:r>
              <a:rPr lang="en-US" altLang="ko-KR" sz="1200"/>
              <a:t>nginx </a:t>
            </a:r>
            <a:r>
              <a:rPr lang="ko-KR" altLang="en-US" sz="1200"/>
              <a:t>띄웠을때</a:t>
            </a:r>
            <a:r>
              <a:rPr lang="en-US" altLang="ko-KR" sz="1200"/>
              <a:t>, </a:t>
            </a:r>
            <a:r>
              <a:rPr lang="ko-KR" altLang="en-US" sz="1200"/>
              <a:t>많이 봤던 화면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&lt;!DOCTYPE html&gt;</a:t>
            </a:r>
          </a:p>
          <a:p>
            <a:r>
              <a:rPr lang="ko-KR" altLang="en-US" sz="1200"/>
              <a:t>&lt;html&gt;</a:t>
            </a:r>
          </a:p>
          <a:p>
            <a:r>
              <a:rPr lang="ko-KR" altLang="en-US" sz="1200"/>
              <a:t>&lt;head&gt;</a:t>
            </a:r>
          </a:p>
          <a:p>
            <a:r>
              <a:rPr lang="ko-KR" altLang="en-US" sz="1200"/>
              <a:t>&lt;title&gt;Welcome to nginx!&lt;/title&gt;</a:t>
            </a:r>
          </a:p>
          <a:p>
            <a:r>
              <a:rPr lang="ko-KR" altLang="en-US" sz="1200"/>
              <a:t>&lt;style&gt;</a:t>
            </a:r>
          </a:p>
          <a:p>
            <a:r>
              <a:rPr lang="ko-KR" altLang="en-US" sz="1200"/>
              <a:t>html { color-scheme: light dark; }</a:t>
            </a:r>
          </a:p>
          <a:p>
            <a:r>
              <a:rPr lang="ko-KR" altLang="en-US" sz="1200"/>
              <a:t>body { width: 35em; margin: 0 auto;</a:t>
            </a:r>
          </a:p>
          <a:p>
            <a:r>
              <a:rPr lang="ko-KR" altLang="en-US" sz="1200"/>
              <a:t>font-family: Tahoma, Verdana, Arial, sans-serif; }</a:t>
            </a:r>
          </a:p>
          <a:p>
            <a:r>
              <a:rPr lang="ko-KR" altLang="en-US" sz="1200"/>
              <a:t>&lt;/style&gt;</a:t>
            </a:r>
          </a:p>
          <a:p>
            <a:r>
              <a:rPr lang="ko-KR" altLang="en-US" sz="1200"/>
              <a:t>&lt;/head&gt;</a:t>
            </a:r>
          </a:p>
          <a:p>
            <a:r>
              <a:rPr lang="ko-KR" altLang="en-US" sz="1200"/>
              <a:t>&lt;body&gt;</a:t>
            </a:r>
          </a:p>
          <a:p>
            <a:r>
              <a:rPr lang="ko-KR" altLang="en-US" sz="1200"/>
              <a:t>&lt;h1&gt;Welcome to nginx!&lt;/h1&gt;</a:t>
            </a:r>
          </a:p>
          <a:p>
            <a:r>
              <a:rPr lang="ko-KR" altLang="en-US" sz="1200"/>
              <a:t>&lt;p&gt;If you see this page, the nginx web server is successfully installed and</a:t>
            </a:r>
          </a:p>
          <a:p>
            <a:r>
              <a:rPr lang="ko-KR" altLang="en-US" sz="1200"/>
              <a:t>working. Further configuration is required.&lt;/p&gt;</a:t>
            </a:r>
          </a:p>
          <a:p>
            <a:endParaRPr lang="ko-KR" altLang="en-US" sz="1200"/>
          </a:p>
          <a:p>
            <a:r>
              <a:rPr lang="ko-KR" altLang="en-US" sz="1200"/>
              <a:t>&lt;p&gt;For online documentation and support please refer to</a:t>
            </a:r>
          </a:p>
          <a:p>
            <a:r>
              <a:rPr lang="ko-KR" altLang="en-US" sz="1200"/>
              <a:t>&lt;a href="http://nginx.org/"&gt;nginx.org&lt;/a&gt;.&lt;br/&gt;</a:t>
            </a:r>
          </a:p>
          <a:p>
            <a:r>
              <a:rPr lang="ko-KR" altLang="en-US" sz="1200"/>
              <a:t>Commercial support is available at</a:t>
            </a:r>
          </a:p>
          <a:p>
            <a:r>
              <a:rPr lang="ko-KR" altLang="en-US" sz="1200"/>
              <a:t>&lt;a href="http://nginx.com/"&gt;nginx.com&lt;/a&gt;.&lt;/p&gt;</a:t>
            </a:r>
          </a:p>
          <a:p>
            <a:endParaRPr lang="ko-KR" altLang="en-US" sz="1200"/>
          </a:p>
          <a:p>
            <a:r>
              <a:rPr lang="ko-KR" altLang="en-US" sz="1200"/>
              <a:t>&lt;p&gt;&lt;em&gt;Thank you for using nginx.&lt;/em&gt;&lt;/p&gt;</a:t>
            </a:r>
          </a:p>
          <a:p>
            <a:r>
              <a:rPr lang="ko-KR" altLang="en-US" sz="1200"/>
              <a:t>&lt;/body&gt;</a:t>
            </a:r>
          </a:p>
          <a:p>
            <a:r>
              <a:rPr lang="ko-KR" altLang="en-US" sz="1200"/>
              <a:t>&lt;/html&gt;</a:t>
            </a:r>
          </a:p>
          <a:p>
            <a:r>
              <a:rPr lang="ko-KR" altLang="en-US" sz="1200"/>
              <a:t>pod "curl-test" deleted from default namespace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98369E-86C1-6411-54CC-8ACD3C7D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45" y="743998"/>
            <a:ext cx="6553942" cy="2836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55D4E3-DD4D-9313-4EA4-04A64E1A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91" y="3743376"/>
            <a:ext cx="6249272" cy="244826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65FF685-2992-35D0-B073-5CF73CBB9ADA}"/>
              </a:ext>
            </a:extLst>
          </p:cNvPr>
          <p:cNvSpPr/>
          <p:nvPr/>
        </p:nvSpPr>
        <p:spPr>
          <a:xfrm>
            <a:off x="8354728" y="3975234"/>
            <a:ext cx="2974207" cy="462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내부 </a:t>
            </a:r>
            <a:r>
              <a:rPr lang="en-US" altLang="ko-KR" sz="1400"/>
              <a:t>Pod </a:t>
            </a:r>
            <a:r>
              <a:rPr lang="ko-KR" altLang="en-US" sz="1400"/>
              <a:t>들끼리 통신할때 사용</a:t>
            </a:r>
          </a:p>
        </p:txBody>
      </p:sp>
    </p:spTree>
    <p:extLst>
      <p:ext uri="{BB962C8B-B14F-4D97-AF65-F5344CB8AC3E}">
        <p14:creationId xmlns:p14="http://schemas.microsoft.com/office/powerpoint/2010/main" val="3509070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F31D0B-7DDE-40C3-FB42-D036462A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8" y="125127"/>
            <a:ext cx="5885752" cy="62949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1675E4-55F3-82BB-1CF2-DF7247835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5390"/>
            <a:ext cx="5954414" cy="54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3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9209B6-171C-D605-D148-08C6BC248698}"/>
              </a:ext>
            </a:extLst>
          </p:cNvPr>
          <p:cNvSpPr txBox="1"/>
          <p:nvPr/>
        </p:nvSpPr>
        <p:spPr>
          <a:xfrm>
            <a:off x="228600" y="221829"/>
            <a:ext cx="6097604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nginx-service-nodeport.yaml</a:t>
            </a:r>
          </a:p>
          <a:p>
            <a:r>
              <a:rPr lang="en-US" altLang="ko-KR"/>
              <a:t># Service </a:t>
            </a:r>
            <a:r>
              <a:rPr lang="ko-KR" altLang="en-US"/>
              <a:t>확인</a:t>
            </a:r>
          </a:p>
          <a:p>
            <a:r>
              <a:rPr lang="en-US" altLang="ko-KR"/>
              <a:t>kubectl get service nginx-nodeport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D8C764-26B9-610D-F00D-099A0011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9" y="1421970"/>
            <a:ext cx="6087325" cy="638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893211-66C7-7925-F93D-DBB40774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73417"/>
            <a:ext cx="7173227" cy="2801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7DC67-8DEF-5A34-7C54-22F4DC0D84DE}"/>
              </a:ext>
            </a:extLst>
          </p:cNvPr>
          <p:cNvSpPr txBox="1"/>
          <p:nvPr/>
        </p:nvSpPr>
        <p:spPr>
          <a:xfrm>
            <a:off x="7458776" y="2273417"/>
            <a:ext cx="450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클러스터 </a:t>
            </a:r>
            <a:r>
              <a:rPr lang="en-US" altLang="ko-KR"/>
              <a:t>IP </a:t>
            </a:r>
            <a:r>
              <a:rPr lang="ko-KR" altLang="en-US"/>
              <a:t>서비스로는 접근 불가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323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6982CB0-095B-047B-57FE-37404A1CCE6C}"/>
              </a:ext>
            </a:extLst>
          </p:cNvPr>
          <p:cNvGrpSpPr/>
          <p:nvPr/>
        </p:nvGrpSpPr>
        <p:grpSpPr>
          <a:xfrm>
            <a:off x="341858" y="241493"/>
            <a:ext cx="6376576" cy="5013524"/>
            <a:chOff x="341858" y="241493"/>
            <a:chExt cx="6376576" cy="50135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A23591E-5CC5-04C8-669F-DCE4F0235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858" y="241493"/>
              <a:ext cx="6376576" cy="501352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9822595-D6F8-6F4C-B935-A4B18BCB8C14}"/>
                </a:ext>
              </a:extLst>
            </p:cNvPr>
            <p:cNvSpPr/>
            <p:nvPr/>
          </p:nvSpPr>
          <p:spPr>
            <a:xfrm>
              <a:off x="519764" y="1520792"/>
              <a:ext cx="6198670" cy="3272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373CF6B-D8CE-1D13-1EB1-CFAD853E7680}"/>
              </a:ext>
            </a:extLst>
          </p:cNvPr>
          <p:cNvSpPr txBox="1"/>
          <p:nvPr/>
        </p:nvSpPr>
        <p:spPr>
          <a:xfrm>
            <a:off x="7122695" y="539015"/>
            <a:ext cx="463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강의교안 </a:t>
            </a:r>
            <a:r>
              <a:rPr lang="en-US" altLang="ko-KR"/>
              <a:t>- Ingress</a:t>
            </a:r>
            <a:r>
              <a:rPr lang="ko-KR" altLang="en-US"/>
              <a:t>를 추천</a:t>
            </a:r>
          </a:p>
        </p:txBody>
      </p:sp>
    </p:spTree>
    <p:extLst>
      <p:ext uri="{BB962C8B-B14F-4D97-AF65-F5344CB8AC3E}">
        <p14:creationId xmlns:p14="http://schemas.microsoft.com/office/powerpoint/2010/main" val="1283936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A52701-D2AC-47DF-AB0F-15BE4D3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06"/>
            <a:ext cx="6368368" cy="38133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D52C9-ADEB-8AE7-DCC0-2EBE0BC5C601}"/>
              </a:ext>
            </a:extLst>
          </p:cNvPr>
          <p:cNvSpPr txBox="1"/>
          <p:nvPr/>
        </p:nvSpPr>
        <p:spPr>
          <a:xfrm>
            <a:off x="6612556" y="288758"/>
            <a:ext cx="50821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강의 교안에서는 </a:t>
            </a:r>
            <a:r>
              <a:rPr lang="en-US" altLang="ko-KR"/>
              <a:t>Ingress</a:t>
            </a:r>
            <a:r>
              <a:rPr lang="ko-KR" altLang="en-US"/>
              <a:t>에서 인증인가를 주로함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Ingress</a:t>
            </a:r>
            <a:r>
              <a:rPr lang="ko-KR" altLang="en-US"/>
              <a:t>와  </a:t>
            </a:r>
            <a:r>
              <a:rPr lang="en-US" altLang="ko-KR"/>
              <a:t>Spring Gate Way</a:t>
            </a:r>
            <a:r>
              <a:rPr lang="ko-KR" altLang="en-US"/>
              <a:t>랑 같은 레벨의 인프라</a:t>
            </a:r>
            <a:br>
              <a:rPr lang="en-US" altLang="ko-KR"/>
            </a:br>
            <a:r>
              <a:rPr lang="ko-KR" altLang="en-US"/>
              <a:t>임으로 </a:t>
            </a:r>
            <a:r>
              <a:rPr lang="en-US" altLang="ko-KR"/>
              <a:t>Ingress</a:t>
            </a:r>
            <a:r>
              <a:rPr lang="ko-KR" altLang="en-US"/>
              <a:t>를 안쓰고 </a:t>
            </a:r>
            <a:r>
              <a:rPr lang="en-US" altLang="ko-KR"/>
              <a:t>Spring Gate Way</a:t>
            </a:r>
            <a:r>
              <a:rPr lang="ko-KR" altLang="en-US"/>
              <a:t>를 사용하고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Spring Gate Way</a:t>
            </a:r>
            <a:r>
              <a:rPr lang="ko-KR" altLang="en-US"/>
              <a:t>를 안쓰는대신  </a:t>
            </a:r>
            <a:r>
              <a:rPr lang="en-US" altLang="ko-KR"/>
              <a:t>Ingress</a:t>
            </a:r>
            <a:r>
              <a:rPr lang="ko-KR" altLang="en-US"/>
              <a:t>를 쓰기도 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둘 다 앞 뒤 배치를 다르게 주어 모두 사용하도록 할 수도 있음</a:t>
            </a:r>
          </a:p>
        </p:txBody>
      </p:sp>
    </p:spTree>
    <p:extLst>
      <p:ext uri="{BB962C8B-B14F-4D97-AF65-F5344CB8AC3E}">
        <p14:creationId xmlns:p14="http://schemas.microsoft.com/office/powerpoint/2010/main" val="2387901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C77082-BB36-3A34-FEA2-987B5E2A5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377"/>
            <a:ext cx="4395139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F9526F-A474-99D5-60DE-C314BB7AC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560" y="0"/>
            <a:ext cx="5450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7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89E48-5AE8-130B-5C38-24A80928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환경변수를 </a:t>
            </a:r>
            <a:r>
              <a:rPr lang="en-US" altLang="ko-KR"/>
              <a:t>Pod</a:t>
            </a:r>
            <a:r>
              <a:rPr lang="ko-KR" altLang="en-US"/>
              <a:t>에 적용하기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0272BD-66AF-F406-8BBB-10AF30CEB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24" y="1946949"/>
            <a:ext cx="4414171" cy="31736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9DF015-6CDC-1328-BB48-F6E07904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548" y="1946949"/>
            <a:ext cx="5792008" cy="42392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A319BCE-1780-77E0-B159-61DBA1DBEC58}"/>
              </a:ext>
            </a:extLst>
          </p:cNvPr>
          <p:cNvSpPr/>
          <p:nvPr/>
        </p:nvSpPr>
        <p:spPr>
          <a:xfrm>
            <a:off x="1097280" y="3533795"/>
            <a:ext cx="972152" cy="2008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9D1AF7-0991-480A-C287-EB6D7562118F}"/>
              </a:ext>
            </a:extLst>
          </p:cNvPr>
          <p:cNvSpPr/>
          <p:nvPr/>
        </p:nvSpPr>
        <p:spPr>
          <a:xfrm>
            <a:off x="6583680" y="5698156"/>
            <a:ext cx="952901" cy="2294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AC6AB18-7D38-186D-A77E-5C96C1BBB614}"/>
              </a:ext>
            </a:extLst>
          </p:cNvPr>
          <p:cNvCxnSpPr>
            <a:stCxn id="8" idx="3"/>
          </p:cNvCxnSpPr>
          <p:nvPr/>
        </p:nvCxnSpPr>
        <p:spPr>
          <a:xfrm>
            <a:off x="2069432" y="3634199"/>
            <a:ext cx="4543124" cy="2150584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186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6504E0-CBBC-26C4-6C87-127BD263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59" y="479429"/>
            <a:ext cx="5963482" cy="4744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134F2B5-91CD-E632-1B2F-73A4C047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34" y="479429"/>
            <a:ext cx="4414171" cy="3173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32D8CB7-DF82-D4B6-5858-D61E587DAF04}"/>
              </a:ext>
            </a:extLst>
          </p:cNvPr>
          <p:cNvSpPr/>
          <p:nvPr/>
        </p:nvSpPr>
        <p:spPr>
          <a:xfrm>
            <a:off x="981777" y="2464067"/>
            <a:ext cx="741145" cy="269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9865C7-5A97-0FBE-F235-2CD47D1A51E5}"/>
              </a:ext>
            </a:extLst>
          </p:cNvPr>
          <p:cNvCxnSpPr/>
          <p:nvPr/>
        </p:nvCxnSpPr>
        <p:spPr>
          <a:xfrm>
            <a:off x="1751798" y="2618072"/>
            <a:ext cx="5053263" cy="21464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F61446-360C-1376-84C2-46F97E4755F7}"/>
              </a:ext>
            </a:extLst>
          </p:cNvPr>
          <p:cNvSpPr/>
          <p:nvPr/>
        </p:nvSpPr>
        <p:spPr>
          <a:xfrm>
            <a:off x="6833937" y="4629751"/>
            <a:ext cx="1328286" cy="3272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880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4559D3-FABA-AE1E-4386-6B14884A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730" y="1353151"/>
            <a:ext cx="5410955" cy="43249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088D5A-B115-7F48-36B4-A9EF3C72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82" y="1353151"/>
            <a:ext cx="4963218" cy="24387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4F630C-1221-E173-A87D-AD558809D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13" y="3774324"/>
            <a:ext cx="4162017" cy="30836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EEF9BA4-78A6-28E0-5FE4-09892C74BCA6}"/>
              </a:ext>
            </a:extLst>
          </p:cNvPr>
          <p:cNvSpPr/>
          <p:nvPr/>
        </p:nvSpPr>
        <p:spPr>
          <a:xfrm>
            <a:off x="7642460" y="3907857"/>
            <a:ext cx="1203158" cy="2695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1784CB-3021-5C81-C00A-3384403408F7}"/>
              </a:ext>
            </a:extLst>
          </p:cNvPr>
          <p:cNvSpPr/>
          <p:nvPr/>
        </p:nvSpPr>
        <p:spPr>
          <a:xfrm>
            <a:off x="7357060" y="4677877"/>
            <a:ext cx="1332950" cy="3465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3FA2F6B-A97A-82FF-472E-D5EA4C9D2962}"/>
              </a:ext>
            </a:extLst>
          </p:cNvPr>
          <p:cNvSpPr/>
          <p:nvPr/>
        </p:nvSpPr>
        <p:spPr>
          <a:xfrm>
            <a:off x="7517331" y="5235342"/>
            <a:ext cx="1203158" cy="3946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927FF5E9-B764-D7E7-295D-47306863FBC2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 flipH="1" flipV="1">
            <a:off x="8416891" y="4625343"/>
            <a:ext cx="1033915" cy="426719"/>
          </a:xfrm>
          <a:prstGeom prst="curvedConnector4">
            <a:avLst>
              <a:gd name="adj1" fmla="val 43483"/>
              <a:gd name="adj2" fmla="val 153572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DB7867-3AAA-E45A-67A7-8AA18FD661F3}"/>
              </a:ext>
            </a:extLst>
          </p:cNvPr>
          <p:cNvSpPr/>
          <p:nvPr/>
        </p:nvSpPr>
        <p:spPr>
          <a:xfrm>
            <a:off x="7944050" y="4186990"/>
            <a:ext cx="1203158" cy="2695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44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A759D-1AB1-02E1-5619-C620DB67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Secret </a:t>
            </a:r>
            <a:r>
              <a:rPr lang="ko-KR" altLang="en-US"/>
              <a:t>사용하기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6E2B0D-6B66-86B9-00C6-FE5397C8559E}"/>
              </a:ext>
            </a:extLst>
          </p:cNvPr>
          <p:cNvGrpSpPr/>
          <p:nvPr/>
        </p:nvGrpSpPr>
        <p:grpSpPr>
          <a:xfrm>
            <a:off x="240631" y="1834057"/>
            <a:ext cx="4763165" cy="3286584"/>
            <a:chOff x="240631" y="1834057"/>
            <a:chExt cx="4763165" cy="328658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9A02F16-E29E-A2FE-F5E2-855C41D29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631" y="1834057"/>
              <a:ext cx="4763165" cy="328658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B00ADF-599F-0E6C-FD2E-A4E4FECC47CB}"/>
                </a:ext>
              </a:extLst>
            </p:cNvPr>
            <p:cNvSpPr/>
            <p:nvPr/>
          </p:nvSpPr>
          <p:spPr>
            <a:xfrm>
              <a:off x="3051208" y="3763478"/>
              <a:ext cx="1732548" cy="3080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FCFF819-D38B-CEEA-A8D6-D0A7BE957DB2}"/>
              </a:ext>
            </a:extLst>
          </p:cNvPr>
          <p:cNvSpPr txBox="1"/>
          <p:nvPr/>
        </p:nvSpPr>
        <p:spPr>
          <a:xfrm>
            <a:off x="5137484" y="1834057"/>
            <a:ext cx="6097604" cy="309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명령어로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Secret 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생성 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권장</a:t>
            </a:r>
            <a:r>
              <a:rPr lang="en-US" altLang="ko-KR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 -</a:t>
            </a:r>
            <a:r>
              <a:rPr lang="ko-KR" altLang="en-US" sz="14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노출되면 안되기때문에</a:t>
            </a:r>
            <a:endParaRPr lang="ko-KR" altLang="en-US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kubectl create secret generic db-secret 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ko-KR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--from-literal</a:t>
            </a:r>
            <a:r>
              <a:rPr lang="en-US" altLang="ko-KR" sz="14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username</a:t>
            </a:r>
            <a:r>
              <a:rPr lang="en-US" altLang="ko-KR" sz="14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admin </a:t>
            </a:r>
            <a:r>
              <a:rPr lang="en-US" altLang="ko-KR" sz="1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ko-KR" sz="14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  --from-literal</a:t>
            </a:r>
            <a:r>
              <a:rPr lang="en-US" altLang="ko-KR" sz="14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4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i="0">
                <a:effectLst/>
                <a:latin typeface="Consolas" panose="020B0609020204030204" pitchFamily="49" charset="0"/>
              </a:rPr>
              <a:t>secretpassword123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400">
              <a:latin typeface="Consolas" panose="020B0609020204030204" pitchFamily="49" charset="0"/>
            </a:endParaRPr>
          </a:p>
          <a:p>
            <a:pPr marL="285750" indent="-285750"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altLang="ko-KR" sz="1400" b="0" i="0"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db-secret </a:t>
            </a:r>
            <a:r>
              <a:rPr lang="ko-KR" altLang="en-US" sz="1400" b="0" i="0"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생성</a:t>
            </a:r>
            <a:endParaRPr lang="en-US" altLang="ko-KR" sz="1400" b="0" i="0"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altLang="ko-KR" sz="1400" b="0" i="0">
                <a:effectLst/>
                <a:latin typeface="Consolas" panose="020B0609020204030204" pitchFamily="49" charset="0"/>
              </a:rPr>
              <a:t>--from-literal </a:t>
            </a:r>
            <a:r>
              <a:rPr lang="en-US" altLang="ko-KR" sz="1400">
                <a:latin typeface="Consolas" panose="020B0609020204030204" pitchFamily="49" charset="0"/>
                <a:sym typeface="Wingdings" panose="05000000000000000000" pitchFamily="2" charset="2"/>
              </a:rPr>
              <a:t>: </a:t>
            </a:r>
            <a:r>
              <a:rPr lang="ko-KR" altLang="en-US" sz="1400">
                <a:latin typeface="Consolas" panose="020B0609020204030204" pitchFamily="49" charset="0"/>
                <a:sym typeface="Wingdings" panose="05000000000000000000" pitchFamily="2" charset="2"/>
              </a:rPr>
              <a:t>키</a:t>
            </a:r>
            <a:r>
              <a:rPr lang="en-US" altLang="ko-KR" sz="1400">
                <a:latin typeface="Consolas" panose="020B0609020204030204" pitchFamily="49" charset="0"/>
                <a:sym typeface="Wingdings" panose="05000000000000000000" pitchFamily="2" charset="2"/>
              </a:rPr>
              <a:t>-</a:t>
            </a:r>
            <a:r>
              <a:rPr lang="ko-KR" altLang="en-US" sz="1400">
                <a:latin typeface="Consolas" panose="020B0609020204030204" pitchFamily="49" charset="0"/>
                <a:sym typeface="Wingdings" panose="05000000000000000000" pitchFamily="2" charset="2"/>
              </a:rPr>
              <a:t>값으로 </a:t>
            </a:r>
            <a:r>
              <a:rPr lang="en-US" altLang="ko-KR" sz="1400">
                <a:latin typeface="Consolas" panose="020B0609020204030204" pitchFamily="49" charset="0"/>
                <a:sym typeface="Wingdings" panose="05000000000000000000" pitchFamily="2" charset="2"/>
              </a:rPr>
              <a:t>base64</a:t>
            </a:r>
            <a:r>
              <a:rPr lang="ko-KR" altLang="en-US" sz="1400">
                <a:latin typeface="Consolas" panose="020B0609020204030204" pitchFamily="49" charset="0"/>
                <a:sym typeface="Wingdings" panose="05000000000000000000" pitchFamily="2" charset="2"/>
              </a:rPr>
              <a:t>인코딩</a:t>
            </a:r>
            <a:endParaRPr lang="en-US" altLang="ko-KR" sz="140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altLang="ko-KR"/>
              <a:t>kubectl get secret db-secret -o yaml (</a:t>
            </a:r>
            <a:r>
              <a:rPr lang="ko-KR" altLang="en-US"/>
              <a:t>인코딩된 값 확인</a:t>
            </a:r>
            <a:r>
              <a:rPr lang="en-US" altLang="ko-KR"/>
              <a:t>)</a:t>
            </a:r>
          </a:p>
          <a:p>
            <a:pPr marL="285750" indent="-285750"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endParaRPr lang="en-US" altLang="ko-KR" sz="1400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E0CB8F-02A7-FB7B-350D-B262D5C4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339" y="4591932"/>
            <a:ext cx="5590457" cy="220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06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85A850-4722-C066-2257-F59565285AF4}"/>
              </a:ext>
            </a:extLst>
          </p:cNvPr>
          <p:cNvSpPr txBox="1"/>
          <p:nvPr/>
        </p:nvSpPr>
        <p:spPr>
          <a:xfrm>
            <a:off x="198120" y="280473"/>
            <a:ext cx="6097604" cy="55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100" b="0" i="0">
                <a:effectLst/>
                <a:latin typeface="Consolas" panose="020B0609020204030204" pitchFamily="49" charset="0"/>
              </a:rPr>
              <a:t>kubectl get secret db-secret -o </a:t>
            </a:r>
            <a:r>
              <a:rPr lang="en-US" altLang="ko-KR" sz="1100" b="0" i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jsonpath</a:t>
            </a:r>
            <a:r>
              <a:rPr lang="en-US" altLang="ko-KR" sz="11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'{.data.username}'</a:t>
            </a:r>
            <a:r>
              <a:rPr lang="en-US" altLang="ko-KR" sz="110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100" b="0" i="0">
                <a:effectLst/>
                <a:latin typeface="Consolas" panose="020B0609020204030204" pitchFamily="49" charset="0"/>
              </a:rPr>
              <a:t> base64 -d</a:t>
            </a:r>
            <a:br>
              <a:rPr lang="en-US" altLang="ko-KR" sz="1100" b="0" i="0">
                <a:effectLst/>
                <a:latin typeface="Consolas" panose="020B0609020204030204" pitchFamily="49" charset="0"/>
              </a:rPr>
            </a:br>
            <a:r>
              <a:rPr lang="ko-KR" altLang="en-US" sz="1100" b="0" i="0">
                <a:effectLst/>
                <a:latin typeface="Consolas" panose="020B0609020204030204" pitchFamily="49" charset="0"/>
              </a:rPr>
              <a:t>디코딩 된 값 확인</a:t>
            </a:r>
            <a:endParaRPr lang="en-US" altLang="ko-KR" sz="1100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A4742-B852-D69E-5C41-82122CF69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165602"/>
            <a:ext cx="4290054" cy="5523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5E82B-8009-DCE4-2897-9461ABBCD9D5}"/>
              </a:ext>
            </a:extLst>
          </p:cNvPr>
          <p:cNvSpPr txBox="1"/>
          <p:nvPr/>
        </p:nvSpPr>
        <p:spPr>
          <a:xfrm>
            <a:off x="4831882" y="1251284"/>
            <a:ext cx="6371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Secret</a:t>
            </a:r>
            <a:r>
              <a:rPr lang="ko-KR" altLang="en-US"/>
              <a:t>을 파일로 관리하고자 한다면</a:t>
            </a:r>
            <a:r>
              <a:rPr lang="en-US" altLang="ko-KR"/>
              <a:t>, </a:t>
            </a:r>
            <a:r>
              <a:rPr lang="ko-KR" altLang="en-US"/>
              <a:t>평문저장은 지양하며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Base64</a:t>
            </a:r>
            <a:r>
              <a:rPr lang="ko-KR" altLang="en-US"/>
              <a:t>로 변환된 값으로 작성한다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F8715F-65E5-3F00-03B3-B148C23FC06E}"/>
              </a:ext>
            </a:extLst>
          </p:cNvPr>
          <p:cNvSpPr/>
          <p:nvPr/>
        </p:nvSpPr>
        <p:spPr>
          <a:xfrm>
            <a:off x="317634" y="2425566"/>
            <a:ext cx="1395663" cy="298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B63543-7908-FC89-F2CB-68701BAB5980}"/>
              </a:ext>
            </a:extLst>
          </p:cNvPr>
          <p:cNvSpPr/>
          <p:nvPr/>
        </p:nvSpPr>
        <p:spPr>
          <a:xfrm>
            <a:off x="317633" y="3178743"/>
            <a:ext cx="2358190" cy="298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C860F9-2B56-95F1-5377-7C5EBAD3F47F}"/>
              </a:ext>
            </a:extLst>
          </p:cNvPr>
          <p:cNvSpPr/>
          <p:nvPr/>
        </p:nvSpPr>
        <p:spPr>
          <a:xfrm>
            <a:off x="1280160" y="6000813"/>
            <a:ext cx="1395663" cy="298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F86227-02EF-08FF-44A1-ADAFD6A4ADD1}"/>
              </a:ext>
            </a:extLst>
          </p:cNvPr>
          <p:cNvSpPr/>
          <p:nvPr/>
        </p:nvSpPr>
        <p:spPr>
          <a:xfrm>
            <a:off x="1268930" y="6299196"/>
            <a:ext cx="2358190" cy="298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804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8CADF-DFB5-E611-631F-74E3D9C08790}"/>
              </a:ext>
            </a:extLst>
          </p:cNvPr>
          <p:cNvSpPr txBox="1"/>
          <p:nvPr/>
        </p:nvSpPr>
        <p:spPr>
          <a:xfrm>
            <a:off x="141972" y="256620"/>
            <a:ext cx="6097604" cy="28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3: Secret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을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Pod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에서 사용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BFE094-B7F9-5784-AE6C-B33586AE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2" y="634209"/>
            <a:ext cx="5696745" cy="58205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553252F-C6D6-F5B0-D16B-7540C61291E9}"/>
              </a:ext>
            </a:extLst>
          </p:cNvPr>
          <p:cNvSpPr/>
          <p:nvPr/>
        </p:nvSpPr>
        <p:spPr>
          <a:xfrm>
            <a:off x="1049154" y="5534526"/>
            <a:ext cx="1799924" cy="798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04B10D-9B8A-7927-ED9E-71DA48984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1871"/>
            <a:ext cx="2657846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651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134D-3F94-7506-35FD-1CD6EC9C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D59767-2D8D-FD63-1B27-1C95AF1C2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2" y="789756"/>
            <a:ext cx="4791744" cy="5144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C07FE8-4B3A-53D9-1981-608B64E491A5}"/>
              </a:ext>
            </a:extLst>
          </p:cNvPr>
          <p:cNvSpPr txBox="1"/>
          <p:nvPr/>
        </p:nvSpPr>
        <p:spPr>
          <a:xfrm>
            <a:off x="141972" y="256620"/>
            <a:ext cx="6097604" cy="28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>
                <a:solidFill>
                  <a:srgbClr val="222222"/>
                </a:solidFill>
                <a:latin typeface="Pretendard Variable"/>
              </a:rPr>
              <a:t>4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파일로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Secret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마운트</a:t>
            </a:r>
          </a:p>
        </p:txBody>
      </p:sp>
    </p:spTree>
    <p:extLst>
      <p:ext uri="{BB962C8B-B14F-4D97-AF65-F5344CB8AC3E}">
        <p14:creationId xmlns:p14="http://schemas.microsoft.com/office/powerpoint/2010/main" val="3553845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05EC4-3927-F7F4-5E5C-1A4FAE606C67}"/>
              </a:ext>
            </a:extLst>
          </p:cNvPr>
          <p:cNvSpPr txBox="1"/>
          <p:nvPr/>
        </p:nvSpPr>
        <p:spPr>
          <a:xfrm>
            <a:off x="238225" y="867835"/>
            <a:ext cx="60976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kubectl exec -it db-app-pod -- bash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Pod </a:t>
            </a:r>
            <a:r>
              <a:rPr lang="ko-KR" altLang="en-US"/>
              <a:t>안에서</a:t>
            </a:r>
            <a:r>
              <a:rPr lang="en-US" altLang="ko-KR"/>
              <a:t>:</a:t>
            </a:r>
          </a:p>
          <a:p>
            <a:r>
              <a:rPr lang="en-US" altLang="ko-KR"/>
              <a:t>$ echo $DB_USERNAME</a:t>
            </a:r>
          </a:p>
          <a:p>
            <a:r>
              <a:rPr lang="en-US" altLang="ko-KR"/>
              <a:t>development</a:t>
            </a:r>
          </a:p>
          <a:p>
            <a:r>
              <a:rPr lang="en-US" altLang="ko-KR"/>
              <a:t>$ echo $DB_PASSWORD</a:t>
            </a:r>
          </a:p>
          <a:p>
            <a:r>
              <a:rPr lang="en-US" altLang="ko-KR"/>
              <a:t>db-service</a:t>
            </a:r>
          </a:p>
          <a:p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2DE08-D7DC-34D5-6976-8807EFD1CA48}"/>
              </a:ext>
            </a:extLst>
          </p:cNvPr>
          <p:cNvSpPr txBox="1"/>
          <p:nvPr/>
        </p:nvSpPr>
        <p:spPr>
          <a:xfrm>
            <a:off x="238225" y="415448"/>
            <a:ext cx="6097604" cy="314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1500"/>
              </a:spcBef>
              <a:spcAft>
                <a:spcPts val="975"/>
              </a:spcAft>
              <a:buNone/>
            </a:pP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Pod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안에서 환경변수 확인</a:t>
            </a:r>
          </a:p>
        </p:txBody>
      </p:sp>
    </p:spTree>
    <p:extLst>
      <p:ext uri="{BB962C8B-B14F-4D97-AF65-F5344CB8AC3E}">
        <p14:creationId xmlns:p14="http://schemas.microsoft.com/office/powerpoint/2010/main" val="837512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A948F6-33EF-0124-C90A-4DE00C85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58008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E61907-5F90-CCCE-1FAC-CA337D2B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183" y="0"/>
            <a:ext cx="295316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23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579932-B08E-69DA-65FC-6386ABDC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06" y="197303"/>
            <a:ext cx="6214712" cy="47566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AAC3CC-2F96-2E3B-8E71-71506FA39788}"/>
              </a:ext>
            </a:extLst>
          </p:cNvPr>
          <p:cNvSpPr txBox="1"/>
          <p:nvPr/>
        </p:nvSpPr>
        <p:spPr>
          <a:xfrm>
            <a:off x="6641432" y="327259"/>
            <a:ext cx="5130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PVC</a:t>
            </a:r>
            <a:r>
              <a:rPr lang="ko-KR" altLang="en-US"/>
              <a:t>는 </a:t>
            </a:r>
            <a:r>
              <a:rPr lang="en-US" altLang="ko-KR"/>
              <a:t>PV </a:t>
            </a:r>
            <a:r>
              <a:rPr lang="ko-KR" altLang="en-US"/>
              <a:t>공간</a:t>
            </a:r>
            <a:r>
              <a:rPr lang="en-US" altLang="ko-KR"/>
              <a:t>(Volume)</a:t>
            </a:r>
            <a:r>
              <a:rPr lang="ko-KR" altLang="en-US"/>
              <a:t>의 어느정도 공간을 달라는 요청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5378CA-7932-FF59-844A-72EC943E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15" y="1250589"/>
            <a:ext cx="5369078" cy="106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259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52157-4ADA-FEDE-A53D-3687A0284552}"/>
              </a:ext>
            </a:extLst>
          </p:cNvPr>
          <p:cNvSpPr txBox="1"/>
          <p:nvPr/>
        </p:nvSpPr>
        <p:spPr>
          <a:xfrm>
            <a:off x="382604" y="1577807"/>
            <a:ext cx="6097604" cy="4476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v1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PersistentVolume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local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pv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spec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storage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1Gi          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⭐ 스토리지 크기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accessModes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ReadWriteOnce         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⭐ 접근 모드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persistentVolumeReclaimPolicy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Retain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⭐ 반환 정책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storageClassName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manual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⭐ 스토리지 클래스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hostPath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              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로컬 경로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테스트용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/data/pv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local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28954D-AF6D-5689-BBF9-A24A347A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4" y="365757"/>
            <a:ext cx="3038899" cy="876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D9F637-1C43-0F08-941D-0A41F655E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3" y="222744"/>
            <a:ext cx="3780139" cy="32062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E9FC6C-686C-1850-6BE3-EAB93430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631" y="3497336"/>
            <a:ext cx="3056807" cy="33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70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DFCBB-C144-6283-BB4E-2E5814B64D67}"/>
              </a:ext>
            </a:extLst>
          </p:cNvPr>
          <p:cNvSpPr txBox="1"/>
          <p:nvPr/>
        </p:nvSpPr>
        <p:spPr>
          <a:xfrm>
            <a:off x="199724" y="327822"/>
            <a:ext cx="6097604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2: PersistentVolumeClaim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생성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ko-KR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pvc-local.yaml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65DC9-693A-EC0D-E162-E0BB93C84BFE}"/>
              </a:ext>
            </a:extLst>
          </p:cNvPr>
          <p:cNvSpPr txBox="1"/>
          <p:nvPr/>
        </p:nvSpPr>
        <p:spPr>
          <a:xfrm>
            <a:off x="199724" y="1076756"/>
            <a:ext cx="6097604" cy="377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v1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PersistentVolumeClaim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local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pvc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spec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accessModes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ReadWriteOnce    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PV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와 같은 모드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storage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500Mi      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요청하는 용량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(PV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보다 작거나 같아야 함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storageClassName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manual   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PV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와 같은 클래스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4C5B1-3E49-FA4C-0793-7AE0EDC3AB52}"/>
              </a:ext>
            </a:extLst>
          </p:cNvPr>
          <p:cNvSpPr txBox="1"/>
          <p:nvPr/>
        </p:nvSpPr>
        <p:spPr>
          <a:xfrm>
            <a:off x="4434839" y="247897"/>
            <a:ext cx="6097604" cy="11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ko-KR" altLang="en-US" sz="1100" b="1" i="0">
                <a:solidFill>
                  <a:srgbClr val="222222"/>
                </a:solidFill>
                <a:effectLst/>
                <a:latin typeface="Pretendard Variable"/>
              </a:rPr>
              <a:t>🔍 </a:t>
            </a:r>
            <a:r>
              <a:rPr lang="en-US" altLang="ko-KR" sz="1100" b="1" i="0">
                <a:solidFill>
                  <a:srgbClr val="222222"/>
                </a:solidFill>
                <a:effectLst/>
                <a:latin typeface="Pretendard Variable"/>
              </a:rPr>
              <a:t>PVC</a:t>
            </a:r>
            <a:r>
              <a:rPr lang="ko-KR" altLang="en-US" sz="1100" b="1" i="0">
                <a:solidFill>
                  <a:srgbClr val="222222"/>
                </a:solidFill>
                <a:effectLst/>
                <a:latin typeface="Pretendard Variable"/>
              </a:rPr>
              <a:t>의 역할</a:t>
            </a:r>
            <a:r>
              <a:rPr lang="en-US" altLang="ko-KR" sz="1100" b="1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  <a:endParaRPr lang="ko-KR" altLang="en-US" sz="1100" b="0" i="0">
              <a:solidFill>
                <a:srgbClr val="222222"/>
              </a:solidFill>
              <a:effectLst/>
              <a:latin typeface="Pretendard Variable"/>
            </a:endParaRP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"500Mi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이상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, ReadWriteOnce, manual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클래스인 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PV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를 주세요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!"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조건에 맞는 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PV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가 자동으로 연결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(Bound)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됨</a:t>
            </a:r>
          </a:p>
        </p:txBody>
      </p:sp>
    </p:spTree>
    <p:extLst>
      <p:ext uri="{BB962C8B-B14F-4D97-AF65-F5344CB8AC3E}">
        <p14:creationId xmlns:p14="http://schemas.microsoft.com/office/powerpoint/2010/main" val="21829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9268D3-4650-BA78-2A46-338418891CD3}"/>
              </a:ext>
            </a:extLst>
          </p:cNvPr>
          <p:cNvSpPr txBox="1"/>
          <p:nvPr/>
        </p:nvSpPr>
        <p:spPr>
          <a:xfrm>
            <a:off x="84221" y="308572"/>
            <a:ext cx="6097604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3: Pod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에서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PVC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사용</a:t>
            </a:r>
          </a:p>
          <a:p>
            <a:pPr algn="l">
              <a:lnSpc>
                <a:spcPts val="19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ko-KR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pod-with-pvc.yaml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13977-B181-589B-490C-32F111D1040D}"/>
              </a:ext>
            </a:extLst>
          </p:cNvPr>
          <p:cNvSpPr txBox="1"/>
          <p:nvPr/>
        </p:nvSpPr>
        <p:spPr>
          <a:xfrm>
            <a:off x="257476" y="1131729"/>
            <a:ext cx="6097604" cy="5162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v1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Pod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pvc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pod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spec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containers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app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nginx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1.25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volumeMounts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volume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mountPath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/usr/share/nginx/html  </a:t>
            </a:r>
            <a:r>
              <a:rPr lang="en-US" altLang="ko-KR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컨테이너 내 마운트 경로</a:t>
            </a:r>
            <a:endParaRPr lang="ko-KR" altLang="en-US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ko-KR" altLang="en-US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volume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persistentVolumeClaim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effectLst/>
                <a:latin typeface="Consolas" panose="020B0609020204030204" pitchFamily="49" charset="0"/>
              </a:rPr>
              <a:t>      </a:t>
            </a:r>
            <a:r>
              <a:rPr lang="en-US" altLang="ko-KR" sz="1050" b="0" i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claimName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 local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i="0">
                <a:effectLst/>
                <a:latin typeface="Consolas" panose="020B0609020204030204" pitchFamily="49" charset="0"/>
              </a:rPr>
              <a:t>pvc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C6628-7639-30DF-4F6E-1B4E4481E1A0}"/>
              </a:ext>
            </a:extLst>
          </p:cNvPr>
          <p:cNvSpPr txBox="1"/>
          <p:nvPr/>
        </p:nvSpPr>
        <p:spPr>
          <a:xfrm>
            <a:off x="5512869" y="530771"/>
            <a:ext cx="6097604" cy="2898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</a:pPr>
            <a:r>
              <a:rPr lang="ko-KR" altLang="en-US" b="1"/>
              <a:t>작업 </a:t>
            </a:r>
            <a:r>
              <a:rPr lang="en-US" altLang="ko-KR" b="1"/>
              <a:t>4: </a:t>
            </a:r>
            <a:r>
              <a:rPr lang="ko-KR" altLang="en-US" b="1"/>
              <a:t>스토리지 확인 및 테스트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b="0" i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순서대로 생성</a:t>
            </a:r>
            <a:endParaRPr lang="ko-KR" altLang="en-US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pv-local.yaml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pvc-local.yaml</a:t>
            </a:r>
          </a:p>
          <a:p>
            <a:pPr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apply -f pod-with-pvc.yaml</a:t>
            </a:r>
            <a:br>
              <a:rPr lang="en-US" altLang="ko-KR" b="0" i="0">
                <a:effectLst/>
                <a:latin typeface="Consolas" panose="020B0609020204030204" pitchFamily="49" charset="0"/>
              </a:rPr>
            </a:br>
            <a:br>
              <a:rPr lang="en-US" altLang="ko-KR" b="0" i="0">
                <a:effectLst/>
                <a:latin typeface="Consolas" panose="020B0609020204030204" pitchFamily="49" charset="0"/>
              </a:rPr>
            </a:br>
            <a:r>
              <a:rPr lang="en-US" altLang="ko-KR"/>
              <a:t>kubectl get pv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b="0" i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99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15E421-628B-6B79-6FA2-793990C4A480}"/>
              </a:ext>
            </a:extLst>
          </p:cNvPr>
          <p:cNvSpPr txBox="1"/>
          <p:nvPr/>
        </p:nvSpPr>
        <p:spPr>
          <a:xfrm>
            <a:off x="141973" y="19553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데이터 영속성 테스트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: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CE903-EC01-50FB-5B8F-4ECC78ED932C}"/>
              </a:ext>
            </a:extLst>
          </p:cNvPr>
          <p:cNvSpPr txBox="1"/>
          <p:nvPr/>
        </p:nvSpPr>
        <p:spPr>
          <a:xfrm>
            <a:off x="286352" y="617803"/>
            <a:ext cx="6097604" cy="5757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1. Pod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에 데이터 쓰기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pvc-pod --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-c </a:t>
            </a:r>
            <a:r>
              <a:rPr lang="en-US" altLang="ko-KR" sz="1200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"echo 'Hello K8s' &gt; /usr/share/nginx/html/index.html"</a:t>
            </a: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2.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확인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pvc-pod --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/usr/share/nginx/html/index.html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출력</a:t>
            </a: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 Hello K8s</a:t>
            </a: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3. Pod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삭제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delete pod pvc-pod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4. Pod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다시 생성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apply -f pod-with-pvc.yaml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endParaRPr lang="en-US" altLang="ko-KR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5.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데이터 확인 </a:t>
            </a: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여전히 존재</a:t>
            </a: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effectLst/>
                <a:latin typeface="Consolas" panose="020B0609020204030204" pitchFamily="49" charset="0"/>
              </a:rPr>
              <a:t>kubectl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pvc-pod -- </a:t>
            </a:r>
            <a:r>
              <a:rPr lang="en-US" altLang="ko-KR" sz="120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altLang="ko-KR" sz="1200" b="0" i="0">
                <a:effectLst/>
                <a:latin typeface="Consolas" panose="020B0609020204030204" pitchFamily="49" charset="0"/>
              </a:rPr>
              <a:t> /usr/share/nginx/html/index.html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출력</a:t>
            </a: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 Hello K8s  ←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데이터 유지</a:t>
            </a:r>
            <a:r>
              <a:rPr lang="en-US" altLang="ko-KR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 </a:t>
            </a:r>
            <a:r>
              <a:rPr lang="ko-KR" altLang="en-US" sz="12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🎉</a:t>
            </a:r>
            <a:endParaRPr lang="ko-KR" altLang="en-US" sz="1200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CF5345-6510-65D0-13B0-BA0DBF060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8880"/>
            <a:ext cx="5239481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11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6C7040A-972B-C8B4-A728-5882D3E2048A}"/>
              </a:ext>
            </a:extLst>
          </p:cNvPr>
          <p:cNvGrpSpPr/>
          <p:nvPr/>
        </p:nvGrpSpPr>
        <p:grpSpPr>
          <a:xfrm>
            <a:off x="275357" y="159900"/>
            <a:ext cx="8849960" cy="5306165"/>
            <a:chOff x="275357" y="159900"/>
            <a:chExt cx="8849960" cy="530616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5210AB7-4F7A-63AB-7C50-042B0C9B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357" y="159900"/>
              <a:ext cx="8849960" cy="530616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6622A4-81F5-5DA2-94A8-52F2A90CD68F}"/>
                </a:ext>
              </a:extLst>
            </p:cNvPr>
            <p:cNvSpPr/>
            <p:nvPr/>
          </p:nvSpPr>
          <p:spPr>
            <a:xfrm>
              <a:off x="462013" y="211756"/>
              <a:ext cx="8431730" cy="5871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EE89B8-2AED-2DDC-1E3D-3B321DE25C37}"/>
              </a:ext>
            </a:extLst>
          </p:cNvPr>
          <p:cNvSpPr txBox="1"/>
          <p:nvPr/>
        </p:nvSpPr>
        <p:spPr>
          <a:xfrm>
            <a:off x="5002730" y="1276056"/>
            <a:ext cx="6097604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delete pod pvc-pod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delete pvc local-pvc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b="0" i="0">
                <a:effectLst/>
                <a:latin typeface="Consolas" panose="020B0609020204030204" pitchFamily="49" charset="0"/>
              </a:rPr>
              <a:t>kubectl delete </a:t>
            </a:r>
            <a:r>
              <a:rPr lang="en-US" altLang="ko-KR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lang="en-US" altLang="ko-KR" b="0" i="0">
                <a:effectLst/>
                <a:latin typeface="Consolas" panose="020B0609020204030204" pitchFamily="49" charset="0"/>
              </a:rPr>
              <a:t> local-pv</a:t>
            </a:r>
          </a:p>
        </p:txBody>
      </p:sp>
    </p:spTree>
    <p:extLst>
      <p:ext uri="{BB962C8B-B14F-4D97-AF65-F5344CB8AC3E}">
        <p14:creationId xmlns:p14="http://schemas.microsoft.com/office/powerpoint/2010/main" val="397640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0D9D09-D38C-E079-E6EA-D4F91BF0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00100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B52EB5-6EAE-3B03-96A7-FF586D0F8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897" y="154004"/>
            <a:ext cx="9103534" cy="528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90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A817887-182D-1544-E403-D833B44F9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11" y="125128"/>
            <a:ext cx="11266233" cy="65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1797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425</TotalTime>
  <Words>1965</Words>
  <Application>Microsoft Office PowerPoint</Application>
  <PresentationFormat>와이드스크린</PresentationFormat>
  <Paragraphs>281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9" baseType="lpstr">
      <vt:lpstr>JetBrains Mono</vt:lpstr>
      <vt:lpstr>Pretendard Variable</vt:lpstr>
      <vt:lpstr>Arial</vt:lpstr>
      <vt:lpstr>Calibri</vt:lpstr>
      <vt:lpstr>Calibri Light</vt:lpstr>
      <vt:lpstr>Consolas</vt:lpstr>
      <vt:lpstr>Courier New</vt:lpstr>
      <vt:lpstr>Roboto</vt:lpstr>
      <vt:lpstr>Wingdings</vt:lpstr>
      <vt:lpstr>추억</vt:lpstr>
      <vt:lpstr>kubernates</vt:lpstr>
      <vt:lpstr>Docker Desktop 환경에서 Kubernates설치</vt:lpstr>
      <vt:lpstr>Kubectl </vt:lpstr>
      <vt:lpstr>PowerPoint 프레젠테이션</vt:lpstr>
      <vt:lpstr>2강 기본 명령어</vt:lpstr>
      <vt:lpstr>PowerPoint 프레젠테이션</vt:lpstr>
      <vt:lpstr>PowerPoint 프레젠테이션</vt:lpstr>
      <vt:lpstr>PowerPoint 프레젠테이션</vt:lpstr>
      <vt:lpstr>PowerPoint 프레젠테이션</vt:lpstr>
      <vt:lpstr>3강 Pod란?</vt:lpstr>
      <vt:lpstr>PowerPoint 프레젠테이션</vt:lpstr>
      <vt:lpstr>4강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multi-container pod</vt:lpstr>
      <vt:lpstr>PowerPoint 프레젠테이션</vt:lpstr>
      <vt:lpstr>PowerPoint 프레젠테이션</vt:lpstr>
      <vt:lpstr>Deployment 생성하기 </vt:lpstr>
      <vt:lpstr>PowerPoint 프레젠테이션</vt:lpstr>
      <vt:lpstr>PowerPoint 프레젠테이션</vt:lpstr>
      <vt:lpstr>PowerPoint 프레젠테이션</vt:lpstr>
      <vt:lpstr>PowerPoint 프레젠테이션</vt:lpstr>
      <vt:lpstr>스케일링</vt:lpstr>
      <vt:lpstr>스케일링</vt:lpstr>
      <vt:lpstr>PowerPoint 프레젠테이션</vt:lpstr>
      <vt:lpstr>PowerPoint 프레젠테이션</vt:lpstr>
      <vt:lpstr>롤링 업데이트</vt:lpstr>
      <vt:lpstr>PowerPoint 프레젠테이션</vt:lpstr>
      <vt:lpstr>PowerPoint 프레젠테이션</vt:lpstr>
      <vt:lpstr>PowerPoint 프레젠테이션</vt:lpstr>
      <vt:lpstr>PowerPoint 프레젠테이션</vt:lpstr>
      <vt:lpstr>ClusterIP Service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환경변수를 Pod에 적용하기</vt:lpstr>
      <vt:lpstr>PowerPoint 프레젠테이션</vt:lpstr>
      <vt:lpstr>PowerPoint 프레젠테이션</vt:lpstr>
      <vt:lpstr>Secret 사용하기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90</cp:revision>
  <dcterms:created xsi:type="dcterms:W3CDTF">2026-09-28T01:28:28Z</dcterms:created>
  <dcterms:modified xsi:type="dcterms:W3CDTF">2026-09-28T08:36:45Z</dcterms:modified>
</cp:coreProperties>
</file>