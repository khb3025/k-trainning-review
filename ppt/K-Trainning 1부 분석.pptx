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A15D844-6BCC-4E98-949D-B021B315A5BE}">
          <p14:sldIdLst>
            <p14:sldId id="256"/>
            <p14:sldId id="257"/>
            <p14:sldId id="258"/>
            <p14:sldId id="259"/>
          </p14:sldIdLst>
        </p14:section>
        <p14:section name="MPM프로젝트에서의 이벤트 발행 처리" id="{2B7300A3-35FA-4397-B852-F98856E27B7E}">
          <p14:sldIdLst>
            <p14:sldId id="260"/>
            <p14:sldId id="261"/>
            <p14:sldId id="262"/>
            <p14:sldId id="263"/>
            <p14:sldId id="264"/>
          </p14:sldIdLst>
        </p14:section>
        <p14:section name="도메인의 상속 관계가 많은 이유" id="{C82E7F6F-61F5-48FE-A0B2-4A54700FD22F}">
          <p14:sldIdLst>
            <p14:sldId id="265"/>
          </p14:sldIdLst>
        </p14:section>
        <p14:section name="데이터 초기화" id="{66AD65C7-7463-47C6-8E45-08D11FA7D5D7}">
          <p14:sldIdLst>
            <p14:sldId id="266"/>
            <p14:sldId id="267"/>
          </p14:sldIdLst>
        </p14:section>
        <p14:section name="global 과 share" id="{12D67798-F028-4000-BBF9-1536EC03D7AF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7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32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7FC75-A691-4D1D-A053-2A64AB8A015A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BE1CC-B94A-4C5E-97D4-FEF6A34CDBB4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5043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7FC75-A691-4D1D-A053-2A64AB8A015A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BE1CC-B94A-4C5E-97D4-FEF6A34CDB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6149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7FC75-A691-4D1D-A053-2A64AB8A015A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BE1CC-B94A-4C5E-97D4-FEF6A34CDBB4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2063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7FC75-A691-4D1D-A053-2A64AB8A015A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BE1CC-B94A-4C5E-97D4-FEF6A34CDB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114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7FC75-A691-4D1D-A053-2A64AB8A015A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BE1CC-B94A-4C5E-97D4-FEF6A34CDB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744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7FC75-A691-4D1D-A053-2A64AB8A015A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BE1CC-B94A-4C5E-97D4-FEF6A34CDB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9141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7FC75-A691-4D1D-A053-2A64AB8A015A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BE1CC-B94A-4C5E-97D4-FEF6A34CDB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613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FB7FC75-A691-4D1D-A053-2A64AB8A015A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5BE1CC-B94A-4C5E-97D4-FEF6A34CDB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3528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7FC75-A691-4D1D-A053-2A64AB8A015A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BE1CC-B94A-4C5E-97D4-FEF6A34CDB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0604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7FC75-A691-4D1D-A053-2A64AB8A015A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BE1CC-B94A-4C5E-97D4-FEF6A34CDB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4156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7FC75-A691-4D1D-A053-2A64AB8A015A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BE1CC-B94A-4C5E-97D4-FEF6A34CDB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8426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FB7FC75-A691-4D1D-A053-2A64AB8A015A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E5BE1CC-B94A-4C5E-97D4-FEF6A34CDBB4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1224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C4CC84-DE8C-E66D-D382-3D4648438A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K-Trainning 1</a:t>
            </a:r>
            <a:r>
              <a:rPr lang="ko-KR" altLang="en-US"/>
              <a:t>부 분석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8884B01-EFF5-490B-7EB0-63856026EC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5979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636D0F-2546-C7F1-CD3B-B5FA690CD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용어 개념 정리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362130-EB2B-FB35-5986-C3C8323094A7}"/>
              </a:ext>
            </a:extLst>
          </p:cNvPr>
          <p:cNvSpPr txBox="1"/>
          <p:nvPr/>
        </p:nvSpPr>
        <p:spPr>
          <a:xfrm>
            <a:off x="1226127" y="1870364"/>
            <a:ext cx="98194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DDD</a:t>
            </a:r>
            <a:r>
              <a:rPr lang="ko-KR" altLang="en-US"/>
              <a:t> 정의 요약</a:t>
            </a:r>
            <a:endParaRPr lang="en-US" altLang="ko-KR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b="1">
                <a:solidFill>
                  <a:srgbClr val="FF0000"/>
                </a:solidFill>
              </a:rPr>
              <a:t>업무 규칙</a:t>
            </a:r>
            <a:r>
              <a:rPr lang="ko-KR" altLang="en-US"/>
              <a:t>을 </a:t>
            </a:r>
            <a:r>
              <a:rPr lang="ko-KR" altLang="en-US" b="1">
                <a:solidFill>
                  <a:srgbClr val="FF0000"/>
                </a:solidFill>
              </a:rPr>
              <a:t>팀의 언어</a:t>
            </a:r>
            <a:r>
              <a:rPr lang="ko-KR" altLang="en-US"/>
              <a:t>로 </a:t>
            </a:r>
            <a:r>
              <a:rPr lang="ko-KR" altLang="en-US" b="1">
                <a:solidFill>
                  <a:srgbClr val="FF0000"/>
                </a:solidFill>
              </a:rPr>
              <a:t>경계 안에</a:t>
            </a:r>
            <a:r>
              <a:rPr lang="ko-KR" altLang="en-US"/>
              <a:t> 모아두는 것</a:t>
            </a:r>
            <a:endParaRPr lang="en-US" altLang="ko-KR"/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/>
              <a:t>업무 규칙 </a:t>
            </a:r>
            <a:r>
              <a:rPr lang="en-US" altLang="ko-KR"/>
              <a:t>== </a:t>
            </a:r>
            <a:r>
              <a:rPr lang="ko-KR" altLang="en-US"/>
              <a:t>비지니스 로직</a:t>
            </a:r>
            <a:endParaRPr lang="en-US" altLang="ko-KR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/>
              <a:t>경계 </a:t>
            </a:r>
            <a:r>
              <a:rPr lang="en-US" altLang="ko-KR"/>
              <a:t>== </a:t>
            </a:r>
            <a:r>
              <a:rPr lang="ko-KR" altLang="en-US"/>
              <a:t>바운디드 컨텍스트 </a:t>
            </a:r>
            <a:r>
              <a:rPr lang="en-US" altLang="ko-KR"/>
              <a:t>(</a:t>
            </a:r>
            <a:r>
              <a:rPr lang="ko-KR" altLang="en-US"/>
              <a:t>모듈</a:t>
            </a:r>
            <a:r>
              <a:rPr lang="en-US" altLang="ko-KR"/>
              <a:t>)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/>
              <a:t>팀의 언어 </a:t>
            </a:r>
            <a:r>
              <a:rPr lang="en-US" altLang="ko-KR"/>
              <a:t>== </a:t>
            </a:r>
            <a:r>
              <a:rPr lang="ko-KR" altLang="en-US"/>
              <a:t>유비쿼터스적 언어 </a:t>
            </a:r>
            <a:r>
              <a:rPr lang="en-US" altLang="ko-KR"/>
              <a:t>(</a:t>
            </a:r>
            <a:r>
              <a:rPr lang="ko-KR" altLang="en-US"/>
              <a:t>동음이의어 지양</a:t>
            </a:r>
            <a:r>
              <a:rPr lang="en-US" altLang="ko-KR"/>
              <a:t>)</a:t>
            </a:r>
            <a:br>
              <a:rPr lang="en-US" altLang="ko-KR"/>
            </a:br>
            <a:endParaRPr lang="en-US" altLang="ko-KR"/>
          </a:p>
          <a:p>
            <a:r>
              <a:rPr lang="en-US" altLang="ko-KR"/>
              <a:t>※ DDD</a:t>
            </a:r>
            <a:r>
              <a:rPr lang="ko-KR" altLang="en-US"/>
              <a:t>는 큰 덩어리로 요약하면 </a:t>
            </a:r>
            <a:r>
              <a:rPr lang="en-US" altLang="ko-KR"/>
              <a:t>3</a:t>
            </a:r>
            <a:r>
              <a:rPr lang="ko-KR" altLang="en-US"/>
              <a:t>가지로 구성된다고 보면 된다</a:t>
            </a:r>
            <a:r>
              <a:rPr lang="en-US" altLang="ko-KR"/>
              <a:t>. [</a:t>
            </a:r>
            <a:r>
              <a:rPr lang="ko-KR" altLang="en-US"/>
              <a:t>규칙</a:t>
            </a:r>
            <a:r>
              <a:rPr lang="en-US" altLang="ko-KR"/>
              <a:t>, </a:t>
            </a:r>
            <a:r>
              <a:rPr lang="ko-KR" altLang="en-US"/>
              <a:t>언어</a:t>
            </a:r>
            <a:r>
              <a:rPr lang="en-US" altLang="ko-KR"/>
              <a:t>, </a:t>
            </a:r>
            <a:r>
              <a:rPr lang="ko-KR" altLang="en-US"/>
              <a:t>경계</a:t>
            </a:r>
            <a:r>
              <a:rPr lang="en-US" altLang="ko-KR"/>
              <a:t>]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312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4E5274-A935-4BEF-7866-6460E596B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용어를 정리한 이유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90EC8E-86D5-425F-BD47-FF0AF71DF19C}"/>
              </a:ext>
            </a:extLst>
          </p:cNvPr>
          <p:cNvSpPr txBox="1"/>
          <p:nvPr/>
        </p:nvSpPr>
        <p:spPr>
          <a:xfrm>
            <a:off x="3475973" y="1853850"/>
            <a:ext cx="7991605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주된 이유</a:t>
            </a:r>
            <a:r>
              <a:rPr lang="en-US" altLang="ko-KR" sz="1400"/>
              <a:t>:  </a:t>
            </a:r>
            <a:r>
              <a:rPr lang="ko-KR" altLang="en-US" sz="1400"/>
              <a:t>도메인 주도 패턴에 맞는 설계로 프로젝트를 구성할것이기 때문에</a:t>
            </a:r>
            <a:endParaRPr lang="en-US" altLang="ko-KR" sz="1400"/>
          </a:p>
          <a:p>
            <a:endParaRPr lang="en-US" altLang="ko-KR" sz="1400"/>
          </a:p>
          <a:p>
            <a:r>
              <a:rPr lang="ko-KR" altLang="en-US" sz="1400"/>
              <a:t>각 박스 별로 바운디드 컨텍스트라고 볼 수 있으며</a:t>
            </a:r>
            <a:r>
              <a:rPr lang="en-US" altLang="ko-KR" sz="1400"/>
              <a:t>,</a:t>
            </a:r>
          </a:p>
          <a:p>
            <a:endParaRPr lang="en-US" altLang="ko-KR" sz="1400"/>
          </a:p>
          <a:p>
            <a:r>
              <a:rPr lang="ko-KR" altLang="en-US" sz="1400" b="1"/>
              <a:t>모듈</a:t>
            </a:r>
            <a:r>
              <a:rPr lang="ko-KR" altLang="en-US" sz="1400"/>
              <a:t> 별로 비지니스 로직의 정의와 </a:t>
            </a:r>
            <a:r>
              <a:rPr lang="ko-KR" altLang="en-US" sz="1400" b="1"/>
              <a:t>동음이의어를 지양</a:t>
            </a:r>
            <a:r>
              <a:rPr lang="ko-KR" altLang="en-US" sz="1400"/>
              <a:t>한 코드들로 이루어져있다</a:t>
            </a:r>
            <a:r>
              <a:rPr lang="en-US" altLang="ko-KR" sz="1400"/>
              <a:t>.</a:t>
            </a:r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r>
              <a:rPr lang="en-US" altLang="ko-KR" sz="1400"/>
              <a:t>※ BoundedContext </a:t>
            </a:r>
            <a:r>
              <a:rPr lang="ko-KR" altLang="en-US" sz="1400"/>
              <a:t>내 각 모듈의 패키지 구성 알아보기</a:t>
            </a:r>
            <a:endParaRPr lang="en-US" altLang="ko-KR" sz="1400"/>
          </a:p>
          <a:p>
            <a:r>
              <a:rPr lang="en-US" altLang="ko-KR" sz="1400"/>
              <a:t>in - </a:t>
            </a:r>
            <a:r>
              <a:rPr lang="ko-KR" altLang="en-US" sz="1400"/>
              <a:t>외부 신호에 따라 어떤 일을 시작하는 영역 </a:t>
            </a:r>
            <a:r>
              <a:rPr lang="en-US" altLang="ko-KR" sz="1400"/>
              <a:t>( Controller, EventListener, Scheduler )</a:t>
            </a:r>
          </a:p>
          <a:p>
            <a:endParaRPr lang="en-US" altLang="ko-KR" sz="1400"/>
          </a:p>
          <a:p>
            <a:r>
              <a:rPr lang="en-US" altLang="ko-KR" sz="1400"/>
              <a:t>out - </a:t>
            </a:r>
            <a:r>
              <a:rPr lang="ko-KR" altLang="en-US" sz="1400"/>
              <a:t>변화 결과를 반환하는 영역 </a:t>
            </a:r>
            <a:r>
              <a:rPr lang="en-US" altLang="ko-KR" sz="1400"/>
              <a:t>/ </a:t>
            </a:r>
            <a:r>
              <a:rPr lang="ko-KR" altLang="en-US" sz="1400"/>
              <a:t>외부 서비스와 연동하는 영역</a:t>
            </a:r>
            <a:endParaRPr lang="en-US" altLang="ko-KR" sz="1400"/>
          </a:p>
          <a:p>
            <a:r>
              <a:rPr lang="en-US" altLang="ko-KR" sz="1400"/>
              <a:t>           ( Repository,  ApiClient )</a:t>
            </a:r>
          </a:p>
          <a:p>
            <a:endParaRPr lang="en-US" altLang="ko-KR" sz="1400"/>
          </a:p>
          <a:p>
            <a:r>
              <a:rPr lang="en-US" altLang="ko-KR" sz="1400"/>
              <a:t>app - </a:t>
            </a:r>
            <a:r>
              <a:rPr lang="ko-KR" altLang="en-US" sz="1400"/>
              <a:t>서비스 영역 </a:t>
            </a:r>
            <a:r>
              <a:rPr lang="en-US" altLang="ko-KR" sz="1400"/>
              <a:t>( </a:t>
            </a:r>
            <a:r>
              <a:rPr lang="ko-KR" altLang="en-US" sz="1400"/>
              <a:t>서비스는 </a:t>
            </a:r>
            <a:r>
              <a:rPr lang="en-US" altLang="ko-KR" sz="1400"/>
              <a:t>Facade </a:t>
            </a:r>
            <a:r>
              <a:rPr lang="ko-KR" altLang="en-US" sz="1400"/>
              <a:t>와 </a:t>
            </a:r>
            <a:r>
              <a:rPr lang="en-US" altLang="ko-KR" sz="1400"/>
              <a:t>UseCase </a:t>
            </a:r>
            <a:r>
              <a:rPr lang="ko-KR" altLang="en-US" sz="1400"/>
              <a:t>로 나뉘어짐</a:t>
            </a:r>
            <a:r>
              <a:rPr lang="en-US" altLang="ko-KR" sz="1400"/>
              <a:t>)</a:t>
            </a:r>
            <a:br>
              <a:rPr lang="en-US" altLang="ko-KR" sz="1400"/>
            </a:br>
            <a:r>
              <a:rPr lang="en-US" altLang="ko-KR" sz="1400"/>
              <a:t>        - facade &gt; in </a:t>
            </a:r>
            <a:r>
              <a:rPr lang="ko-KR" altLang="en-US" sz="1400"/>
              <a:t>영역의 파일들은 </a:t>
            </a:r>
            <a:r>
              <a:rPr lang="en-US" altLang="ko-KR" sz="1400"/>
              <a:t>UseCase</a:t>
            </a:r>
            <a:r>
              <a:rPr lang="ko-KR" altLang="en-US" sz="1400"/>
              <a:t>를 사용할 수 없음 </a:t>
            </a:r>
            <a:r>
              <a:rPr lang="en-US" altLang="ko-KR" sz="1400"/>
              <a:t>facade</a:t>
            </a:r>
            <a:r>
              <a:rPr lang="ko-KR" altLang="en-US" sz="1400"/>
              <a:t>를 통해야 한다</a:t>
            </a:r>
            <a:r>
              <a:rPr lang="en-US" altLang="ko-KR" sz="1400"/>
              <a:t>.</a:t>
            </a:r>
            <a:br>
              <a:rPr lang="en-US" altLang="ko-KR" sz="1400"/>
            </a:br>
            <a:r>
              <a:rPr lang="en-US" altLang="ko-KR" sz="1400"/>
              <a:t>        - usecase</a:t>
            </a:r>
            <a:r>
              <a:rPr lang="ko-KR" altLang="en-US" sz="1400"/>
              <a:t> </a:t>
            </a:r>
            <a:r>
              <a:rPr lang="en-US" altLang="ko-KR" sz="1400"/>
              <a:t>&gt;</a:t>
            </a:r>
            <a:r>
              <a:rPr lang="ko-KR" altLang="en-US" sz="1400"/>
              <a:t> 실질적인 비지니스 로직 </a:t>
            </a:r>
            <a:endParaRPr lang="en-US" altLang="ko-KR" sz="1400"/>
          </a:p>
          <a:p>
            <a:endParaRPr lang="en-US" altLang="ko-KR" sz="1400"/>
          </a:p>
          <a:p>
            <a:r>
              <a:rPr lang="en-US" altLang="ko-KR" sz="1400"/>
              <a:t>domain - </a:t>
            </a:r>
            <a:r>
              <a:rPr lang="ko-KR" altLang="en-US" sz="1400"/>
              <a:t>순수 비지니스 로직 구현 영역 </a:t>
            </a:r>
            <a:r>
              <a:rPr lang="en-US" altLang="ko-KR" sz="1400"/>
              <a:t>(Entity)        </a:t>
            </a:r>
            <a:endParaRPr lang="ko-KR" altLang="en-US" sz="140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57995F9-08C1-993E-1C41-905DDB3E02F2}"/>
              </a:ext>
            </a:extLst>
          </p:cNvPr>
          <p:cNvGrpSpPr/>
          <p:nvPr/>
        </p:nvGrpSpPr>
        <p:grpSpPr>
          <a:xfrm>
            <a:off x="1212842" y="1853850"/>
            <a:ext cx="2212114" cy="4677165"/>
            <a:chOff x="1212842" y="1853850"/>
            <a:chExt cx="2212114" cy="4677165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5203AF4B-4C03-6744-C70C-E057B7F8E2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41581" b="1"/>
            <a:stretch>
              <a:fillRect/>
            </a:stretch>
          </p:blipFill>
          <p:spPr>
            <a:xfrm>
              <a:off x="1212842" y="3697357"/>
              <a:ext cx="2212113" cy="2824563"/>
            </a:xfrm>
            <a:prstGeom prst="rect">
              <a:avLst/>
            </a:prstGeom>
          </p:spPr>
        </p:pic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678E18A5-3BD7-7297-B8D1-7F23A6DB3603}"/>
                </a:ext>
              </a:extLst>
            </p:cNvPr>
            <p:cNvGrpSpPr/>
            <p:nvPr/>
          </p:nvGrpSpPr>
          <p:grpSpPr>
            <a:xfrm>
              <a:off x="1212843" y="1853850"/>
              <a:ext cx="2212113" cy="4677165"/>
              <a:chOff x="1188990" y="1853850"/>
              <a:chExt cx="2212113" cy="4677165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3296B4C8-8A79-6EE9-F6BB-D667AEA812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b="61872"/>
              <a:stretch>
                <a:fillRect/>
              </a:stretch>
            </p:blipFill>
            <p:spPr>
              <a:xfrm>
                <a:off x="1188990" y="1853850"/>
                <a:ext cx="2212113" cy="1843507"/>
              </a:xfrm>
              <a:prstGeom prst="rect">
                <a:avLst/>
              </a:prstGeom>
            </p:spPr>
          </p:pic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E5E9DFD1-8F25-8BD4-0190-5CF74B585CF4}"/>
                  </a:ext>
                </a:extLst>
              </p:cNvPr>
              <p:cNvSpPr/>
              <p:nvPr/>
            </p:nvSpPr>
            <p:spPr>
              <a:xfrm>
                <a:off x="1752762" y="4874150"/>
                <a:ext cx="1483421" cy="1656865"/>
              </a:xfrm>
              <a:prstGeom prst="rect">
                <a:avLst/>
              </a:prstGeom>
              <a:noFill/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FC2C8094-81DF-3D6E-B8D5-3954A60B40BC}"/>
                  </a:ext>
                </a:extLst>
              </p:cNvPr>
              <p:cNvSpPr/>
              <p:nvPr/>
            </p:nvSpPr>
            <p:spPr>
              <a:xfrm>
                <a:off x="1758219" y="2918129"/>
                <a:ext cx="1477964" cy="195602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8397A93-4687-71F7-ADFD-69232D22F009}"/>
                </a:ext>
              </a:extLst>
            </p:cNvPr>
            <p:cNvSpPr/>
            <p:nvPr/>
          </p:nvSpPr>
          <p:spPr>
            <a:xfrm>
              <a:off x="1776615" y="2775603"/>
              <a:ext cx="1477964" cy="138550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26522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A1B7F6-ED7D-E97E-BBF5-AD77505DE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/>
              <a:t>모놀리식 아키텍처에서의 결합도 분리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6DFE12F9-445D-B6B5-1D48-A57902D427FF}"/>
              </a:ext>
            </a:extLst>
          </p:cNvPr>
          <p:cNvGrpSpPr/>
          <p:nvPr/>
        </p:nvGrpSpPr>
        <p:grpSpPr>
          <a:xfrm>
            <a:off x="1321496" y="2085584"/>
            <a:ext cx="3713967" cy="2617939"/>
            <a:chOff x="1321496" y="2085584"/>
            <a:chExt cx="3713967" cy="2617939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BDC2CF19-541F-CEE9-2841-4AFA55B6343B}"/>
                </a:ext>
              </a:extLst>
            </p:cNvPr>
            <p:cNvSpPr/>
            <p:nvPr/>
          </p:nvSpPr>
          <p:spPr>
            <a:xfrm>
              <a:off x="1321496" y="2085584"/>
              <a:ext cx="3713967" cy="261793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381221B6-269A-B59B-A4C1-E6E3609030DA}"/>
                </a:ext>
              </a:extLst>
            </p:cNvPr>
            <p:cNvSpPr/>
            <p:nvPr/>
          </p:nvSpPr>
          <p:spPr>
            <a:xfrm>
              <a:off x="1521912" y="2235896"/>
              <a:ext cx="1340285" cy="102087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회원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D3536B7B-0233-E634-8ED2-E25709A51173}"/>
                </a:ext>
              </a:extLst>
            </p:cNvPr>
            <p:cNvSpPr/>
            <p:nvPr/>
          </p:nvSpPr>
          <p:spPr>
            <a:xfrm>
              <a:off x="3411254" y="2235896"/>
              <a:ext cx="1340285" cy="102087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댓글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EE02C74-608E-0CEF-BD78-9D3E08E31A39}"/>
                </a:ext>
              </a:extLst>
            </p:cNvPr>
            <p:cNvSpPr/>
            <p:nvPr/>
          </p:nvSpPr>
          <p:spPr>
            <a:xfrm>
              <a:off x="1521912" y="3469709"/>
              <a:ext cx="1340285" cy="102087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결제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CA861A8-790E-01AE-7DD4-952EE6234548}"/>
                </a:ext>
              </a:extLst>
            </p:cNvPr>
            <p:cNvSpPr/>
            <p:nvPr/>
          </p:nvSpPr>
          <p:spPr>
            <a:xfrm>
              <a:off x="3411254" y="3469709"/>
              <a:ext cx="1340285" cy="102087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주문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E197607-29FA-02D0-DBD2-526D73908961}"/>
              </a:ext>
            </a:extLst>
          </p:cNvPr>
          <p:cNvSpPr txBox="1"/>
          <p:nvPr/>
        </p:nvSpPr>
        <p:spPr>
          <a:xfrm>
            <a:off x="1270349" y="4816072"/>
            <a:ext cx="375780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/>
              <a:t>기존 모놀리식 구성</a:t>
            </a:r>
            <a:endParaRPr lang="en-US" altLang="ko-KR" sz="1050"/>
          </a:p>
          <a:p>
            <a:endParaRPr lang="en-US" altLang="ko-KR" sz="1050"/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ko-KR" altLang="en-US" sz="1050">
                <a:sym typeface="Wingdings" panose="05000000000000000000" pitchFamily="2" charset="2"/>
              </a:rPr>
              <a:t>댓글을 작성시 댓글 서비스에서 회원정보를 </a:t>
            </a:r>
            <a:br>
              <a:rPr lang="en-US" altLang="ko-KR" sz="1050">
                <a:sym typeface="Wingdings" panose="05000000000000000000" pitchFamily="2" charset="2"/>
              </a:rPr>
            </a:br>
            <a:r>
              <a:rPr lang="ko-KR" altLang="en-US" sz="1050">
                <a:sym typeface="Wingdings" panose="05000000000000000000" pitchFamily="2" charset="2"/>
              </a:rPr>
              <a:t>회원 서비스에서 가져옴</a:t>
            </a:r>
            <a:r>
              <a:rPr lang="en-US" altLang="ko-KR" sz="1050">
                <a:sym typeface="Wingdings" panose="05000000000000000000" pitchFamily="2" charset="2"/>
              </a:rPr>
              <a:t>.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ko-KR" altLang="en-US" sz="1050">
                <a:sym typeface="Wingdings" panose="05000000000000000000" pitchFamily="2" charset="2"/>
              </a:rPr>
              <a:t>댓글 서비스는 회원서비스에 대해 의존적이라고 할 수 있음</a:t>
            </a:r>
            <a:r>
              <a:rPr lang="en-US" altLang="ko-KR" sz="1050">
                <a:sym typeface="Wingdings" panose="05000000000000000000" pitchFamily="2" charset="2"/>
              </a:rPr>
              <a:t>.</a:t>
            </a:r>
            <a:endParaRPr lang="ko-KR" altLang="en-US" sz="1050"/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6C917C99-2721-BE33-8127-D4F2412A1941}"/>
              </a:ext>
            </a:extLst>
          </p:cNvPr>
          <p:cNvCxnSpPr>
            <a:cxnSpLocks/>
            <a:stCxn id="5" idx="1"/>
            <a:endCxn id="4" idx="3"/>
          </p:cNvCxnSpPr>
          <p:nvPr/>
        </p:nvCxnSpPr>
        <p:spPr>
          <a:xfrm flipH="1">
            <a:off x="2862197" y="2746332"/>
            <a:ext cx="54905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CA8A9C5-D4D6-5BCA-3EBD-56DCCC4B2FD8}"/>
              </a:ext>
            </a:extLst>
          </p:cNvPr>
          <p:cNvSpPr txBox="1"/>
          <p:nvPr/>
        </p:nvSpPr>
        <p:spPr>
          <a:xfrm>
            <a:off x="2240072" y="2877189"/>
            <a:ext cx="20031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댓글 작성 시 회원 활동 점수 증가</a:t>
            </a: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A12D85CD-71EB-9776-9FB9-4918DE0450D2}"/>
              </a:ext>
            </a:extLst>
          </p:cNvPr>
          <p:cNvGrpSpPr/>
          <p:nvPr/>
        </p:nvGrpSpPr>
        <p:grpSpPr>
          <a:xfrm>
            <a:off x="6684723" y="2024519"/>
            <a:ext cx="4050082" cy="4342382"/>
            <a:chOff x="6684723" y="2024519"/>
            <a:chExt cx="4525468" cy="4844979"/>
          </a:xfrm>
        </p:grpSpPr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EF2FBCE3-7541-A540-9592-DD04AB4EEEDD}"/>
                </a:ext>
              </a:extLst>
            </p:cNvPr>
            <p:cNvGrpSpPr/>
            <p:nvPr/>
          </p:nvGrpSpPr>
          <p:grpSpPr>
            <a:xfrm>
              <a:off x="6684723" y="2024519"/>
              <a:ext cx="3713967" cy="3505721"/>
              <a:chOff x="6684723" y="2024519"/>
              <a:chExt cx="3713967" cy="3505721"/>
            </a:xfrm>
          </p:grpSpPr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3602A51B-6241-F4CC-6A9A-B0ACA2B4F78D}"/>
                  </a:ext>
                </a:extLst>
              </p:cNvPr>
              <p:cNvGrpSpPr/>
              <p:nvPr/>
            </p:nvGrpSpPr>
            <p:grpSpPr>
              <a:xfrm>
                <a:off x="6684723" y="2912301"/>
                <a:ext cx="3713967" cy="2617939"/>
                <a:chOff x="1321496" y="2085584"/>
                <a:chExt cx="3713967" cy="2617939"/>
              </a:xfrm>
            </p:grpSpPr>
            <p:sp>
              <p:nvSpPr>
                <p:cNvPr id="11" name="직사각형 10">
                  <a:extLst>
                    <a:ext uri="{FF2B5EF4-FFF2-40B4-BE49-F238E27FC236}">
                      <a16:creationId xmlns:a16="http://schemas.microsoft.com/office/drawing/2014/main" id="{D90F249D-1382-CB5B-DFB3-BC78DD4CB45F}"/>
                    </a:ext>
                  </a:extLst>
                </p:cNvPr>
                <p:cNvSpPr/>
                <p:nvPr/>
              </p:nvSpPr>
              <p:spPr>
                <a:xfrm>
                  <a:off x="1321496" y="2085584"/>
                  <a:ext cx="3713967" cy="2617939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" name="직사각형 11">
                  <a:extLst>
                    <a:ext uri="{FF2B5EF4-FFF2-40B4-BE49-F238E27FC236}">
                      <a16:creationId xmlns:a16="http://schemas.microsoft.com/office/drawing/2014/main" id="{BC4EB2BA-662F-0E2E-18BB-367EF8C04FA5}"/>
                    </a:ext>
                  </a:extLst>
                </p:cNvPr>
                <p:cNvSpPr/>
                <p:nvPr/>
              </p:nvSpPr>
              <p:spPr>
                <a:xfrm>
                  <a:off x="1521912" y="2235896"/>
                  <a:ext cx="1340285" cy="10208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/>
                    <a:t>회원</a:t>
                  </a:r>
                </a:p>
              </p:txBody>
            </p:sp>
            <p:sp>
              <p:nvSpPr>
                <p:cNvPr id="13" name="직사각형 12">
                  <a:extLst>
                    <a:ext uri="{FF2B5EF4-FFF2-40B4-BE49-F238E27FC236}">
                      <a16:creationId xmlns:a16="http://schemas.microsoft.com/office/drawing/2014/main" id="{55037C1D-CFC2-0517-2875-5AB0AEACE62E}"/>
                    </a:ext>
                  </a:extLst>
                </p:cNvPr>
                <p:cNvSpPr/>
                <p:nvPr/>
              </p:nvSpPr>
              <p:spPr>
                <a:xfrm>
                  <a:off x="3411254" y="2235896"/>
                  <a:ext cx="1340285" cy="10208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/>
                    <a:t>댓글</a:t>
                  </a:r>
                </a:p>
              </p:txBody>
            </p:sp>
            <p:sp>
              <p:nvSpPr>
                <p:cNvPr id="14" name="직사각형 13">
                  <a:extLst>
                    <a:ext uri="{FF2B5EF4-FFF2-40B4-BE49-F238E27FC236}">
                      <a16:creationId xmlns:a16="http://schemas.microsoft.com/office/drawing/2014/main" id="{EB95C67B-59D5-D0A0-EB87-6735FCF32323}"/>
                    </a:ext>
                  </a:extLst>
                </p:cNvPr>
                <p:cNvSpPr/>
                <p:nvPr/>
              </p:nvSpPr>
              <p:spPr>
                <a:xfrm>
                  <a:off x="1521912" y="3469709"/>
                  <a:ext cx="1340285" cy="10208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/>
                    <a:t>결제</a:t>
                  </a:r>
                </a:p>
              </p:txBody>
            </p:sp>
            <p:sp>
              <p:nvSpPr>
                <p:cNvPr id="15" name="직사각형 14">
                  <a:extLst>
                    <a:ext uri="{FF2B5EF4-FFF2-40B4-BE49-F238E27FC236}">
                      <a16:creationId xmlns:a16="http://schemas.microsoft.com/office/drawing/2014/main" id="{823BB3D7-B330-F96F-0B06-C0AC4294E37E}"/>
                    </a:ext>
                  </a:extLst>
                </p:cNvPr>
                <p:cNvSpPr/>
                <p:nvPr/>
              </p:nvSpPr>
              <p:spPr>
                <a:xfrm>
                  <a:off x="3411254" y="3469709"/>
                  <a:ext cx="1340285" cy="10208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/>
                    <a:t>주문</a:t>
                  </a:r>
                </a:p>
              </p:txBody>
            </p:sp>
          </p:grpSp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ABBBE5CC-56DB-D37C-ABCD-76D468695A1E}"/>
                  </a:ext>
                </a:extLst>
              </p:cNvPr>
              <p:cNvSpPr/>
              <p:nvPr/>
            </p:nvSpPr>
            <p:spPr>
              <a:xfrm>
                <a:off x="7779706" y="2024519"/>
                <a:ext cx="1567842" cy="46659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>
                    <a:solidFill>
                      <a:schemeClr val="tx1"/>
                    </a:solidFill>
                  </a:rPr>
                  <a:t>댓글</a:t>
                </a:r>
                <a:r>
                  <a:rPr lang="en-US" altLang="ko-KR" sz="1050">
                    <a:solidFill>
                      <a:schemeClr val="tx1"/>
                    </a:solidFill>
                  </a:rPr>
                  <a:t>-</a:t>
                </a:r>
                <a:r>
                  <a:rPr lang="ko-KR" altLang="en-US" sz="1050">
                    <a:solidFill>
                      <a:schemeClr val="tx1"/>
                    </a:solidFill>
                  </a:rPr>
                  <a:t>회원 이벤트</a:t>
                </a:r>
                <a:r>
                  <a:rPr lang="en-US" altLang="ko-KR" sz="1050">
                    <a:solidFill>
                      <a:schemeClr val="tx1"/>
                    </a:solidFill>
                  </a:rPr>
                  <a:t> </a:t>
                </a:r>
                <a:r>
                  <a:rPr lang="ko-KR" altLang="en-US" sz="1050">
                    <a:solidFill>
                      <a:schemeClr val="tx1"/>
                    </a:solidFill>
                  </a:rPr>
                  <a:t>또는 </a:t>
                </a:r>
                <a:r>
                  <a:rPr lang="en-US" altLang="ko-KR" sz="1050">
                    <a:solidFill>
                      <a:schemeClr val="tx1"/>
                    </a:solidFill>
                  </a:rPr>
                  <a:t>RestClient</a:t>
                </a:r>
                <a:r>
                  <a:rPr lang="ko-KR" altLang="en-US" sz="1050">
                    <a:solidFill>
                      <a:schemeClr val="tx1"/>
                    </a:solidFill>
                  </a:rPr>
                  <a:t>요청</a:t>
                </a:r>
              </a:p>
            </p:txBody>
          </p:sp>
          <p:cxnSp>
            <p:nvCxnSpPr>
              <p:cNvPr id="18" name="직선 화살표 연결선 17">
                <a:extLst>
                  <a:ext uri="{FF2B5EF4-FFF2-40B4-BE49-F238E27FC236}">
                    <a16:creationId xmlns:a16="http://schemas.microsoft.com/office/drawing/2014/main" id="{912D051D-5658-1239-CD83-E31FDA4ECA61}"/>
                  </a:ext>
                </a:extLst>
              </p:cNvPr>
              <p:cNvCxnSpPr>
                <a:stCxn id="13" idx="0"/>
                <a:endCxn id="16" idx="2"/>
              </p:cNvCxnSpPr>
              <p:nvPr/>
            </p:nvCxnSpPr>
            <p:spPr>
              <a:xfrm flipH="1" flipV="1">
                <a:off x="8563627" y="2491113"/>
                <a:ext cx="880997" cy="571500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화살표 연결선 19">
                <a:extLst>
                  <a:ext uri="{FF2B5EF4-FFF2-40B4-BE49-F238E27FC236}">
                    <a16:creationId xmlns:a16="http://schemas.microsoft.com/office/drawing/2014/main" id="{5076FC7C-D50E-936B-2A9F-51CF8436552A}"/>
                  </a:ext>
                </a:extLst>
              </p:cNvPr>
              <p:cNvCxnSpPr>
                <a:cxnSpLocks/>
                <a:stCxn id="16" idx="2"/>
                <a:endCxn id="12" idx="0"/>
              </p:cNvCxnSpPr>
              <p:nvPr/>
            </p:nvCxnSpPr>
            <p:spPr>
              <a:xfrm flipH="1">
                <a:off x="7555282" y="2491113"/>
                <a:ext cx="1008345" cy="571500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A28AD588-9030-8624-B993-382A9ACF817F}"/>
                  </a:ext>
                </a:extLst>
              </p:cNvPr>
              <p:cNvCxnSpPr>
                <a:cxnSpLocks/>
                <a:stCxn id="11" idx="0"/>
                <a:endCxn id="11" idx="2"/>
              </p:cNvCxnSpPr>
              <p:nvPr/>
            </p:nvCxnSpPr>
            <p:spPr>
              <a:xfrm>
                <a:off x="8541707" y="2912301"/>
                <a:ext cx="0" cy="261793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94B9020C-9656-CBD0-FB7B-580AA6DAA1ED}"/>
                  </a:ext>
                </a:extLst>
              </p:cNvPr>
              <p:cNvCxnSpPr>
                <a:cxnSpLocks/>
                <a:stCxn id="11" idx="1"/>
                <a:endCxn id="11" idx="3"/>
              </p:cNvCxnSpPr>
              <p:nvPr/>
            </p:nvCxnSpPr>
            <p:spPr>
              <a:xfrm>
                <a:off x="6684723" y="4221271"/>
                <a:ext cx="371396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CD7D76E-85E2-C366-F751-FB9099E742E6}"/>
                </a:ext>
              </a:extLst>
            </p:cNvPr>
            <p:cNvSpPr txBox="1"/>
            <p:nvPr/>
          </p:nvSpPr>
          <p:spPr>
            <a:xfrm>
              <a:off x="9004125" y="2537087"/>
              <a:ext cx="2206066" cy="257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/>
                <a:t>댓글 작성 시 회원 활동 점수 증가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4B19046-F989-3741-32EC-A772E76C4469}"/>
                </a:ext>
              </a:extLst>
            </p:cNvPr>
            <p:cNvSpPr txBox="1"/>
            <p:nvPr/>
          </p:nvSpPr>
          <p:spPr>
            <a:xfrm>
              <a:off x="6684723" y="5530240"/>
              <a:ext cx="4525468" cy="13392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/>
                <a:t>MPM</a:t>
              </a:r>
              <a:r>
                <a:rPr lang="ko-KR" altLang="en-US" sz="900"/>
                <a:t>구성 </a:t>
              </a:r>
              <a:r>
                <a:rPr lang="en-US" altLang="ko-KR" sz="900"/>
                <a:t>(</a:t>
              </a:r>
              <a:r>
                <a:rPr lang="ko-KR" altLang="en-US" sz="900"/>
                <a:t>모놀리식에서 결합도 제거</a:t>
              </a:r>
              <a:r>
                <a:rPr lang="en-US" altLang="ko-KR" sz="900"/>
                <a:t>)</a:t>
              </a:r>
              <a:br>
                <a:rPr lang="en-US" altLang="ko-KR" sz="900"/>
              </a:br>
              <a:endParaRPr lang="en-US" altLang="ko-KR" sz="900"/>
            </a:p>
            <a:p>
              <a:r>
                <a:rPr lang="en-US" altLang="ko-KR" sz="900">
                  <a:sym typeface="Wingdings" panose="05000000000000000000" pitchFamily="2" charset="2"/>
                </a:rPr>
                <a:t> </a:t>
              </a:r>
              <a:r>
                <a:rPr lang="ko-KR" altLang="en-US" sz="900">
                  <a:sym typeface="Wingdings" panose="05000000000000000000" pitchFamily="2" charset="2"/>
                </a:rPr>
                <a:t>댓글 작성시 회원점수를 올리는 로직을</a:t>
              </a:r>
              <a:br>
                <a:rPr lang="en-US" altLang="ko-KR" sz="900">
                  <a:sym typeface="Wingdings" panose="05000000000000000000" pitchFamily="2" charset="2"/>
                </a:rPr>
              </a:br>
              <a:r>
                <a:rPr lang="en-US" altLang="ko-KR" sz="900">
                  <a:sym typeface="Wingdings" panose="05000000000000000000" pitchFamily="2" charset="2"/>
                </a:rPr>
                <a:t>     ( EventPublisher , EventListener ) </a:t>
              </a:r>
              <a:r>
                <a:rPr lang="ko-KR" altLang="en-US" sz="900">
                  <a:sym typeface="Wingdings" panose="05000000000000000000" pitchFamily="2" charset="2"/>
                </a:rPr>
                <a:t>를 사용하여 처리하거나</a:t>
              </a:r>
              <a:r>
                <a:rPr lang="en-US" altLang="ko-KR" sz="900">
                  <a:sym typeface="Wingdings" panose="05000000000000000000" pitchFamily="2" charset="2"/>
                </a:rPr>
                <a:t>,</a:t>
              </a:r>
              <a:br>
                <a:rPr lang="en-US" altLang="ko-KR" sz="900">
                  <a:sym typeface="Wingdings" panose="05000000000000000000" pitchFamily="2" charset="2"/>
                </a:rPr>
              </a:br>
              <a:r>
                <a:rPr lang="en-US" altLang="ko-KR" sz="900">
                  <a:sym typeface="Wingdings" panose="05000000000000000000" pitchFamily="2" charset="2"/>
                </a:rPr>
                <a:t>     </a:t>
              </a:r>
              <a:r>
                <a:rPr lang="ko-KR" altLang="en-US" sz="900">
                  <a:sym typeface="Wingdings" panose="05000000000000000000" pitchFamily="2" charset="2"/>
                </a:rPr>
                <a:t>회원에 관한 반환 정보가 필요할 경우 </a:t>
              </a:r>
              <a:r>
                <a:rPr lang="en-US" altLang="ko-KR" sz="900">
                  <a:sym typeface="Wingdings" panose="05000000000000000000" pitchFamily="2" charset="2"/>
                </a:rPr>
                <a:t>RestClient</a:t>
              </a:r>
              <a:r>
                <a:rPr lang="ko-KR" altLang="en-US" sz="900">
                  <a:sym typeface="Wingdings" panose="05000000000000000000" pitchFamily="2" charset="2"/>
                </a:rPr>
                <a:t>를 사용</a:t>
              </a:r>
              <a:br>
                <a:rPr lang="en-US" altLang="ko-KR" sz="900">
                  <a:sym typeface="Wingdings" panose="05000000000000000000" pitchFamily="2" charset="2"/>
                </a:rPr>
              </a:br>
              <a:r>
                <a:rPr lang="en-US" altLang="ko-KR" sz="900">
                  <a:sym typeface="Wingdings" panose="05000000000000000000" pitchFamily="2" charset="2"/>
                </a:rPr>
                <a:t> </a:t>
              </a:r>
              <a:r>
                <a:rPr lang="ko-KR" altLang="en-US" sz="900">
                  <a:sym typeface="Wingdings" panose="05000000000000000000" pitchFamily="2" charset="2"/>
                </a:rPr>
                <a:t>댓글 서비스 입장에선 회원서비스를 불러오는게 아니라</a:t>
              </a:r>
              <a:r>
                <a:rPr lang="en-US" altLang="ko-KR" sz="900">
                  <a:sym typeface="Wingdings" panose="05000000000000000000" pitchFamily="2" charset="2"/>
                </a:rPr>
                <a:t>.</a:t>
              </a:r>
              <a:br>
                <a:rPr lang="en-US" altLang="ko-KR" sz="900">
                  <a:sym typeface="Wingdings" panose="05000000000000000000" pitchFamily="2" charset="2"/>
                </a:rPr>
              </a:br>
              <a:r>
                <a:rPr lang="en-US" altLang="ko-KR" sz="900">
                  <a:sym typeface="Wingdings" panose="05000000000000000000" pitchFamily="2" charset="2"/>
                </a:rPr>
                <a:t>      </a:t>
              </a:r>
              <a:r>
                <a:rPr lang="ko-KR" altLang="en-US" sz="900">
                  <a:sym typeface="Wingdings" panose="05000000000000000000" pitchFamily="2" charset="2"/>
                </a:rPr>
                <a:t>이벤트를 발생시키고 끝을 내거나 공유된 </a:t>
              </a:r>
              <a:r>
                <a:rPr lang="en-US" altLang="ko-KR" sz="900">
                  <a:sym typeface="Wingdings" panose="05000000000000000000" pitchFamily="2" charset="2"/>
                </a:rPr>
                <a:t>API </a:t>
              </a:r>
              <a:r>
                <a:rPr lang="ko-KR" altLang="en-US" sz="900">
                  <a:sym typeface="Wingdings" panose="05000000000000000000" pitchFamily="2" charset="2"/>
                </a:rPr>
                <a:t>요청객체를 이용함으로써</a:t>
              </a:r>
              <a:r>
                <a:rPr lang="en-US" altLang="ko-KR" sz="900">
                  <a:sym typeface="Wingdings" panose="05000000000000000000" pitchFamily="2" charset="2"/>
                </a:rPr>
                <a:t>,</a:t>
              </a:r>
              <a:br>
                <a:rPr lang="en-US" altLang="ko-KR" sz="900">
                  <a:sym typeface="Wingdings" panose="05000000000000000000" pitchFamily="2" charset="2"/>
                </a:rPr>
              </a:br>
              <a:r>
                <a:rPr lang="en-US" altLang="ko-KR" sz="900">
                  <a:sym typeface="Wingdings" panose="05000000000000000000" pitchFamily="2" charset="2"/>
                </a:rPr>
                <a:t>      </a:t>
              </a:r>
              <a:r>
                <a:rPr lang="ko-KR" altLang="en-US" sz="900">
                  <a:sym typeface="Wingdings" panose="05000000000000000000" pitchFamily="2" charset="2"/>
                </a:rPr>
                <a:t>회원 서비스와의 결합도를 완전히 제거</a:t>
              </a:r>
              <a:endParaRPr lang="ko-KR" alt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3291590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FBC80A-B81E-9C13-31FA-764EBBF16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비지니스 로직 이벤트 발행 및 처리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C3D6AF7-19F2-469A-FC44-899C83D8CE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7178"/>
          <a:stretch>
            <a:fillRect/>
          </a:stretch>
        </p:blipFill>
        <p:spPr>
          <a:xfrm>
            <a:off x="103366" y="1849852"/>
            <a:ext cx="5058481" cy="24836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DAD379-4805-E740-6DFF-90FC2982DAC8}"/>
              </a:ext>
            </a:extLst>
          </p:cNvPr>
          <p:cNvSpPr txBox="1"/>
          <p:nvPr/>
        </p:nvSpPr>
        <p:spPr>
          <a:xfrm>
            <a:off x="5351228" y="1849852"/>
            <a:ext cx="6432605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/>
              <a:t>※ </a:t>
            </a:r>
            <a:r>
              <a:rPr lang="ko-KR" altLang="en-US" sz="1200" b="1"/>
              <a:t>생각해 보기</a:t>
            </a:r>
            <a:endParaRPr lang="en-US" altLang="ko-KR" sz="1200" b="1"/>
          </a:p>
          <a:p>
            <a:endParaRPr lang="en-US" altLang="ko-KR" sz="1200" b="1"/>
          </a:p>
          <a:p>
            <a:pPr marL="228600" indent="-228600">
              <a:buAutoNum type="arabicPeriod"/>
            </a:pPr>
            <a:r>
              <a:rPr lang="ko-KR" altLang="en-US" sz="1100"/>
              <a:t>댓글을 작성은 어디 영역에서</a:t>
            </a:r>
            <a:r>
              <a:rPr lang="en-US" altLang="ko-KR" sz="1100"/>
              <a:t>? </a:t>
            </a:r>
            <a:r>
              <a:rPr lang="en-US" altLang="ko-KR" sz="1100">
                <a:sym typeface="Wingdings" panose="05000000000000000000" pitchFamily="2" charset="2"/>
              </a:rPr>
              <a:t> </a:t>
            </a:r>
            <a:r>
              <a:rPr lang="ko-KR" altLang="en-US" sz="1100">
                <a:sym typeface="Wingdings" panose="05000000000000000000" pitchFamily="2" charset="2"/>
              </a:rPr>
              <a:t>댓글 서비스 </a:t>
            </a:r>
            <a:r>
              <a:rPr lang="en-US" altLang="ko-KR" sz="1100">
                <a:sym typeface="Wingdings" panose="05000000000000000000" pitchFamily="2" charset="2"/>
              </a:rPr>
              <a:t>= PostFacade , PostUsecase</a:t>
            </a:r>
          </a:p>
          <a:p>
            <a:pPr marL="228600" indent="-228600">
              <a:buAutoNum type="arabicPeriod"/>
            </a:pPr>
            <a:r>
              <a:rPr lang="ko-KR" altLang="en-US" sz="1100">
                <a:sym typeface="Wingdings" panose="05000000000000000000" pitchFamily="2" charset="2"/>
              </a:rPr>
              <a:t>활동 점수에 관한 이벤트의 발행은</a:t>
            </a:r>
            <a:r>
              <a:rPr lang="en-US" altLang="ko-KR" sz="1100">
                <a:sym typeface="Wingdings" panose="05000000000000000000" pitchFamily="2" charset="2"/>
              </a:rPr>
              <a:t>? </a:t>
            </a:r>
            <a:r>
              <a:rPr lang="ko-KR" altLang="en-US" sz="1100">
                <a:sym typeface="Wingdings" panose="05000000000000000000" pitchFamily="2" charset="2"/>
              </a:rPr>
              <a:t>댓글 저장 후 활동점수 증가 요청이 있어야 함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= PostUsecase</a:t>
            </a:r>
          </a:p>
          <a:p>
            <a:pPr marL="228600" indent="-228600">
              <a:buAutoNum type="arabicPeriod"/>
            </a:pPr>
            <a:endParaRPr lang="en-US" altLang="ko-KR" sz="1200"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endParaRPr lang="en-US" altLang="ko-KR" sz="1200"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endParaRPr lang="en-US" altLang="ko-KR" sz="1200"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endParaRPr lang="en-US" altLang="ko-KR" sz="1200"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endParaRPr lang="en-US" altLang="ko-KR" sz="1200"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endParaRPr lang="en-US" altLang="ko-KR" sz="1200"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endParaRPr lang="en-US" altLang="ko-KR" sz="1200"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endParaRPr lang="en-US" altLang="ko-KR" sz="1200"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endParaRPr lang="en-US" altLang="ko-KR" sz="1200"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endParaRPr lang="en-US" altLang="ko-KR" sz="1200"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endParaRPr lang="en-US" altLang="ko-KR" sz="1200"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endParaRPr lang="en-US" altLang="ko-KR" sz="1100"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endParaRPr lang="en-US" altLang="ko-KR" sz="1100"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r>
              <a:rPr lang="ko-KR" altLang="en-US" sz="1100">
                <a:sym typeface="Wingdings" panose="05000000000000000000" pitchFamily="2" charset="2"/>
              </a:rPr>
              <a:t>댓글 생성 이벤트 발행시 이벤트를 받아들이는 영역은</a:t>
            </a:r>
            <a:r>
              <a:rPr lang="en-US" altLang="ko-KR" sz="1100">
                <a:sym typeface="Wingdings" panose="05000000000000000000" pitchFamily="2" charset="2"/>
              </a:rPr>
              <a:t>?  </a:t>
            </a:r>
            <a:r>
              <a:rPr lang="ko-KR" altLang="en-US" sz="1100">
                <a:sym typeface="Wingdings" panose="05000000000000000000" pitchFamily="2" charset="2"/>
              </a:rPr>
              <a:t>회원의 </a:t>
            </a:r>
            <a:r>
              <a:rPr lang="en-US" altLang="ko-KR" sz="1100">
                <a:sym typeface="Wingdings" panose="05000000000000000000" pitchFamily="2" charset="2"/>
              </a:rPr>
              <a:t>in </a:t>
            </a:r>
            <a:r>
              <a:rPr lang="ko-KR" altLang="en-US" sz="1100">
                <a:sym typeface="Wingdings" panose="05000000000000000000" pitchFamily="2" charset="2"/>
              </a:rPr>
              <a:t>의</a:t>
            </a:r>
            <a:r>
              <a:rPr lang="en-US" altLang="ko-KR" sz="1100">
                <a:sym typeface="Wingdings" panose="05000000000000000000" pitchFamily="2" charset="2"/>
              </a:rPr>
              <a:t> (MemberEventListner)</a:t>
            </a:r>
          </a:p>
          <a:p>
            <a:pPr marL="228600" indent="-228600">
              <a:buAutoNum type="arabicPeriod"/>
            </a:pPr>
            <a:endParaRPr lang="en-US" altLang="ko-KR" sz="1200">
              <a:sym typeface="Wingdings" panose="05000000000000000000" pitchFamily="2" charset="2"/>
            </a:endParaRPr>
          </a:p>
          <a:p>
            <a:br>
              <a:rPr lang="en-US" altLang="ko-KR" sz="1200">
                <a:sym typeface="Wingdings" panose="05000000000000000000" pitchFamily="2" charset="2"/>
              </a:rPr>
            </a:br>
            <a:endParaRPr lang="ko-KR" altLang="en-US" sz="120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2788F9F-A8C6-C038-2F60-E607CD8725EA}"/>
              </a:ext>
            </a:extLst>
          </p:cNvPr>
          <p:cNvGrpSpPr/>
          <p:nvPr/>
        </p:nvGrpSpPr>
        <p:grpSpPr>
          <a:xfrm>
            <a:off x="5430741" y="2887229"/>
            <a:ext cx="5846807" cy="2103897"/>
            <a:chOff x="5430741" y="2887229"/>
            <a:chExt cx="5846807" cy="2103897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2FDE2DD-78A9-6A06-3B75-D295F7B6B6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30741" y="2887229"/>
              <a:ext cx="5846807" cy="2103897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75BC2EF-A720-7F9E-B89D-327DE0465176}"/>
                </a:ext>
              </a:extLst>
            </p:cNvPr>
            <p:cNvSpPr/>
            <p:nvPr/>
          </p:nvSpPr>
          <p:spPr>
            <a:xfrm>
              <a:off x="6096000" y="3234847"/>
              <a:ext cx="1847353" cy="77261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F2E32D0D-AA23-8AC0-CE65-7286021B37CF}"/>
              </a:ext>
            </a:extLst>
          </p:cNvPr>
          <p:cNvGrpSpPr/>
          <p:nvPr/>
        </p:nvGrpSpPr>
        <p:grpSpPr>
          <a:xfrm>
            <a:off x="5430741" y="5338744"/>
            <a:ext cx="3824577" cy="1514113"/>
            <a:chOff x="5430741" y="5338744"/>
            <a:chExt cx="3824577" cy="1514113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6D977590-E5B5-4761-4D61-7A9C535E5A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30741" y="5338744"/>
              <a:ext cx="3824577" cy="1514113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886CA13-1C7C-BDDA-7C44-6648AD54D9AC}"/>
                </a:ext>
              </a:extLst>
            </p:cNvPr>
            <p:cNvSpPr/>
            <p:nvPr/>
          </p:nvSpPr>
          <p:spPr>
            <a:xfrm>
              <a:off x="5868063" y="5987332"/>
              <a:ext cx="3387255" cy="86552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5EAB2DD-3C4D-9DCA-2B46-DE140205D436}"/>
              </a:ext>
            </a:extLst>
          </p:cNvPr>
          <p:cNvSpPr txBox="1"/>
          <p:nvPr/>
        </p:nvSpPr>
        <p:spPr>
          <a:xfrm>
            <a:off x="596348" y="4746929"/>
            <a:ext cx="4565499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/>
              <a:t>@TransactionalEventListener(phase = AFTER_COMMIT)</a:t>
            </a:r>
            <a:endParaRPr lang="en-US" altLang="ko-KR" sz="1000" b="1"/>
          </a:p>
          <a:p>
            <a:pPr marL="171450" indent="-171450">
              <a:buFontTx/>
              <a:buChar char="-"/>
            </a:pPr>
            <a:r>
              <a:rPr lang="ko-KR" altLang="en-US" sz="1000">
                <a:latin typeface="+mn-ea"/>
              </a:rPr>
              <a:t>원본</a:t>
            </a:r>
            <a:r>
              <a:rPr lang="en-US" altLang="ko-KR" sz="1000">
                <a:latin typeface="+mn-ea"/>
              </a:rPr>
              <a:t>(</a:t>
            </a:r>
            <a:r>
              <a:rPr lang="ko-KR" altLang="en-US" sz="1000">
                <a:latin typeface="+mn-ea"/>
              </a:rPr>
              <a:t>댓글 저장</a:t>
            </a:r>
            <a:r>
              <a:rPr lang="en-US" altLang="ko-KR" sz="1000">
                <a:latin typeface="+mn-ea"/>
              </a:rPr>
              <a:t>)</a:t>
            </a:r>
            <a:r>
              <a:rPr lang="ko-KR" altLang="en-US" sz="1000">
                <a:latin typeface="+mn-ea"/>
              </a:rPr>
              <a:t> 트랜잭션이 성공적으로 커밋된 이후에만 이 리스너를  </a:t>
            </a:r>
            <a:br>
              <a:rPr lang="en-US" altLang="ko-KR" sz="1000">
                <a:latin typeface="+mn-ea"/>
              </a:rPr>
            </a:br>
            <a:r>
              <a:rPr lang="en-US" altLang="ko-KR" sz="1000">
                <a:latin typeface="+mn-ea"/>
              </a:rPr>
              <a:t>  </a:t>
            </a:r>
            <a:r>
              <a:rPr lang="ko-KR" altLang="en-US" sz="1000">
                <a:latin typeface="+mn-ea"/>
              </a:rPr>
              <a:t>실행하겠다는 의미</a:t>
            </a:r>
            <a:endParaRPr lang="en-US" altLang="ko-KR" sz="1000">
              <a:latin typeface="+mn-ea"/>
            </a:endParaRPr>
          </a:p>
          <a:p>
            <a:endParaRPr lang="en-US" altLang="ko-KR" sz="1000"/>
          </a:p>
          <a:p>
            <a:r>
              <a:rPr lang="en-US" altLang="ko-KR" sz="1000"/>
              <a:t>@Transactional(propagation = REQUIRES_NEW)</a:t>
            </a:r>
            <a:endParaRPr lang="en-US" altLang="ko-KR" sz="1000" b="1"/>
          </a:p>
          <a:p>
            <a:pPr marL="171450" indent="-171450">
              <a:buFontTx/>
              <a:buChar char="-"/>
            </a:pPr>
            <a:r>
              <a:rPr lang="ko-KR" altLang="en-US" sz="1000">
                <a:latin typeface="+mn-ea"/>
              </a:rPr>
              <a:t>새 트랜잭션은 원본 트랜잭션과 커밋</a:t>
            </a:r>
            <a:r>
              <a:rPr lang="en-US" altLang="ko-KR" sz="1000">
                <a:latin typeface="+mn-ea"/>
              </a:rPr>
              <a:t>/</a:t>
            </a:r>
            <a:r>
              <a:rPr lang="ko-KR" altLang="en-US" sz="1000">
                <a:latin typeface="+mn-ea"/>
              </a:rPr>
              <a:t>롤백이 완전히 분리되어 별개로 처리됩니다</a:t>
            </a:r>
            <a:r>
              <a:rPr lang="en-US" altLang="ko-KR" sz="1000">
                <a:latin typeface="+mn-ea"/>
              </a:rPr>
              <a:t>.</a:t>
            </a:r>
            <a:br>
              <a:rPr lang="en-US" altLang="ko-KR" sz="1000"/>
            </a:br>
            <a:endParaRPr lang="en-US" altLang="ko-KR" sz="1000"/>
          </a:p>
          <a:p>
            <a:r>
              <a:rPr lang="en-US" altLang="ko-KR" sz="1000">
                <a:sym typeface="Wingdings" panose="05000000000000000000" pitchFamily="2" charset="2"/>
              </a:rPr>
              <a:t> </a:t>
            </a:r>
            <a:r>
              <a:rPr lang="ko-KR" altLang="en-US" sz="1000">
                <a:sym typeface="Wingdings" panose="05000000000000000000" pitchFamily="2" charset="2"/>
              </a:rPr>
              <a:t>두 애노테이션 조합 이유 </a:t>
            </a:r>
            <a:r>
              <a:rPr lang="en-US" altLang="ko-KR" sz="1000">
                <a:sym typeface="Wingdings" panose="05000000000000000000" pitchFamily="2" charset="2"/>
              </a:rPr>
              <a:t>: </a:t>
            </a:r>
            <a:r>
              <a:rPr lang="ko-KR" altLang="en-US" sz="1000">
                <a:sym typeface="Wingdings" panose="05000000000000000000" pitchFamily="2" charset="2"/>
              </a:rPr>
              <a:t>댓글 저장 로직에 걸린 트랜잭션은 </a:t>
            </a:r>
            <a:r>
              <a:rPr lang="en-US" altLang="ko-KR" sz="1000">
                <a:sym typeface="Wingdings" panose="05000000000000000000" pitchFamily="2" charset="2"/>
              </a:rPr>
              <a:t>return</a:t>
            </a:r>
            <a:r>
              <a:rPr lang="ko-KR" altLang="en-US" sz="1000">
                <a:sym typeface="Wingdings" panose="05000000000000000000" pitchFamily="2" charset="2"/>
              </a:rPr>
              <a:t>이후에 </a:t>
            </a:r>
            <a:br>
              <a:rPr lang="en-US" altLang="ko-KR" sz="1000">
                <a:sym typeface="Wingdings" panose="05000000000000000000" pitchFamily="2" charset="2"/>
              </a:rPr>
            </a:br>
            <a:r>
              <a:rPr lang="en-US" altLang="ko-KR" sz="1000">
                <a:sym typeface="Wingdings" panose="05000000000000000000" pitchFamily="2" charset="2"/>
              </a:rPr>
              <a:t>     JPA</a:t>
            </a:r>
            <a:r>
              <a:rPr lang="ko-KR" altLang="en-US" sz="1000">
                <a:sym typeface="Wingdings" panose="05000000000000000000" pitchFamily="2" charset="2"/>
              </a:rPr>
              <a:t>의 영속성 컨텍스트에 의해 쿼리가 전송됨</a:t>
            </a:r>
            <a:r>
              <a:rPr lang="en-US" altLang="ko-KR" sz="1000">
                <a:sym typeface="Wingdings" panose="05000000000000000000" pitchFamily="2" charset="2"/>
              </a:rPr>
              <a:t>. </a:t>
            </a:r>
            <a:br>
              <a:rPr lang="en-US" altLang="ko-KR" sz="1000">
                <a:sym typeface="Wingdings" panose="05000000000000000000" pitchFamily="2" charset="2"/>
              </a:rPr>
            </a:br>
            <a:r>
              <a:rPr lang="en-US" altLang="ko-KR" sz="1000">
                <a:sym typeface="Wingdings" panose="05000000000000000000" pitchFamily="2" charset="2"/>
              </a:rPr>
              <a:t> </a:t>
            </a:r>
            <a:r>
              <a:rPr lang="ko-KR" altLang="en-US" sz="1000">
                <a:sym typeface="Wingdings" panose="05000000000000000000" pitchFamily="2" charset="2"/>
              </a:rPr>
              <a:t>그러나 독립된 리스너 입장에서 </a:t>
            </a:r>
            <a:r>
              <a:rPr lang="ko-KR" altLang="en-US" sz="1000" b="1">
                <a:solidFill>
                  <a:srgbClr val="0000FF"/>
                </a:solidFill>
                <a:sym typeface="Wingdings" panose="05000000000000000000" pitchFamily="2" charset="2"/>
              </a:rPr>
              <a:t>데이터 정합성을 위해선 </a:t>
            </a:r>
            <a:r>
              <a:rPr lang="en-US" altLang="ko-KR" sz="1000" b="1">
                <a:solidFill>
                  <a:srgbClr val="0000FF"/>
                </a:solidFill>
                <a:sym typeface="Wingdings" panose="05000000000000000000" pitchFamily="2" charset="2"/>
              </a:rPr>
              <a:t>Post</a:t>
            </a:r>
            <a:r>
              <a:rPr lang="ko-KR" altLang="en-US" sz="1000" b="1">
                <a:solidFill>
                  <a:srgbClr val="0000FF"/>
                </a:solidFill>
                <a:sym typeface="Wingdings" panose="05000000000000000000" pitchFamily="2" charset="2"/>
              </a:rPr>
              <a:t>트랜잭션이 </a:t>
            </a:r>
            <a:br>
              <a:rPr lang="en-US" altLang="ko-KR" sz="1000" b="1">
                <a:solidFill>
                  <a:srgbClr val="0000FF"/>
                </a:solidFill>
                <a:sym typeface="Wingdings" panose="05000000000000000000" pitchFamily="2" charset="2"/>
              </a:rPr>
            </a:br>
            <a:r>
              <a:rPr lang="en-US" altLang="ko-KR" sz="1000" b="1">
                <a:solidFill>
                  <a:srgbClr val="0000FF"/>
                </a:solidFill>
                <a:sym typeface="Wingdings" panose="05000000000000000000" pitchFamily="2" charset="2"/>
              </a:rPr>
              <a:t>     </a:t>
            </a:r>
            <a:r>
              <a:rPr lang="ko-KR" altLang="en-US" sz="1000" b="1">
                <a:solidFill>
                  <a:srgbClr val="0000FF"/>
                </a:solidFill>
                <a:sym typeface="Wingdings" panose="05000000000000000000" pitchFamily="2" charset="2"/>
              </a:rPr>
              <a:t>끝 난 이후 </a:t>
            </a:r>
            <a:r>
              <a:rPr lang="ko-KR" altLang="en-US" sz="1000">
                <a:sym typeface="Wingdings" panose="05000000000000000000" pitchFamily="2" charset="2"/>
              </a:rPr>
              <a:t>실행되어야하며</a:t>
            </a:r>
            <a:r>
              <a:rPr lang="en-US" altLang="ko-KR" sz="1000">
                <a:sym typeface="Wingdings" panose="05000000000000000000" pitchFamily="2" charset="2"/>
              </a:rPr>
              <a:t>, </a:t>
            </a:r>
            <a:r>
              <a:rPr lang="ko-KR" altLang="en-US" sz="1000" b="1">
                <a:solidFill>
                  <a:srgbClr val="FFFF00"/>
                </a:solidFill>
                <a:sym typeface="Wingdings" panose="05000000000000000000" pitchFamily="2" charset="2"/>
              </a:rPr>
              <a:t>리스너 입장에선 트랜잭션 자체가 없음</a:t>
            </a:r>
            <a:r>
              <a:rPr lang="ko-KR" altLang="en-US" sz="1000">
                <a:sym typeface="Wingdings" panose="05000000000000000000" pitchFamily="2" charset="2"/>
              </a:rPr>
              <a:t>으로 </a:t>
            </a:r>
            <a:br>
              <a:rPr lang="en-US" altLang="ko-KR" sz="1000">
                <a:sym typeface="Wingdings" panose="05000000000000000000" pitchFamily="2" charset="2"/>
              </a:rPr>
            </a:br>
            <a:r>
              <a:rPr lang="en-US" altLang="ko-KR" sz="1000">
                <a:sym typeface="Wingdings" panose="05000000000000000000" pitchFamily="2" charset="2"/>
              </a:rPr>
              <a:t>     Member</a:t>
            </a:r>
            <a:r>
              <a:rPr lang="ko-KR" altLang="en-US" sz="1000">
                <a:sym typeface="Wingdings" panose="05000000000000000000" pitchFamily="2" charset="2"/>
              </a:rPr>
              <a:t>에 관한 변경사항이 저장되지 않음 그래서 </a:t>
            </a:r>
            <a:r>
              <a:rPr lang="ko-KR" altLang="en-US" sz="1000" b="1">
                <a:solidFill>
                  <a:srgbClr val="FFFF00"/>
                </a:solidFill>
                <a:sym typeface="Wingdings" panose="05000000000000000000" pitchFamily="2" charset="2"/>
              </a:rPr>
              <a:t>새로 트랜잭션을 생성함</a:t>
            </a:r>
            <a:endParaRPr lang="ko-KR" altLang="en-US" sz="1000" b="1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038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42B6BC-C151-3664-6C07-ED341D141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/>
              <a:t>이벤트의 발행 파일의 패키지 위치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F281906-B87A-DC86-9898-992A694DE4B3}"/>
              </a:ext>
            </a:extLst>
          </p:cNvPr>
          <p:cNvGrpSpPr/>
          <p:nvPr/>
        </p:nvGrpSpPr>
        <p:grpSpPr>
          <a:xfrm>
            <a:off x="357808" y="1933073"/>
            <a:ext cx="3260035" cy="1239497"/>
            <a:chOff x="357808" y="1933073"/>
            <a:chExt cx="3260035" cy="123949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B5633841-5EBE-E3AD-B35E-954956FE3E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47503" b="43700"/>
            <a:stretch>
              <a:fillRect/>
            </a:stretch>
          </p:blipFill>
          <p:spPr>
            <a:xfrm>
              <a:off x="357808" y="1933073"/>
              <a:ext cx="3260035" cy="1239497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805FAF9-C995-146D-6635-1EA5C7793204}"/>
                </a:ext>
              </a:extLst>
            </p:cNvPr>
            <p:cNvSpPr/>
            <p:nvPr/>
          </p:nvSpPr>
          <p:spPr>
            <a:xfrm>
              <a:off x="1064388" y="2296835"/>
              <a:ext cx="1962097" cy="80849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4E3D288-EF95-41F0-4ABB-2B35066702F2}"/>
              </a:ext>
            </a:extLst>
          </p:cNvPr>
          <p:cNvSpPr txBox="1"/>
          <p:nvPr/>
        </p:nvSpPr>
        <p:spPr>
          <a:xfrm>
            <a:off x="3800723" y="1920386"/>
            <a:ext cx="64326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/>
              <a:t>※ </a:t>
            </a:r>
            <a:r>
              <a:rPr lang="ko-KR" altLang="en-US" sz="1200" b="1"/>
              <a:t>생각해 보기</a:t>
            </a:r>
            <a:endParaRPr lang="en-US" altLang="ko-KR" sz="1200" b="1"/>
          </a:p>
          <a:p>
            <a:endParaRPr lang="en-US" altLang="ko-KR" sz="1200" b="1"/>
          </a:p>
          <a:p>
            <a:pPr marL="228600" indent="-228600">
              <a:buAutoNum type="arabicPeriod" startAt="4"/>
            </a:pPr>
            <a:r>
              <a:rPr lang="en-US" altLang="ko-KR" sz="1200">
                <a:sym typeface="Wingdings" panose="05000000000000000000" pitchFamily="2" charset="2"/>
              </a:rPr>
              <a:t>eventPublisher</a:t>
            </a:r>
            <a:r>
              <a:rPr lang="ko-KR" altLang="en-US" sz="1200">
                <a:sym typeface="Wingdings" panose="05000000000000000000" pitchFamily="2" charset="2"/>
              </a:rPr>
              <a:t>는 어떤 모듈에서건 호출될 수 있는 성격의 클래스이다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ko-KR" altLang="en-US" sz="1200">
                <a:sym typeface="Wingdings" panose="05000000000000000000" pitchFamily="2" charset="2"/>
              </a:rPr>
              <a:t>클래스 파일의 위치는</a:t>
            </a:r>
            <a:r>
              <a:rPr lang="en-US" altLang="ko-KR" sz="1200">
                <a:sym typeface="Wingdings" panose="05000000000000000000" pitchFamily="2" charset="2"/>
              </a:rPr>
              <a:t>?  boundedcontext </a:t>
            </a:r>
            <a:r>
              <a:rPr lang="ko-KR" altLang="en-US" sz="1200">
                <a:sym typeface="Wingdings" panose="05000000000000000000" pitchFamily="2" charset="2"/>
              </a:rPr>
              <a:t>와 같은 레벨의 </a:t>
            </a:r>
            <a:r>
              <a:rPr lang="en-US" altLang="ko-KR" sz="1200">
                <a:sym typeface="Wingdings" panose="05000000000000000000" pitchFamily="2" charset="2"/>
              </a:rPr>
              <a:t>global </a:t>
            </a:r>
            <a:r>
              <a:rPr lang="ko-KR" altLang="en-US" sz="1200">
                <a:sym typeface="Wingdings" panose="05000000000000000000" pitchFamily="2" charset="2"/>
              </a:rPr>
              <a:t>패키지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</a:p>
          <a:p>
            <a:br>
              <a:rPr lang="en-US" altLang="ko-KR" sz="1200">
                <a:sym typeface="Wingdings" panose="05000000000000000000" pitchFamily="2" charset="2"/>
              </a:rPr>
            </a:br>
            <a:endParaRPr lang="ko-KR" altLang="en-US" sz="120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4AE413C-8270-ADBC-6BE7-2A0F8794FF52}"/>
              </a:ext>
            </a:extLst>
          </p:cNvPr>
          <p:cNvGrpSpPr/>
          <p:nvPr/>
        </p:nvGrpSpPr>
        <p:grpSpPr>
          <a:xfrm>
            <a:off x="9024729" y="1924158"/>
            <a:ext cx="1928687" cy="3009684"/>
            <a:chOff x="9024729" y="1924158"/>
            <a:chExt cx="1928687" cy="3009684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6FDDAE27-86B3-C4F4-A2B9-33990A907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24729" y="1924158"/>
              <a:ext cx="1928687" cy="3009684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7A0364A-71FC-6DE6-2B75-B43261E3EF48}"/>
                </a:ext>
              </a:extLst>
            </p:cNvPr>
            <p:cNvSpPr/>
            <p:nvPr/>
          </p:nvSpPr>
          <p:spPr>
            <a:xfrm>
              <a:off x="9843715" y="3429000"/>
              <a:ext cx="914400" cy="21269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289414B-748F-7C2F-DD4E-1FEB4F8ADDB0}"/>
              </a:ext>
            </a:extLst>
          </p:cNvPr>
          <p:cNvSpPr txBox="1"/>
          <p:nvPr/>
        </p:nvSpPr>
        <p:spPr>
          <a:xfrm>
            <a:off x="3800723" y="2749145"/>
            <a:ext cx="4333461" cy="16158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  <a:t>@Service </a:t>
            </a:r>
            <a:b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  <a:t>@RequiredArgsConstructor </a:t>
            </a:r>
            <a:br>
              <a:rPr lang="en-US" altLang="ko-KR" sz="1100">
                <a:solidFill>
                  <a:srgbClr val="B3AE60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public class </a:t>
            </a:r>
            <a:r>
              <a:rPr lang="en-US" altLang="ko-KR" sz="1100">
                <a:effectLst/>
                <a:latin typeface="JetBrains Mono"/>
              </a:rPr>
              <a:t>EventPublisher {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private final </a:t>
            </a:r>
            <a:r>
              <a:rPr lang="en-US" altLang="ko-KR" sz="1100">
                <a:effectLst/>
                <a:latin typeface="JetBrains Mono"/>
              </a:rPr>
              <a:t>ApplicationEventPublisher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altLang="ko-KR" sz="1100">
                <a:solidFill>
                  <a:srgbClr val="C77DBB"/>
                </a:solidFill>
                <a:effectLst/>
                <a:latin typeface="JetBrains Mono"/>
              </a:rPr>
              <a:t>applicationEventPublisher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;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100">
                <a:solidFill>
                  <a:srgbClr val="CF8E6D"/>
                </a:solidFill>
                <a:effectLst/>
                <a:latin typeface="JetBrains Mono"/>
              </a:rPr>
              <a:t>public void </a:t>
            </a:r>
            <a:r>
              <a:rPr lang="en-US" altLang="ko-KR" sz="1100">
                <a:solidFill>
                  <a:srgbClr val="56A8F5"/>
                </a:solidFill>
                <a:effectLst/>
                <a:latin typeface="JetBrains Mono"/>
              </a:rPr>
              <a:t>publish</a:t>
            </a:r>
            <a:r>
              <a:rPr lang="en-US" altLang="ko-KR" sz="1100">
                <a:effectLst/>
                <a:latin typeface="JetBrains Mono"/>
              </a:rPr>
              <a:t>(Object event) {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ko-KR" sz="1100">
                <a:solidFill>
                  <a:srgbClr val="C77DBB"/>
                </a:solidFill>
                <a:effectLst/>
                <a:latin typeface="JetBrains Mono"/>
              </a:rPr>
              <a:t>applicationEventPublisher</a:t>
            </a:r>
            <a: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lang="en-US" altLang="ko-KR" sz="1100">
                <a:effectLst/>
                <a:latin typeface="JetBrains Mono"/>
              </a:rPr>
              <a:t>publishEvent(event);</a:t>
            </a:r>
            <a:br>
              <a:rPr lang="en-US" altLang="ko-KR" sz="11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100">
                <a:effectLst/>
                <a:latin typeface="JetBrains Mono"/>
              </a:rPr>
              <a:t>    }</a:t>
            </a:r>
            <a:br>
              <a:rPr lang="en-US" altLang="ko-KR" sz="1100">
                <a:effectLst/>
                <a:latin typeface="JetBrains Mono"/>
              </a:rPr>
            </a:br>
            <a:r>
              <a:rPr lang="en-US" altLang="ko-KR" sz="1100">
                <a:effectLst/>
                <a:latin typeface="JetBrains Mono"/>
              </a:rPr>
              <a:t>}</a:t>
            </a:r>
            <a:endParaRPr lang="en-US" altLang="ko-KR" sz="1100">
              <a:solidFill>
                <a:srgbClr val="BCBEC4"/>
              </a:solidFill>
              <a:effectLst/>
              <a:latin typeface="JetBrains Mono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AD8BAF-1F38-2187-BF8D-12E69D528C9D}"/>
              </a:ext>
            </a:extLst>
          </p:cNvPr>
          <p:cNvSpPr txBox="1"/>
          <p:nvPr/>
        </p:nvSpPr>
        <p:spPr>
          <a:xfrm>
            <a:off x="3800723" y="4452730"/>
            <a:ext cx="46356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※ </a:t>
            </a:r>
            <a:r>
              <a:rPr lang="ko-KR" altLang="en-US" sz="1200"/>
              <a:t>각 </a:t>
            </a:r>
            <a:r>
              <a:rPr lang="en-US" altLang="ko-KR" sz="1200"/>
              <a:t>UseCase</a:t>
            </a:r>
            <a:r>
              <a:rPr lang="ko-KR" altLang="en-US" sz="1200"/>
              <a:t>에서 </a:t>
            </a:r>
            <a:r>
              <a:rPr lang="en-US" altLang="ko-KR" sz="1200"/>
              <a:t>ApplicationEventPublisher </a:t>
            </a:r>
            <a:r>
              <a:rPr lang="ko-KR" altLang="en-US" sz="1200"/>
              <a:t>객체를 주입받고</a:t>
            </a:r>
            <a:br>
              <a:rPr lang="en-US" altLang="ko-KR" sz="1200"/>
            </a:br>
            <a:r>
              <a:rPr lang="en-US" altLang="ko-KR" sz="1200"/>
              <a:t>publishEvent </a:t>
            </a:r>
            <a:r>
              <a:rPr lang="ko-KR" altLang="en-US" sz="1200"/>
              <a:t>메소드로 </a:t>
            </a:r>
            <a:r>
              <a:rPr lang="en-US" altLang="ko-KR" sz="1200"/>
              <a:t>event </a:t>
            </a:r>
            <a:r>
              <a:rPr lang="ko-KR" altLang="en-US" sz="1200"/>
              <a:t>객체를 보내도 될 뜻</a:t>
            </a:r>
            <a:r>
              <a:rPr lang="en-US" altLang="ko-KR" sz="1200"/>
              <a:t>?</a:t>
            </a:r>
            <a:br>
              <a:rPr lang="en-US" altLang="ko-KR" sz="1200"/>
            </a:br>
            <a:r>
              <a:rPr lang="ko-KR" altLang="en-US" sz="1200"/>
              <a:t>편의성을 위해 작성된 코드로 보임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231708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7BA6DC-E869-02A5-B49A-AE3CA5AA1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/>
              <a:t>도메인에 결합된 비지니스 로직의 이벤트 발행을 위한 배경 설명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A148A4-AF29-9B04-F996-86BA060FD372}"/>
              </a:ext>
            </a:extLst>
          </p:cNvPr>
          <p:cNvSpPr txBox="1"/>
          <p:nvPr/>
        </p:nvSpPr>
        <p:spPr>
          <a:xfrm>
            <a:off x="1178781" y="1869731"/>
            <a:ext cx="5309483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00">
                <a:solidFill>
                  <a:srgbClr val="B3AE60"/>
                </a:solidFill>
                <a:effectLst/>
                <a:latin typeface="JetBrains Mono"/>
              </a:rPr>
              <a:t>@Getter </a:t>
            </a:r>
            <a:br>
              <a:rPr lang="en-US" altLang="ko-KR" sz="1000">
                <a:solidFill>
                  <a:srgbClr val="B3AE60"/>
                </a:solidFill>
                <a:effectLst/>
                <a:latin typeface="JetBrains Mono"/>
              </a:rPr>
            </a:br>
            <a:r>
              <a:rPr lang="en-US" altLang="ko-KR" sz="1000">
                <a:solidFill>
                  <a:srgbClr val="B3AE60"/>
                </a:solidFill>
                <a:effectLst/>
                <a:latin typeface="JetBrains Mono"/>
              </a:rPr>
              <a:t>@Entity</a:t>
            </a:r>
            <a:br>
              <a:rPr lang="en-US" altLang="ko-KR" sz="1000">
                <a:solidFill>
                  <a:srgbClr val="B3AE60"/>
                </a:solidFill>
                <a:effectLst/>
                <a:latin typeface="JetBrains Mono"/>
              </a:rPr>
            </a:br>
            <a:r>
              <a:rPr lang="en-US" altLang="ko-KR" sz="1000">
                <a:solidFill>
                  <a:srgbClr val="B3AE60"/>
                </a:solidFill>
                <a:effectLst/>
                <a:latin typeface="JetBrains Mono"/>
              </a:rPr>
              <a:t>@NoArgsConstructor</a:t>
            </a:r>
            <a:br>
              <a:rPr lang="en-US" altLang="ko-KR" sz="1000">
                <a:solidFill>
                  <a:srgbClr val="B3AE60"/>
                </a:solidFill>
                <a:effectLst/>
                <a:latin typeface="JetBrains Mono"/>
              </a:rPr>
            </a:br>
            <a:r>
              <a:rPr lang="en-US" altLang="ko-KR" sz="1000">
                <a:solidFill>
                  <a:srgbClr val="B3AE60"/>
                </a:solidFill>
                <a:effectLst/>
                <a:latin typeface="JetBrains Mono"/>
              </a:rPr>
              <a:t>@Table</a:t>
            </a:r>
            <a:r>
              <a:rPr lang="en-US" altLang="ko-KR" sz="1000">
                <a:effectLst/>
                <a:latin typeface="JetBrains Mono"/>
              </a:rPr>
              <a:t>(name="</a:t>
            </a:r>
            <a:r>
              <a:rPr lang="en-US" altLang="ko-KR" sz="1000">
                <a:solidFill>
                  <a:srgbClr val="6AAB73"/>
                </a:solidFill>
                <a:effectLst/>
                <a:latin typeface="JetBrains Mono"/>
              </a:rPr>
              <a:t>POST_POST"</a:t>
            </a:r>
            <a:r>
              <a:rPr lang="en-US" altLang="ko-KR" sz="1000">
                <a:effectLst/>
                <a:latin typeface="JetBrains Mono"/>
              </a:rPr>
              <a:t>)</a:t>
            </a:r>
            <a:br>
              <a:rPr lang="en-US" altLang="ko-KR" sz="10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00">
                <a:solidFill>
                  <a:srgbClr val="CF8E6D"/>
                </a:solidFill>
                <a:effectLst/>
                <a:latin typeface="JetBrains Mono"/>
              </a:rPr>
              <a:t>public class </a:t>
            </a:r>
            <a:r>
              <a:rPr lang="en-US" altLang="ko-KR" sz="1000">
                <a:effectLst/>
                <a:latin typeface="JetBrains Mono"/>
              </a:rPr>
              <a:t>Post</a:t>
            </a:r>
            <a:r>
              <a:rPr lang="en-US" altLang="ko-KR" sz="100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altLang="ko-KR" sz="1000">
                <a:solidFill>
                  <a:srgbClr val="CF8E6D"/>
                </a:solidFill>
                <a:effectLst/>
                <a:latin typeface="JetBrains Mono"/>
              </a:rPr>
              <a:t>extends </a:t>
            </a:r>
            <a:r>
              <a:rPr lang="en-US" altLang="ko-KR" sz="1000">
                <a:effectLst/>
                <a:latin typeface="JetBrains Mono"/>
              </a:rPr>
              <a:t>BaseIdAndTime {</a:t>
            </a:r>
            <a:br>
              <a:rPr lang="en-US" altLang="ko-KR" sz="10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000">
                <a:solidFill>
                  <a:srgbClr val="B3AE60"/>
                </a:solidFill>
                <a:effectLst/>
                <a:latin typeface="JetBrains Mono"/>
              </a:rPr>
              <a:t>@ManyToOne </a:t>
            </a:r>
            <a:r>
              <a:rPr lang="en-US" altLang="ko-KR" sz="1000">
                <a:effectLst/>
                <a:latin typeface="JetBrains Mono"/>
              </a:rPr>
              <a:t>(fetch = </a:t>
            </a:r>
            <a:r>
              <a:rPr lang="en-US" altLang="ko-KR" sz="1000" i="1">
                <a:solidFill>
                  <a:srgbClr val="C77DBB"/>
                </a:solidFill>
                <a:effectLst/>
                <a:latin typeface="JetBrains Mono"/>
              </a:rPr>
              <a:t>LAZY</a:t>
            </a:r>
            <a:r>
              <a:rPr lang="en-US" altLang="ko-KR" sz="1000">
                <a:effectLst/>
                <a:latin typeface="JetBrains Mono"/>
              </a:rPr>
              <a:t>)</a:t>
            </a:r>
            <a:br>
              <a:rPr lang="en-US" altLang="ko-KR" sz="10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000">
                <a:solidFill>
                  <a:srgbClr val="CF8E6D"/>
                </a:solidFill>
                <a:effectLst/>
                <a:latin typeface="JetBrains Mono"/>
              </a:rPr>
              <a:t>private </a:t>
            </a:r>
            <a:r>
              <a:rPr lang="en-US" altLang="ko-KR" sz="1000">
                <a:solidFill>
                  <a:srgbClr val="CF8E6D"/>
                </a:solidFill>
                <a:latin typeface="JetBrains Mono"/>
              </a:rPr>
              <a:t>Member</a:t>
            </a:r>
            <a:r>
              <a:rPr lang="ko-KR" altLang="en-US" sz="1000">
                <a:solidFill>
                  <a:srgbClr val="CF8E6D"/>
                </a:solidFill>
                <a:latin typeface="JetBrains Mono"/>
              </a:rPr>
              <a:t> </a:t>
            </a:r>
            <a:r>
              <a:rPr lang="en-US" altLang="ko-KR" sz="1000">
                <a:solidFill>
                  <a:srgbClr val="C77DBB"/>
                </a:solidFill>
                <a:effectLst/>
                <a:latin typeface="JetBrains Mono"/>
              </a:rPr>
              <a:t>author</a:t>
            </a:r>
            <a:r>
              <a:rPr lang="en-US" altLang="ko-KR" sz="1000">
                <a:effectLst/>
                <a:latin typeface="JetBrains Mono"/>
              </a:rPr>
              <a:t>;</a:t>
            </a:r>
            <a:br>
              <a:rPr lang="en-US" altLang="ko-KR" sz="10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000">
                <a:solidFill>
                  <a:srgbClr val="CF8E6D"/>
                </a:solidFill>
                <a:effectLst/>
                <a:latin typeface="JetBrains Mono"/>
              </a:rPr>
              <a:t>private </a:t>
            </a:r>
            <a:r>
              <a:rPr lang="en-US" altLang="ko-KR" sz="1000">
                <a:effectLst/>
                <a:latin typeface="JetBrains Mono"/>
              </a:rPr>
              <a:t>String</a:t>
            </a:r>
            <a:r>
              <a:rPr lang="en-US" altLang="ko-KR" sz="100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altLang="ko-KR" sz="1000">
                <a:solidFill>
                  <a:srgbClr val="C77DBB"/>
                </a:solidFill>
                <a:effectLst/>
                <a:latin typeface="JetBrains Mono"/>
              </a:rPr>
              <a:t>title</a:t>
            </a:r>
            <a:r>
              <a:rPr lang="en-US" altLang="ko-KR" sz="1000">
                <a:effectLst/>
                <a:latin typeface="JetBrains Mono"/>
              </a:rPr>
              <a:t>;</a:t>
            </a:r>
            <a:br>
              <a:rPr lang="en-US" altLang="ko-KR" sz="10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000">
                <a:solidFill>
                  <a:srgbClr val="B3AE60"/>
                </a:solidFill>
                <a:effectLst/>
                <a:latin typeface="JetBrains Mono"/>
              </a:rPr>
              <a:t>@Column </a:t>
            </a:r>
            <a:r>
              <a:rPr lang="en-US" altLang="ko-KR" sz="1000">
                <a:effectLst/>
                <a:latin typeface="JetBrains Mono"/>
              </a:rPr>
              <a:t>(columnDefinition =</a:t>
            </a:r>
            <a:r>
              <a:rPr lang="en-US" altLang="ko-KR" sz="100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altLang="ko-KR" sz="1000">
                <a:solidFill>
                  <a:srgbClr val="6AAB73"/>
                </a:solidFill>
                <a:effectLst/>
                <a:latin typeface="JetBrains Mono"/>
              </a:rPr>
              <a:t>"LONGTEXT"</a:t>
            </a:r>
            <a:r>
              <a:rPr lang="en-US" altLang="ko-KR" sz="1000">
                <a:effectLst/>
                <a:latin typeface="JetBrains Mono"/>
              </a:rPr>
              <a:t>)</a:t>
            </a:r>
            <a:br>
              <a:rPr lang="en-US" altLang="ko-KR" sz="10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000">
                <a:solidFill>
                  <a:srgbClr val="CF8E6D"/>
                </a:solidFill>
                <a:effectLst/>
                <a:latin typeface="JetBrains Mono"/>
              </a:rPr>
              <a:t>private </a:t>
            </a:r>
            <a:r>
              <a:rPr lang="en-US" altLang="ko-KR" sz="1000">
                <a:effectLst/>
                <a:latin typeface="JetBrains Mono"/>
              </a:rPr>
              <a:t>String</a:t>
            </a:r>
            <a:r>
              <a:rPr lang="en-US" altLang="ko-KR" sz="100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altLang="ko-KR" sz="1000">
                <a:solidFill>
                  <a:srgbClr val="C77DBB"/>
                </a:solidFill>
                <a:effectLst/>
                <a:latin typeface="JetBrains Mono"/>
              </a:rPr>
              <a:t>content</a:t>
            </a:r>
            <a:r>
              <a:rPr lang="en-US" altLang="ko-KR" sz="1000">
                <a:effectLst/>
                <a:latin typeface="JetBrains Mono"/>
              </a:rPr>
              <a:t>;</a:t>
            </a:r>
            <a:br>
              <a:rPr lang="en-US" altLang="ko-KR" sz="10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000">
                <a:solidFill>
                  <a:srgbClr val="B3AE60"/>
                </a:solidFill>
                <a:effectLst/>
                <a:latin typeface="JetBrains Mono"/>
              </a:rPr>
              <a:t>@OneToMany</a:t>
            </a:r>
            <a:r>
              <a:rPr lang="en-US" altLang="ko-KR" sz="1000">
                <a:effectLst/>
                <a:latin typeface="JetBrains Mono"/>
              </a:rPr>
              <a:t>(mappedBy</a:t>
            </a:r>
            <a:r>
              <a:rPr lang="en-US" altLang="ko-KR" sz="100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altLang="ko-KR" sz="1000">
                <a:effectLst/>
                <a:latin typeface="JetBrains Mono"/>
              </a:rPr>
              <a:t>=</a:t>
            </a:r>
            <a:r>
              <a:rPr lang="en-US" altLang="ko-KR" sz="100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altLang="ko-KR" sz="1000">
                <a:solidFill>
                  <a:srgbClr val="6AAB73"/>
                </a:solidFill>
                <a:effectLst/>
                <a:latin typeface="JetBrains Mono"/>
              </a:rPr>
              <a:t>"post"</a:t>
            </a:r>
            <a:r>
              <a:rPr lang="en-US" altLang="ko-KR" sz="100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ko-KR" sz="1000">
                <a:effectLst/>
                <a:latin typeface="JetBrains Mono"/>
              </a:rPr>
              <a:t>cascade</a:t>
            </a:r>
            <a:r>
              <a:rPr lang="en-US" altLang="ko-KR" sz="100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altLang="ko-KR" sz="1000">
                <a:effectLst/>
                <a:latin typeface="JetBrains Mono"/>
              </a:rPr>
              <a:t>= {</a:t>
            </a:r>
            <a:r>
              <a:rPr lang="en-US" altLang="ko-KR" sz="1000" i="1">
                <a:solidFill>
                  <a:srgbClr val="C77DBB"/>
                </a:solidFill>
                <a:effectLst/>
                <a:latin typeface="JetBrains Mono"/>
              </a:rPr>
              <a:t>PERSIST</a:t>
            </a:r>
            <a:r>
              <a:rPr lang="en-US" altLang="ko-KR" sz="100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ko-KR" sz="1000" i="1">
                <a:solidFill>
                  <a:srgbClr val="C77DBB"/>
                </a:solidFill>
                <a:effectLst/>
                <a:latin typeface="JetBrains Mono"/>
              </a:rPr>
              <a:t>REMOVE</a:t>
            </a:r>
            <a:r>
              <a:rPr lang="en-US" altLang="ko-KR" sz="1000">
                <a:effectLst/>
                <a:latin typeface="JetBrains Mono"/>
              </a:rPr>
              <a:t>},</a:t>
            </a:r>
            <a:r>
              <a:rPr lang="en-US" altLang="ko-KR" sz="100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altLang="ko-KR" sz="1000">
                <a:effectLst/>
                <a:latin typeface="JetBrains Mono"/>
              </a:rPr>
              <a:t>orphanRemoval = </a:t>
            </a:r>
            <a:r>
              <a:rPr lang="en-US" altLang="ko-KR" sz="1000">
                <a:solidFill>
                  <a:srgbClr val="CF8E6D"/>
                </a:solidFill>
                <a:effectLst/>
                <a:latin typeface="JetBrains Mono"/>
              </a:rPr>
              <a:t>true</a:t>
            </a:r>
            <a:r>
              <a:rPr lang="en-US" altLang="ko-KR" sz="1000">
                <a:effectLst/>
                <a:latin typeface="JetBrains Mono"/>
              </a:rPr>
              <a:t>)</a:t>
            </a:r>
            <a:br>
              <a:rPr lang="en-US" altLang="ko-KR" sz="10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0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000">
                <a:solidFill>
                  <a:srgbClr val="CF8E6D"/>
                </a:solidFill>
                <a:effectLst/>
                <a:latin typeface="JetBrains Mono"/>
              </a:rPr>
              <a:t>private </a:t>
            </a:r>
            <a:r>
              <a:rPr lang="en-US" altLang="ko-KR" sz="1000">
                <a:effectLst/>
                <a:latin typeface="JetBrains Mono"/>
              </a:rPr>
              <a:t>List&lt;PostComment&gt; </a:t>
            </a:r>
            <a:r>
              <a:rPr lang="en-US" altLang="ko-KR" sz="1000">
                <a:solidFill>
                  <a:srgbClr val="C77DBB"/>
                </a:solidFill>
                <a:effectLst/>
                <a:latin typeface="JetBrains Mono"/>
              </a:rPr>
              <a:t>comments </a:t>
            </a:r>
            <a:r>
              <a:rPr lang="en-US" altLang="ko-KR" sz="1000">
                <a:effectLst/>
                <a:latin typeface="JetBrains Mono"/>
              </a:rPr>
              <a:t>=</a:t>
            </a:r>
            <a:r>
              <a:rPr lang="en-US" altLang="ko-KR" sz="100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altLang="ko-KR" sz="1000">
                <a:solidFill>
                  <a:srgbClr val="CF8E6D"/>
                </a:solidFill>
                <a:effectLst/>
                <a:latin typeface="JetBrains Mono"/>
              </a:rPr>
              <a:t>new </a:t>
            </a:r>
            <a:r>
              <a:rPr lang="en-US" altLang="ko-KR" sz="1000">
                <a:effectLst/>
                <a:latin typeface="JetBrains Mono"/>
              </a:rPr>
              <a:t>ArrayList&lt;&gt;();</a:t>
            </a:r>
            <a:br>
              <a:rPr lang="en-US" altLang="ko-KR" sz="1000">
                <a:solidFill>
                  <a:srgbClr val="BCBEC4"/>
                </a:solidFill>
                <a:effectLst/>
                <a:latin typeface="JetBrains Mono"/>
              </a:rPr>
            </a:br>
            <a:endParaRPr lang="en-US" altLang="ko-KR" sz="1000">
              <a:solidFill>
                <a:srgbClr val="BCBEC4"/>
              </a:solidFill>
              <a:effectLst/>
              <a:latin typeface="JetBrains Mon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56B105-ED64-318E-FDF0-8F4B7755E337}"/>
              </a:ext>
            </a:extLst>
          </p:cNvPr>
          <p:cNvSpPr txBox="1"/>
          <p:nvPr/>
        </p:nvSpPr>
        <p:spPr>
          <a:xfrm>
            <a:off x="6679095" y="1869731"/>
            <a:ext cx="415058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/>
              <a:t>Post</a:t>
            </a:r>
            <a:r>
              <a:rPr lang="ko-KR" altLang="en-US" sz="1000"/>
              <a:t> </a:t>
            </a:r>
            <a:r>
              <a:rPr lang="en-US" altLang="ko-KR" sz="1000"/>
              <a:t>(</a:t>
            </a:r>
            <a:r>
              <a:rPr lang="ko-KR" altLang="en-US" sz="1000"/>
              <a:t>댓글</a:t>
            </a:r>
            <a:r>
              <a:rPr lang="en-US" altLang="ko-KR" sz="1000"/>
              <a:t>) </a:t>
            </a:r>
            <a:r>
              <a:rPr lang="ko-KR" altLang="en-US" sz="1000"/>
              <a:t>엔티티를 보면</a:t>
            </a:r>
            <a:r>
              <a:rPr lang="en-US" altLang="ko-KR" sz="1000"/>
              <a:t> Member author </a:t>
            </a:r>
            <a:r>
              <a:rPr lang="ko-KR" altLang="en-US" sz="1000"/>
              <a:t>가 존재한다</a:t>
            </a:r>
            <a:r>
              <a:rPr lang="en-US" altLang="ko-KR" sz="1000"/>
              <a:t>.</a:t>
            </a:r>
            <a:br>
              <a:rPr lang="en-US" altLang="ko-KR" sz="1000"/>
            </a:br>
            <a:r>
              <a:rPr lang="ko-KR" altLang="en-US" sz="1000"/>
              <a:t>이는 </a:t>
            </a:r>
            <a:r>
              <a:rPr lang="en-US" altLang="ko-KR" sz="1000"/>
              <a:t>JPA </a:t>
            </a:r>
            <a:r>
              <a:rPr lang="ko-KR" altLang="en-US" sz="1000"/>
              <a:t>단에서의 결합도를 의미한다</a:t>
            </a:r>
            <a:r>
              <a:rPr lang="en-US" altLang="ko-KR" sz="1000"/>
              <a:t>.</a:t>
            </a:r>
          </a:p>
          <a:p>
            <a:r>
              <a:rPr lang="en-US" altLang="ko-KR" sz="1000"/>
              <a:t>1. </a:t>
            </a:r>
            <a:r>
              <a:rPr lang="ko-KR" altLang="en-US" sz="1000"/>
              <a:t>결합도를 제거하려면</a:t>
            </a:r>
            <a:r>
              <a:rPr lang="en-US" altLang="ko-KR" sz="1000"/>
              <a:t>? </a:t>
            </a:r>
            <a:br>
              <a:rPr lang="en-US" altLang="ko-KR" sz="1000"/>
            </a:br>
            <a:r>
              <a:rPr lang="en-US" altLang="ko-KR" sz="1000">
                <a:sym typeface="Wingdings" panose="05000000000000000000" pitchFamily="2" charset="2"/>
              </a:rPr>
              <a:t> </a:t>
            </a:r>
            <a:r>
              <a:rPr lang="ko-KR" altLang="en-US" sz="1000">
                <a:sym typeface="Wingdings" panose="05000000000000000000" pitchFamily="2" charset="2"/>
              </a:rPr>
              <a:t>회원 테이블의 복제 테이블을 댓글이 바라보는 형식으로 바꾼다</a:t>
            </a:r>
            <a:r>
              <a:rPr lang="en-US" altLang="ko-KR" sz="1000">
                <a:sym typeface="Wingdings" panose="05000000000000000000" pitchFamily="2" charset="2"/>
              </a:rPr>
              <a:t>.</a:t>
            </a:r>
            <a:br>
              <a:rPr lang="en-US" altLang="ko-KR" sz="1000">
                <a:sym typeface="Wingdings" panose="05000000000000000000" pitchFamily="2" charset="2"/>
              </a:rPr>
            </a:br>
            <a:r>
              <a:rPr lang="en-US" altLang="ko-KR" sz="1000">
                <a:sym typeface="Wingdings" panose="05000000000000000000" pitchFamily="2" charset="2"/>
              </a:rPr>
              <a:t>2. </a:t>
            </a:r>
            <a:r>
              <a:rPr lang="ko-KR" altLang="en-US" sz="1000">
                <a:sym typeface="Wingdings" panose="05000000000000000000" pitchFamily="2" charset="2"/>
              </a:rPr>
              <a:t>복제로 인한 데이터 일관성의 보장은</a:t>
            </a:r>
            <a:r>
              <a:rPr lang="en-US" altLang="ko-KR" sz="1000">
                <a:sym typeface="Wingdings" panose="05000000000000000000" pitchFamily="2" charset="2"/>
              </a:rPr>
              <a:t>? </a:t>
            </a:r>
            <a:br>
              <a:rPr lang="en-US" altLang="ko-KR" sz="1000">
                <a:sym typeface="Wingdings" panose="05000000000000000000" pitchFamily="2" charset="2"/>
              </a:rPr>
            </a:br>
            <a:r>
              <a:rPr lang="en-US" altLang="ko-KR" sz="1000">
                <a:sym typeface="Wingdings" panose="05000000000000000000" pitchFamily="2" charset="2"/>
              </a:rPr>
              <a:t> </a:t>
            </a:r>
            <a:r>
              <a:rPr lang="ko-KR" altLang="en-US" sz="1000">
                <a:sym typeface="Wingdings" panose="05000000000000000000" pitchFamily="2" charset="2"/>
              </a:rPr>
              <a:t> 회원 엔티티 내</a:t>
            </a:r>
            <a:r>
              <a:rPr lang="en-US" altLang="ko-KR" sz="1000">
                <a:sym typeface="Wingdings" panose="05000000000000000000" pitchFamily="2" charset="2"/>
              </a:rPr>
              <a:t>,</a:t>
            </a:r>
            <a:r>
              <a:rPr lang="ko-KR" altLang="en-US" sz="1000">
                <a:sym typeface="Wingdings" panose="05000000000000000000" pitchFamily="2" charset="2"/>
              </a:rPr>
              <a:t> 활동점수 변경 시 이벤트를 발생 </a:t>
            </a:r>
            <a:br>
              <a:rPr lang="en-US" altLang="ko-KR" sz="1000">
                <a:sym typeface="Wingdings" panose="05000000000000000000" pitchFamily="2" charset="2"/>
              </a:rPr>
            </a:br>
            <a:r>
              <a:rPr lang="en-US" altLang="ko-KR" sz="1000">
                <a:sym typeface="Wingdings" panose="05000000000000000000" pitchFamily="2" charset="2"/>
              </a:rPr>
              <a:t>      </a:t>
            </a:r>
            <a:r>
              <a:rPr lang="ko-KR" altLang="en-US" sz="1000">
                <a:sym typeface="Wingdings" panose="05000000000000000000" pitchFamily="2" charset="2"/>
              </a:rPr>
              <a:t>이벤트에서 복제 회원 엔티티를 동기화 시킨다</a:t>
            </a:r>
            <a:r>
              <a:rPr lang="en-US" altLang="ko-KR" sz="1000">
                <a:sym typeface="Wingdings" panose="05000000000000000000" pitchFamily="2" charset="2"/>
              </a:rPr>
              <a:t>.</a:t>
            </a:r>
            <a:br>
              <a:rPr lang="en-US" altLang="ko-KR" sz="1000">
                <a:sym typeface="Wingdings" panose="05000000000000000000" pitchFamily="2" charset="2"/>
              </a:rPr>
            </a:br>
            <a:r>
              <a:rPr lang="en-US" altLang="ko-KR" sz="1000">
                <a:sym typeface="Wingdings" panose="05000000000000000000" pitchFamily="2" charset="2"/>
              </a:rPr>
              <a:t>3. Entity</a:t>
            </a:r>
            <a:r>
              <a:rPr lang="ko-KR" altLang="en-US" sz="1000">
                <a:sym typeface="Wingdings" panose="05000000000000000000" pitchFamily="2" charset="2"/>
              </a:rPr>
              <a:t>내 </a:t>
            </a:r>
            <a:r>
              <a:rPr lang="en-US" altLang="ko-KR" sz="1000">
                <a:sym typeface="Wingdings" panose="05000000000000000000" pitchFamily="2" charset="2"/>
              </a:rPr>
              <a:t>EventPublisher</a:t>
            </a:r>
            <a:r>
              <a:rPr lang="ko-KR" altLang="en-US" sz="1000">
                <a:sym typeface="Wingdings" panose="05000000000000000000" pitchFamily="2" charset="2"/>
              </a:rPr>
              <a:t>를 주입받으려 하면 멤버변수로 인식할 텐데</a:t>
            </a:r>
            <a:r>
              <a:rPr lang="en-US" altLang="ko-KR" sz="1000">
                <a:sym typeface="Wingdings" panose="05000000000000000000" pitchFamily="2" charset="2"/>
              </a:rPr>
              <a:t>?</a:t>
            </a:r>
            <a:br>
              <a:rPr lang="en-US" altLang="ko-KR" sz="1000">
                <a:sym typeface="Wingdings" panose="05000000000000000000" pitchFamily="2" charset="2"/>
              </a:rPr>
            </a:br>
            <a:r>
              <a:rPr lang="en-US" altLang="ko-KR" sz="1000">
                <a:sym typeface="Wingdings" panose="05000000000000000000" pitchFamily="2" charset="2"/>
              </a:rPr>
              <a:t> </a:t>
            </a:r>
            <a:r>
              <a:rPr lang="ko-KR" altLang="en-US" sz="1000">
                <a:sym typeface="Wingdings" panose="05000000000000000000" pitchFamily="2" charset="2"/>
              </a:rPr>
              <a:t>이를 위해 다음 페이지에서 도메인에 결합된 비지니스 로직 이벤트 </a:t>
            </a:r>
            <a:br>
              <a:rPr lang="en-US" altLang="ko-KR" sz="1000">
                <a:sym typeface="Wingdings" panose="05000000000000000000" pitchFamily="2" charset="2"/>
              </a:rPr>
            </a:br>
            <a:r>
              <a:rPr lang="en-US" altLang="ko-KR" sz="1000">
                <a:sym typeface="Wingdings" panose="05000000000000000000" pitchFamily="2" charset="2"/>
              </a:rPr>
              <a:t>      </a:t>
            </a:r>
            <a:r>
              <a:rPr lang="ko-KR" altLang="en-US" sz="1000">
                <a:sym typeface="Wingdings" panose="05000000000000000000" pitchFamily="2" charset="2"/>
              </a:rPr>
              <a:t>발행 방법을 설명함</a:t>
            </a:r>
            <a:endParaRPr lang="ko-KR" altLang="en-US" sz="100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5D9FEB9-B155-8A8F-A531-6ECC34182F35}"/>
              </a:ext>
            </a:extLst>
          </p:cNvPr>
          <p:cNvGrpSpPr/>
          <p:nvPr/>
        </p:nvGrpSpPr>
        <p:grpSpPr>
          <a:xfrm>
            <a:off x="4585579" y="4052659"/>
            <a:ext cx="3323827" cy="2165262"/>
            <a:chOff x="1321496" y="2085584"/>
            <a:chExt cx="3713967" cy="2617939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7CAE6DF9-AF82-D838-0ADA-DB4483D92829}"/>
                </a:ext>
              </a:extLst>
            </p:cNvPr>
            <p:cNvSpPr/>
            <p:nvPr/>
          </p:nvSpPr>
          <p:spPr>
            <a:xfrm>
              <a:off x="1321496" y="2085584"/>
              <a:ext cx="3713967" cy="261793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F824ADBD-36C0-59E6-7A55-525A39774047}"/>
                </a:ext>
              </a:extLst>
            </p:cNvPr>
            <p:cNvSpPr/>
            <p:nvPr/>
          </p:nvSpPr>
          <p:spPr>
            <a:xfrm>
              <a:off x="1521912" y="2235896"/>
              <a:ext cx="1340285" cy="102087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회원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9F7288D0-DA8C-6EA1-E036-D572D8219016}"/>
                </a:ext>
              </a:extLst>
            </p:cNvPr>
            <p:cNvSpPr/>
            <p:nvPr/>
          </p:nvSpPr>
          <p:spPr>
            <a:xfrm>
              <a:off x="3411254" y="2235896"/>
              <a:ext cx="1340285" cy="102087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댓글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7D7F30D-6E4A-0AC6-B7A7-99BE38E828A7}"/>
              </a:ext>
            </a:extLst>
          </p:cNvPr>
          <p:cNvSpPr txBox="1"/>
          <p:nvPr/>
        </p:nvSpPr>
        <p:spPr>
          <a:xfrm>
            <a:off x="8760479" y="2483915"/>
            <a:ext cx="19743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댓글 작성 시 회원 활동 점수 증가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61941B58-CFE0-6F1F-80F1-962C4ECEF34F}"/>
              </a:ext>
            </a:extLst>
          </p:cNvPr>
          <p:cNvGrpSpPr/>
          <p:nvPr/>
        </p:nvGrpSpPr>
        <p:grpSpPr>
          <a:xfrm>
            <a:off x="4717682" y="5145509"/>
            <a:ext cx="676369" cy="752580"/>
            <a:chOff x="4875221" y="5171877"/>
            <a:chExt cx="676369" cy="752580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825CA976-0D44-4C03-B048-376486722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75221" y="5171877"/>
              <a:ext cx="676369" cy="75258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DD619A1-658C-B9D2-9E82-736E4CA63042}"/>
                </a:ext>
              </a:extLst>
            </p:cNvPr>
            <p:cNvSpPr txBox="1"/>
            <p:nvPr/>
          </p:nvSpPr>
          <p:spPr>
            <a:xfrm>
              <a:off x="4985468" y="5511580"/>
              <a:ext cx="461175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50"/>
                <a:t>회원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3E9B5ABA-F5F3-A5C4-7629-5A4A42DF5F96}"/>
              </a:ext>
            </a:extLst>
          </p:cNvPr>
          <p:cNvGrpSpPr/>
          <p:nvPr/>
        </p:nvGrpSpPr>
        <p:grpSpPr>
          <a:xfrm>
            <a:off x="6247491" y="5135290"/>
            <a:ext cx="1600445" cy="752580"/>
            <a:chOff x="6247492" y="5135290"/>
            <a:chExt cx="1507326" cy="76294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294DCCDD-D92B-5146-8236-D45017669185}"/>
                </a:ext>
              </a:extLst>
            </p:cNvPr>
            <p:cNvGrpSpPr/>
            <p:nvPr/>
          </p:nvGrpSpPr>
          <p:grpSpPr>
            <a:xfrm>
              <a:off x="6247492" y="5135290"/>
              <a:ext cx="676369" cy="752580"/>
              <a:chOff x="6247492" y="5135290"/>
              <a:chExt cx="676369" cy="752580"/>
            </a:xfrm>
          </p:grpSpPr>
          <p:pic>
            <p:nvPicPr>
              <p:cNvPr id="25" name="그림 24">
                <a:extLst>
                  <a:ext uri="{FF2B5EF4-FFF2-40B4-BE49-F238E27FC236}">
                    <a16:creationId xmlns:a16="http://schemas.microsoft.com/office/drawing/2014/main" id="{902B499D-F968-7144-09F6-D953E37DA6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47492" y="5135290"/>
                <a:ext cx="676369" cy="752580"/>
              </a:xfrm>
              <a:prstGeom prst="rect">
                <a:avLst/>
              </a:prstGeom>
            </p:spPr>
          </p:pic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42A38CD-DD24-7943-6E64-ECFDEF64FBFA}"/>
                  </a:ext>
                </a:extLst>
              </p:cNvPr>
              <p:cNvSpPr txBox="1"/>
              <p:nvPr/>
            </p:nvSpPr>
            <p:spPr>
              <a:xfrm>
                <a:off x="6386892" y="5400748"/>
                <a:ext cx="461175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50"/>
                  <a:t>회원</a:t>
                </a:r>
                <a:br>
                  <a:rPr lang="en-US" altLang="ko-KR" sz="1050"/>
                </a:br>
                <a:r>
                  <a:rPr lang="ko-KR" altLang="en-US" sz="1050"/>
                  <a:t>복제</a:t>
                </a:r>
              </a:p>
            </p:txBody>
          </p: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8B5F561C-4E58-CD0C-B693-C83FFB6753F9}"/>
                </a:ext>
              </a:extLst>
            </p:cNvPr>
            <p:cNvGrpSpPr/>
            <p:nvPr/>
          </p:nvGrpSpPr>
          <p:grpSpPr>
            <a:xfrm>
              <a:off x="7078449" y="5145650"/>
              <a:ext cx="676369" cy="752580"/>
              <a:chOff x="7078449" y="5145650"/>
              <a:chExt cx="676369" cy="752580"/>
            </a:xfrm>
          </p:grpSpPr>
          <p:pic>
            <p:nvPicPr>
              <p:cNvPr id="26" name="그림 25">
                <a:extLst>
                  <a:ext uri="{FF2B5EF4-FFF2-40B4-BE49-F238E27FC236}">
                    <a16:creationId xmlns:a16="http://schemas.microsoft.com/office/drawing/2014/main" id="{6DAD9DA6-4F3A-F1E6-F6C6-93E53072C2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078449" y="5145650"/>
                <a:ext cx="676369" cy="752580"/>
              </a:xfrm>
              <a:prstGeom prst="rect">
                <a:avLst/>
              </a:prstGeom>
            </p:spPr>
          </p:pic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9506BD2-022D-4F30-FD72-06F73F6C4A7E}"/>
                  </a:ext>
                </a:extLst>
              </p:cNvPr>
              <p:cNvSpPr txBox="1"/>
              <p:nvPr/>
            </p:nvSpPr>
            <p:spPr>
              <a:xfrm>
                <a:off x="7223449" y="5365292"/>
                <a:ext cx="46117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50"/>
                  <a:t>댓글</a:t>
                </a:r>
              </a:p>
            </p:txBody>
          </p:sp>
        </p:grpSp>
      </p:grp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BCF55F18-47A3-018B-E5E6-9A757A6515BA}"/>
              </a:ext>
            </a:extLst>
          </p:cNvPr>
          <p:cNvCxnSpPr>
            <a:endCxn id="25" idx="1"/>
          </p:cNvCxnSpPr>
          <p:nvPr/>
        </p:nvCxnSpPr>
        <p:spPr>
          <a:xfrm flipV="1">
            <a:off x="5470497" y="5506471"/>
            <a:ext cx="776994" cy="102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5905EA17-B8E5-EA94-0E27-952151B32DC5}"/>
              </a:ext>
            </a:extLst>
          </p:cNvPr>
          <p:cNvSpPr txBox="1"/>
          <p:nvPr/>
        </p:nvSpPr>
        <p:spPr>
          <a:xfrm>
            <a:off x="5515714" y="5111376"/>
            <a:ext cx="670307" cy="948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회원 정보 생성 및 수정시 동기화</a:t>
            </a:r>
          </a:p>
        </p:txBody>
      </p:sp>
    </p:spTree>
    <p:extLst>
      <p:ext uri="{BB962C8B-B14F-4D97-AF65-F5344CB8AC3E}">
        <p14:creationId xmlns:p14="http://schemas.microsoft.com/office/powerpoint/2010/main" val="3875126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EB706C-5010-7F34-B09D-B9CEDC37F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/>
              <a:t>도메인에 결합된 비지니스 로직 이벤트 발행</a:t>
            </a:r>
            <a:r>
              <a:rPr lang="en-US" altLang="ko-KR" sz="3200"/>
              <a:t>(1)</a:t>
            </a:r>
            <a:endParaRPr lang="ko-KR" altLang="en-US" sz="32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329FF9F-B16A-8CCA-AD12-DFA834C6E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828" y="1878432"/>
            <a:ext cx="3997019" cy="253454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7C0F4EE-FCDA-943A-1A59-1CE69F82F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4095" y="1878432"/>
            <a:ext cx="6621585" cy="197694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D80D6DD-9C69-287F-F7FB-1FD0EA2D16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828" y="4488808"/>
            <a:ext cx="4802103" cy="2369192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84FF2FF7-B67C-B084-B95A-71BC2D13150C}"/>
              </a:ext>
            </a:extLst>
          </p:cNvPr>
          <p:cNvSpPr/>
          <p:nvPr/>
        </p:nvSpPr>
        <p:spPr>
          <a:xfrm>
            <a:off x="7776376" y="1878432"/>
            <a:ext cx="4015796" cy="16439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>
                <a:solidFill>
                  <a:schemeClr val="tx1"/>
                </a:solidFill>
              </a:rPr>
              <a:t>Member </a:t>
            </a:r>
            <a:r>
              <a:rPr lang="ko-KR" altLang="en-US" sz="1100">
                <a:solidFill>
                  <a:schemeClr val="tx1"/>
                </a:solidFill>
              </a:rPr>
              <a:t>상속을 타고 가면 최종적으로 </a:t>
            </a:r>
            <a:r>
              <a:rPr lang="en-US" altLang="ko-KR" sz="1100">
                <a:solidFill>
                  <a:schemeClr val="tx1"/>
                </a:solidFill>
              </a:rPr>
              <a:t>BaseEntity</a:t>
            </a:r>
            <a:r>
              <a:rPr lang="ko-KR" altLang="en-US" sz="1100">
                <a:solidFill>
                  <a:schemeClr val="tx1"/>
                </a:solidFill>
              </a:rPr>
              <a:t>에서 이벤트 발행에 대한 메소드를 가지고 있다</a:t>
            </a:r>
            <a:r>
              <a:rPr lang="en-US" altLang="ko-KR" sz="1100">
                <a:solidFill>
                  <a:schemeClr val="tx1"/>
                </a:solidFill>
              </a:rPr>
              <a:t>. </a:t>
            </a:r>
            <a:br>
              <a:rPr lang="en-US" altLang="ko-KR" sz="1100">
                <a:solidFill>
                  <a:schemeClr val="tx1"/>
                </a:solidFill>
              </a:rPr>
            </a:br>
            <a:r>
              <a:rPr lang="en-US" altLang="ko-KR" sz="1100">
                <a:solidFill>
                  <a:schemeClr val="tx1"/>
                </a:solidFill>
              </a:rPr>
              <a:t>GlobalConfig</a:t>
            </a:r>
            <a:r>
              <a:rPr lang="ko-KR" altLang="en-US" sz="1100">
                <a:solidFill>
                  <a:schemeClr val="tx1"/>
                </a:solidFill>
              </a:rPr>
              <a:t>는 </a:t>
            </a:r>
            <a:r>
              <a:rPr lang="en-US" altLang="ko-KR" sz="1100">
                <a:solidFill>
                  <a:schemeClr val="tx1"/>
                </a:solidFill>
              </a:rPr>
              <a:t>Global</a:t>
            </a:r>
            <a:r>
              <a:rPr lang="ko-KR" altLang="en-US" sz="1100">
                <a:solidFill>
                  <a:schemeClr val="tx1"/>
                </a:solidFill>
              </a:rPr>
              <a:t> 레벨로 등록한 </a:t>
            </a:r>
            <a:r>
              <a:rPr lang="en-US" altLang="ko-KR" sz="1100">
                <a:solidFill>
                  <a:schemeClr val="tx1"/>
                </a:solidFill>
              </a:rPr>
              <a:t>EventPublisher</a:t>
            </a:r>
            <a:r>
              <a:rPr lang="ko-KR" altLang="en-US" sz="1100">
                <a:solidFill>
                  <a:schemeClr val="tx1"/>
                </a:solidFill>
              </a:rPr>
              <a:t>를 스태틱 메소드로 반환한다</a:t>
            </a:r>
            <a:r>
              <a:rPr lang="en-US" altLang="ko-KR" sz="1100">
                <a:solidFill>
                  <a:schemeClr val="tx1"/>
                </a:solidFill>
              </a:rPr>
              <a:t>.</a:t>
            </a:r>
            <a:endParaRPr lang="ko-KR" altLang="en-US" sz="1100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AC878A0-2460-8751-A26D-ABB1B1AB2F52}"/>
              </a:ext>
            </a:extLst>
          </p:cNvPr>
          <p:cNvGrpSpPr/>
          <p:nvPr/>
        </p:nvGrpSpPr>
        <p:grpSpPr>
          <a:xfrm>
            <a:off x="5692603" y="4067033"/>
            <a:ext cx="4655511" cy="2561238"/>
            <a:chOff x="5692603" y="4067033"/>
            <a:chExt cx="4655511" cy="2561238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A2CD9989-7264-BE2D-ED23-8FEE4E8130C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92603" y="4067033"/>
              <a:ext cx="4655511" cy="2561238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1E10564-6F26-FDC6-52D8-9381461AB501}"/>
                </a:ext>
              </a:extLst>
            </p:cNvPr>
            <p:cNvSpPr/>
            <p:nvPr/>
          </p:nvSpPr>
          <p:spPr>
            <a:xfrm>
              <a:off x="6217920" y="6146358"/>
              <a:ext cx="2790908" cy="20673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89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94E35-B696-D4A6-1FCE-199D24226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10AB77-F385-57CE-ACA2-32B5AFAF8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/>
              <a:t>도메인에 결합된 비지니스 로직 이벤트 발행</a:t>
            </a:r>
            <a:r>
              <a:rPr lang="en-US" altLang="ko-KR" sz="3200"/>
              <a:t>(2)</a:t>
            </a:r>
            <a:endParaRPr lang="ko-KR" altLang="en-US" sz="32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5B86834-8EB5-3109-8BC8-57A05EA18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372" y="1824284"/>
            <a:ext cx="7218158" cy="14008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276336-1C1D-8D7A-2784-9B26AB9710D9}"/>
              </a:ext>
            </a:extLst>
          </p:cNvPr>
          <p:cNvSpPr txBox="1"/>
          <p:nvPr/>
        </p:nvSpPr>
        <p:spPr>
          <a:xfrm>
            <a:off x="1186372" y="3299791"/>
            <a:ext cx="101680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GlobalConfig</a:t>
            </a:r>
            <a:r>
              <a:rPr lang="ko-KR" altLang="en-US" sz="1100"/>
              <a:t>에서 </a:t>
            </a:r>
            <a:r>
              <a:rPr lang="en-US" altLang="ko-KR" sz="1100"/>
              <a:t>EventPublisher</a:t>
            </a:r>
            <a:r>
              <a:rPr lang="ko-KR" altLang="en-US" sz="1100"/>
              <a:t>를 </a:t>
            </a:r>
            <a:r>
              <a:rPr lang="en-US" altLang="ko-KR" sz="1100"/>
              <a:t>static</a:t>
            </a:r>
            <a:r>
              <a:rPr lang="ko-KR" altLang="en-US" sz="1100"/>
              <a:t>으로 선언함으로써</a:t>
            </a:r>
            <a:r>
              <a:rPr lang="en-US" altLang="ko-KR" sz="1100"/>
              <a:t>, getter</a:t>
            </a:r>
            <a:r>
              <a:rPr lang="ko-KR" altLang="en-US" sz="1100"/>
              <a:t> 메소드를 </a:t>
            </a:r>
            <a:r>
              <a:rPr lang="en-US" altLang="ko-KR" sz="1100"/>
              <a:t>static</a:t>
            </a:r>
            <a:r>
              <a:rPr lang="ko-KR" altLang="en-US" sz="1100"/>
              <a:t>으로 제공하게 한다</a:t>
            </a:r>
            <a:r>
              <a:rPr lang="en-US" altLang="ko-KR" sz="1100"/>
              <a:t>.</a:t>
            </a:r>
            <a:br>
              <a:rPr lang="en-US" altLang="ko-KR" sz="1100"/>
            </a:br>
            <a:br>
              <a:rPr lang="en-US" altLang="ko-KR" sz="1100"/>
            </a:br>
            <a:r>
              <a:rPr lang="en-US" altLang="ko-KR" sz="1100"/>
              <a:t>GlobalConfig</a:t>
            </a:r>
            <a:r>
              <a:rPr lang="ko-KR" altLang="en-US" sz="1100"/>
              <a:t>에선 </a:t>
            </a:r>
            <a:r>
              <a:rPr lang="en-US" altLang="ko-KR" sz="1100"/>
              <a:t>EventPublisher</a:t>
            </a:r>
            <a:r>
              <a:rPr lang="ko-KR" altLang="en-US" sz="1100"/>
              <a:t>에 대한 </a:t>
            </a:r>
            <a:r>
              <a:rPr lang="en-US" altLang="ko-KR" sz="1100"/>
              <a:t>Setter</a:t>
            </a:r>
            <a:r>
              <a:rPr lang="ko-KR" altLang="en-US" sz="1100"/>
              <a:t>를 </a:t>
            </a:r>
            <a:r>
              <a:rPr lang="en-US" altLang="ko-KR" sz="1100"/>
              <a:t>static</a:t>
            </a:r>
            <a:r>
              <a:rPr lang="ko-KR" altLang="en-US" sz="1100"/>
              <a:t> 메소드로 제공하지 않기 위해</a:t>
            </a:r>
            <a:br>
              <a:rPr lang="en-US" altLang="ko-KR" sz="1100"/>
            </a:br>
            <a:r>
              <a:rPr lang="ko-KR" altLang="en-US" sz="1100"/>
              <a:t>직접 </a:t>
            </a:r>
            <a:r>
              <a:rPr lang="en-US" altLang="ko-KR" sz="1100"/>
              <a:t>setter </a:t>
            </a:r>
            <a:r>
              <a:rPr lang="ko-KR" altLang="en-US" sz="1100"/>
              <a:t>메소드를 작성했으며</a:t>
            </a:r>
            <a:r>
              <a:rPr lang="en-US" altLang="ko-KR" sz="1100"/>
              <a:t>, </a:t>
            </a:r>
            <a:r>
              <a:rPr lang="ko-KR" altLang="en-US" sz="1100"/>
              <a:t>의존성 주입을 위해 </a:t>
            </a:r>
            <a:r>
              <a:rPr lang="en-US" altLang="ko-KR" sz="1100"/>
              <a:t>@Autowired</a:t>
            </a:r>
            <a:r>
              <a:rPr lang="ko-KR" altLang="en-US" sz="1100"/>
              <a:t>를 사용했다</a:t>
            </a:r>
            <a:r>
              <a:rPr lang="en-US" altLang="ko-KR" sz="1100"/>
              <a:t>.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4293751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0017B9-79B9-D513-ACA4-176F52B08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회원 도메인의 상속관계가 많은 이유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A440384-7525-3246-0334-C5C2CC673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87" y="1816873"/>
            <a:ext cx="2536925" cy="49451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18584679-0F82-8B85-46F1-47627C78C4CB}"/>
              </a:ext>
            </a:extLst>
          </p:cNvPr>
          <p:cNvSpPr/>
          <p:nvPr/>
        </p:nvSpPr>
        <p:spPr>
          <a:xfrm>
            <a:off x="1423283" y="6571396"/>
            <a:ext cx="1097280" cy="1905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26C44FB-81F4-BDD5-4B6C-40093D98A57B}"/>
              </a:ext>
            </a:extLst>
          </p:cNvPr>
          <p:cNvSpPr/>
          <p:nvPr/>
        </p:nvSpPr>
        <p:spPr>
          <a:xfrm>
            <a:off x="1423283" y="6245759"/>
            <a:ext cx="1097280" cy="190587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4E5B2DB-7251-B871-1B76-710B0AC00B85}"/>
              </a:ext>
            </a:extLst>
          </p:cNvPr>
          <p:cNvSpPr/>
          <p:nvPr/>
        </p:nvSpPr>
        <p:spPr>
          <a:xfrm>
            <a:off x="1337143" y="4958973"/>
            <a:ext cx="1097280" cy="19058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4CC5863-5FF7-95F3-20C4-C81383E66916}"/>
              </a:ext>
            </a:extLst>
          </p:cNvPr>
          <p:cNvSpPr/>
          <p:nvPr/>
        </p:nvSpPr>
        <p:spPr>
          <a:xfrm>
            <a:off x="1337143" y="2964521"/>
            <a:ext cx="1097280" cy="1905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3DACDC-8712-7A9E-4938-1298407E9EA9}"/>
              </a:ext>
            </a:extLst>
          </p:cNvPr>
          <p:cNvSpPr txBox="1"/>
          <p:nvPr/>
        </p:nvSpPr>
        <p:spPr>
          <a:xfrm>
            <a:off x="2949934" y="1876508"/>
            <a:ext cx="8531749" cy="445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8page</a:t>
            </a:r>
            <a:r>
              <a:rPr lang="ko-KR" altLang="en-US" sz="1050"/>
              <a:t>에서 </a:t>
            </a:r>
            <a:r>
              <a:rPr lang="en-US" altLang="ko-KR" sz="1050"/>
              <a:t>Member</a:t>
            </a:r>
            <a:r>
              <a:rPr lang="ko-KR" altLang="en-US" sz="1050"/>
              <a:t>는 </a:t>
            </a:r>
            <a:r>
              <a:rPr lang="en-US" altLang="ko-KR" sz="1050"/>
              <a:t>SourceMember</a:t>
            </a:r>
            <a:r>
              <a:rPr lang="ko-KR" altLang="en-US" sz="1050"/>
              <a:t>를 상속 받고</a:t>
            </a:r>
            <a:br>
              <a:rPr lang="en-US" altLang="ko-KR" sz="1050"/>
            </a:br>
            <a:r>
              <a:rPr lang="en-US" altLang="ko-KR" sz="1050"/>
              <a:t>SourceMember</a:t>
            </a:r>
            <a:r>
              <a:rPr lang="ko-KR" altLang="en-US" sz="1050"/>
              <a:t>는 </a:t>
            </a:r>
            <a:r>
              <a:rPr lang="en-US" altLang="ko-KR" sz="1050"/>
              <a:t>BaseMember</a:t>
            </a:r>
            <a:r>
              <a:rPr lang="ko-KR" altLang="en-US" sz="1050"/>
              <a:t>를 상속받으며 </a:t>
            </a:r>
            <a:br>
              <a:rPr lang="en-US" altLang="ko-KR" sz="1050"/>
            </a:br>
            <a:r>
              <a:rPr lang="en-US" altLang="ko-KR" sz="1050"/>
              <a:t>BaseMember</a:t>
            </a:r>
            <a:r>
              <a:rPr lang="ko-KR" altLang="en-US" sz="1050"/>
              <a:t>는 </a:t>
            </a:r>
            <a:r>
              <a:rPr lang="en-US" altLang="ko-KR" sz="1050"/>
              <a:t>BaseEntity</a:t>
            </a:r>
            <a:r>
              <a:rPr lang="ko-KR" altLang="en-US" sz="1050"/>
              <a:t>를 상속받는다</a:t>
            </a:r>
            <a:r>
              <a:rPr lang="en-US" altLang="ko-KR" sz="1050"/>
              <a:t>.</a:t>
            </a:r>
          </a:p>
          <a:p>
            <a:endParaRPr lang="en-US" altLang="ko-KR" sz="1050"/>
          </a:p>
          <a:p>
            <a:r>
              <a:rPr lang="ko-KR" altLang="en-US" sz="1050" b="1"/>
              <a:t>생각해보기</a:t>
            </a:r>
            <a:endParaRPr lang="en-US" altLang="ko-KR" sz="1050" b="1"/>
          </a:p>
          <a:p>
            <a:r>
              <a:rPr lang="ko-KR" altLang="en-US" sz="1050"/>
              <a:t>왜 이렇게 많은 상속을 받을까</a:t>
            </a:r>
            <a:r>
              <a:rPr lang="en-US" altLang="ko-KR" sz="1050"/>
              <a:t>?</a:t>
            </a:r>
            <a:br>
              <a:rPr lang="en-US" altLang="ko-KR" sz="1050"/>
            </a:br>
            <a:r>
              <a:rPr lang="en-US" altLang="ko-KR" sz="1050"/>
              <a:t>1. BaseEntity </a:t>
            </a:r>
            <a:r>
              <a:rPr lang="en-US" altLang="ko-KR" sz="1050">
                <a:sym typeface="Wingdings" panose="05000000000000000000" pitchFamily="2" charset="2"/>
              </a:rPr>
              <a:t> </a:t>
            </a:r>
            <a:r>
              <a:rPr lang="ko-KR" altLang="en-US" sz="1050">
                <a:sym typeface="Wingdings" panose="05000000000000000000" pitchFamily="2" charset="2"/>
              </a:rPr>
              <a:t>생성일 </a:t>
            </a:r>
            <a:r>
              <a:rPr lang="en-US" altLang="ko-KR" sz="1050">
                <a:sym typeface="Wingdings" panose="05000000000000000000" pitchFamily="2" charset="2"/>
              </a:rPr>
              <a:t>, </a:t>
            </a:r>
            <a:r>
              <a:rPr lang="ko-KR" altLang="en-US" sz="1050">
                <a:sym typeface="Wingdings" panose="05000000000000000000" pitchFamily="2" charset="2"/>
              </a:rPr>
              <a:t>수정일</a:t>
            </a:r>
            <a:r>
              <a:rPr lang="en-US" altLang="ko-KR" sz="1050">
                <a:sym typeface="Wingdings" panose="05000000000000000000" pitchFamily="2" charset="2"/>
              </a:rPr>
              <a:t>, </a:t>
            </a:r>
            <a:r>
              <a:rPr lang="ko-KR" altLang="en-US" sz="1050">
                <a:sym typeface="Wingdings" panose="05000000000000000000" pitchFamily="2" charset="2"/>
              </a:rPr>
              <a:t>클래스 이름 정보</a:t>
            </a:r>
            <a:r>
              <a:rPr lang="en-US" altLang="ko-KR" sz="1050">
                <a:sym typeface="Wingdings" panose="05000000000000000000" pitchFamily="2" charset="2"/>
              </a:rPr>
              <a:t>, </a:t>
            </a:r>
            <a:r>
              <a:rPr lang="ko-KR" altLang="en-US" sz="1050">
                <a:sym typeface="Wingdings" panose="05000000000000000000" pitchFamily="2" charset="2"/>
              </a:rPr>
              <a:t>이벤트 발생에 대한 정보를 가지는 </a:t>
            </a:r>
            <a:br>
              <a:rPr lang="en-US" altLang="ko-KR" sz="1050">
                <a:sym typeface="Wingdings" panose="05000000000000000000" pitchFamily="2" charset="2"/>
              </a:rPr>
            </a:br>
            <a:r>
              <a:rPr lang="en-US" altLang="ko-KR" sz="1050">
                <a:sym typeface="Wingdings" panose="05000000000000000000" pitchFamily="2" charset="2"/>
              </a:rPr>
              <a:t>   </a:t>
            </a:r>
            <a:r>
              <a:rPr lang="ko-KR" altLang="en-US" sz="1050">
                <a:sym typeface="Wingdings" panose="05000000000000000000" pitchFamily="2" charset="2"/>
              </a:rPr>
              <a:t>최상위 추상 클래스 </a:t>
            </a:r>
            <a:br>
              <a:rPr lang="en-US" altLang="ko-KR" sz="1050">
                <a:sym typeface="Wingdings" panose="05000000000000000000" pitchFamily="2" charset="2"/>
              </a:rPr>
            </a:br>
            <a:r>
              <a:rPr lang="en-US" altLang="ko-KR" sz="1050">
                <a:sym typeface="Wingdings" panose="05000000000000000000" pitchFamily="2" charset="2"/>
              </a:rPr>
              <a:t>    ( ※ </a:t>
            </a:r>
            <a:r>
              <a:rPr lang="ko-KR" altLang="en-US" sz="1050">
                <a:sym typeface="Wingdings" panose="05000000000000000000" pitchFamily="2" charset="2"/>
              </a:rPr>
              <a:t>모든 추상 메소드는 가장 아래의 자손 클래스에서라도 정의되어야함 </a:t>
            </a:r>
            <a:r>
              <a:rPr lang="en-US" altLang="ko-KR" sz="1050">
                <a:sym typeface="Wingdings" panose="05000000000000000000" pitchFamily="2" charset="2"/>
              </a:rPr>
              <a:t>)</a:t>
            </a:r>
            <a:br>
              <a:rPr lang="en-US" altLang="ko-KR" sz="1050">
                <a:sym typeface="Wingdings" panose="05000000000000000000" pitchFamily="2" charset="2"/>
              </a:rPr>
            </a:br>
            <a:r>
              <a:rPr lang="en-US" altLang="ko-KR" sz="1050">
                <a:sym typeface="Wingdings" panose="05000000000000000000" pitchFamily="2" charset="2"/>
              </a:rPr>
              <a:t>    -  Id, </a:t>
            </a:r>
            <a:r>
              <a:rPr lang="ko-KR" altLang="en-US" sz="1050">
                <a:sym typeface="Wingdings" panose="05000000000000000000" pitchFamily="2" charset="2"/>
              </a:rPr>
              <a:t>생성일 </a:t>
            </a:r>
            <a:r>
              <a:rPr lang="en-US" altLang="ko-KR" sz="1050">
                <a:sym typeface="Wingdings" panose="05000000000000000000" pitchFamily="2" charset="2"/>
              </a:rPr>
              <a:t>, </a:t>
            </a:r>
            <a:r>
              <a:rPr lang="ko-KR" altLang="en-US" sz="1050">
                <a:sym typeface="Wingdings" panose="05000000000000000000" pitchFamily="2" charset="2"/>
              </a:rPr>
              <a:t>수정일 추상 메소드</a:t>
            </a:r>
            <a:br>
              <a:rPr lang="en-US" altLang="ko-KR" sz="1050">
                <a:sym typeface="Wingdings" panose="05000000000000000000" pitchFamily="2" charset="2"/>
              </a:rPr>
            </a:br>
            <a:r>
              <a:rPr lang="en-US" altLang="ko-KR" sz="1050">
                <a:sym typeface="Wingdings" panose="05000000000000000000" pitchFamily="2" charset="2"/>
              </a:rPr>
              <a:t>    - </a:t>
            </a:r>
            <a:r>
              <a:rPr lang="ko-KR" altLang="en-US" sz="1050">
                <a:sym typeface="Wingdings" panose="05000000000000000000" pitchFamily="2" charset="2"/>
              </a:rPr>
              <a:t>클래스 이름정보 반환 </a:t>
            </a:r>
            <a:r>
              <a:rPr lang="en-US" altLang="ko-KR" sz="1050">
                <a:sym typeface="Wingdings" panose="05000000000000000000" pitchFamily="2" charset="2"/>
              </a:rPr>
              <a:t>= </a:t>
            </a:r>
            <a:r>
              <a:rPr lang="ko-KR" altLang="en-US" sz="1050">
                <a:sym typeface="Wingdings" panose="05000000000000000000" pitchFamily="2" charset="2"/>
              </a:rPr>
              <a:t>일반 메소드</a:t>
            </a:r>
            <a:br>
              <a:rPr lang="en-US" altLang="ko-KR" sz="1050">
                <a:sym typeface="Wingdings" panose="05000000000000000000" pitchFamily="2" charset="2"/>
              </a:rPr>
            </a:br>
            <a:r>
              <a:rPr lang="en-US" altLang="ko-KR" sz="1050">
                <a:sym typeface="Wingdings" panose="05000000000000000000" pitchFamily="2" charset="2"/>
              </a:rPr>
              <a:t>    - </a:t>
            </a:r>
            <a:r>
              <a:rPr lang="ko-KR" altLang="en-US" sz="1050">
                <a:sym typeface="Wingdings" panose="05000000000000000000" pitchFamily="2" charset="2"/>
              </a:rPr>
              <a:t>이벤트 발행 </a:t>
            </a:r>
            <a:r>
              <a:rPr lang="en-US" altLang="ko-KR" sz="1050">
                <a:sym typeface="Wingdings" panose="05000000000000000000" pitchFamily="2" charset="2"/>
              </a:rPr>
              <a:t>= </a:t>
            </a:r>
            <a:r>
              <a:rPr lang="ko-KR" altLang="en-US" sz="1050">
                <a:sym typeface="Wingdings" panose="05000000000000000000" pitchFamily="2" charset="2"/>
              </a:rPr>
              <a:t>일반 메소드</a:t>
            </a:r>
            <a:br>
              <a:rPr lang="en-US" altLang="ko-KR" sz="1050">
                <a:sym typeface="Wingdings" panose="05000000000000000000" pitchFamily="2" charset="2"/>
              </a:rPr>
            </a:br>
            <a:r>
              <a:rPr lang="en-US" altLang="ko-KR" sz="1050">
                <a:sym typeface="Wingdings" panose="05000000000000000000" pitchFamily="2" charset="2"/>
              </a:rPr>
              <a:t>2. </a:t>
            </a:r>
            <a:r>
              <a:rPr lang="ko-KR" altLang="en-US" sz="1050">
                <a:sym typeface="Wingdings" panose="05000000000000000000" pitchFamily="2" charset="2"/>
              </a:rPr>
              <a:t> </a:t>
            </a:r>
            <a:r>
              <a:rPr lang="en-US" altLang="ko-KR" sz="1050">
                <a:sym typeface="Wingdings" panose="05000000000000000000" pitchFamily="2" charset="2"/>
              </a:rPr>
              <a:t> BaseMember  </a:t>
            </a:r>
            <a:r>
              <a:rPr lang="ko-KR" altLang="en-US" sz="1050">
                <a:sym typeface="Wingdings" panose="05000000000000000000" pitchFamily="2" charset="2"/>
              </a:rPr>
              <a:t>회원의 기본 정보를 가진 추상</a:t>
            </a:r>
            <a:endParaRPr lang="en-US" altLang="ko-KR" sz="1050">
              <a:sym typeface="Wingdings" panose="05000000000000000000" pitchFamily="2" charset="2"/>
            </a:endParaRPr>
          </a:p>
          <a:p>
            <a:r>
              <a:rPr lang="en-US" altLang="ko-KR" sz="1050">
                <a:sym typeface="Wingdings" panose="05000000000000000000" pitchFamily="2" charset="2"/>
              </a:rPr>
              <a:t>    - </a:t>
            </a:r>
            <a:r>
              <a:rPr lang="ko-KR" altLang="en-US" sz="1050">
                <a:sym typeface="Wingdings" panose="05000000000000000000" pitchFamily="2" charset="2"/>
              </a:rPr>
              <a:t>회원명</a:t>
            </a:r>
            <a:br>
              <a:rPr lang="en-US" altLang="ko-KR" sz="1050">
                <a:sym typeface="Wingdings" panose="05000000000000000000" pitchFamily="2" charset="2"/>
              </a:rPr>
            </a:br>
            <a:r>
              <a:rPr lang="en-US" altLang="ko-KR" sz="1050">
                <a:sym typeface="Wingdings" panose="05000000000000000000" pitchFamily="2" charset="2"/>
              </a:rPr>
              <a:t>    - </a:t>
            </a:r>
            <a:r>
              <a:rPr lang="ko-KR" altLang="en-US" sz="1050">
                <a:sym typeface="Wingdings" panose="05000000000000000000" pitchFamily="2" charset="2"/>
              </a:rPr>
              <a:t>회원비밀번호</a:t>
            </a:r>
            <a:endParaRPr lang="en-US" altLang="ko-KR" sz="1050">
              <a:sym typeface="Wingdings" panose="05000000000000000000" pitchFamily="2" charset="2"/>
            </a:endParaRPr>
          </a:p>
          <a:p>
            <a:r>
              <a:rPr lang="en-US" altLang="ko-KR" sz="1050">
                <a:sym typeface="Wingdings" panose="05000000000000000000" pitchFamily="2" charset="2"/>
              </a:rPr>
              <a:t>    - </a:t>
            </a:r>
            <a:r>
              <a:rPr lang="ko-KR" altLang="en-US" sz="1050">
                <a:sym typeface="Wingdings" panose="05000000000000000000" pitchFamily="2" charset="2"/>
              </a:rPr>
              <a:t>회원 닉네임</a:t>
            </a:r>
            <a:endParaRPr lang="en-US" altLang="ko-KR" sz="1050">
              <a:sym typeface="Wingdings" panose="05000000000000000000" pitchFamily="2" charset="2"/>
            </a:endParaRPr>
          </a:p>
          <a:p>
            <a:r>
              <a:rPr lang="en-US" altLang="ko-KR" sz="1050">
                <a:sym typeface="Wingdings" panose="05000000000000000000" pitchFamily="2" charset="2"/>
              </a:rPr>
              <a:t>    - </a:t>
            </a:r>
            <a:r>
              <a:rPr lang="ko-KR" altLang="en-US" sz="1050">
                <a:sym typeface="Wingdings" panose="05000000000000000000" pitchFamily="2" charset="2"/>
              </a:rPr>
              <a:t>회원 활동점수</a:t>
            </a:r>
            <a:endParaRPr lang="en-US" altLang="ko-KR" sz="1050">
              <a:sym typeface="Wingdings" panose="05000000000000000000" pitchFamily="2" charset="2"/>
            </a:endParaRPr>
          </a:p>
          <a:p>
            <a:endParaRPr lang="en-US" altLang="ko-KR" sz="1050">
              <a:sym typeface="Wingdings" panose="05000000000000000000" pitchFamily="2" charset="2"/>
            </a:endParaRPr>
          </a:p>
          <a:p>
            <a:r>
              <a:rPr lang="en-US" altLang="ko-KR" sz="1050">
                <a:sym typeface="Wingdings" panose="05000000000000000000" pitchFamily="2" charset="2"/>
              </a:rPr>
              <a:t>3. SourceMember  </a:t>
            </a:r>
            <a:r>
              <a:rPr lang="ko-KR" altLang="en-US" sz="1050">
                <a:sym typeface="Wingdings" panose="05000000000000000000" pitchFamily="2" charset="2"/>
              </a:rPr>
              <a:t>회원의 생성일</a:t>
            </a:r>
            <a:r>
              <a:rPr lang="en-US" altLang="ko-KR" sz="1050">
                <a:sym typeface="Wingdings" panose="05000000000000000000" pitchFamily="2" charset="2"/>
              </a:rPr>
              <a:t>, </a:t>
            </a:r>
            <a:r>
              <a:rPr lang="ko-KR" altLang="en-US" sz="1050">
                <a:sym typeface="Wingdings" panose="05000000000000000000" pitchFamily="2" charset="2"/>
              </a:rPr>
              <a:t>수정일을 </a:t>
            </a:r>
            <a:r>
              <a:rPr lang="en-US" altLang="ko-KR" sz="1050">
                <a:sym typeface="Wingdings" panose="05000000000000000000" pitchFamily="2" charset="2"/>
              </a:rPr>
              <a:t>JPA Auditing </a:t>
            </a:r>
            <a:r>
              <a:rPr lang="ko-KR" altLang="en-US" sz="1050">
                <a:sym typeface="Wingdings" panose="05000000000000000000" pitchFamily="2" charset="2"/>
              </a:rPr>
              <a:t>애노테이션으로 채워진 멤버변수를 상속받기 위한 추상 클래스</a:t>
            </a:r>
            <a:r>
              <a:rPr lang="en-US" altLang="ko-KR" sz="1050">
                <a:sym typeface="Wingdings" panose="05000000000000000000" pitchFamily="2" charset="2"/>
              </a:rPr>
              <a:t> </a:t>
            </a:r>
            <a:br>
              <a:rPr lang="en-US" altLang="ko-KR" sz="1050"/>
            </a:br>
            <a:r>
              <a:rPr lang="en-US" altLang="ko-KR" sz="1050"/>
              <a:t>    (※ ReplicaMember </a:t>
            </a:r>
            <a:r>
              <a:rPr lang="en-US" altLang="ko-KR" sz="1050">
                <a:sym typeface="Wingdings" panose="05000000000000000000" pitchFamily="2" charset="2"/>
              </a:rPr>
              <a:t> PostMember</a:t>
            </a:r>
            <a:r>
              <a:rPr lang="ko-KR" altLang="en-US" sz="1050">
                <a:sym typeface="Wingdings" panose="05000000000000000000" pitchFamily="2" charset="2"/>
              </a:rPr>
              <a:t> 와 같이 동기화를 위한 복제 </a:t>
            </a:r>
            <a:r>
              <a:rPr lang="en-US" altLang="ko-KR" sz="1050">
                <a:sym typeface="Wingdings" panose="05000000000000000000" pitchFamily="2" charset="2"/>
              </a:rPr>
              <a:t>Member</a:t>
            </a:r>
            <a:r>
              <a:rPr lang="ko-KR" altLang="en-US" sz="1050">
                <a:sym typeface="Wingdings" panose="05000000000000000000" pitchFamily="2" charset="2"/>
              </a:rPr>
              <a:t>의 경우에는 </a:t>
            </a:r>
            <a:br>
              <a:rPr lang="en-US" altLang="ko-KR" sz="1050">
                <a:sym typeface="Wingdings" panose="05000000000000000000" pitchFamily="2" charset="2"/>
              </a:rPr>
            </a:br>
            <a:r>
              <a:rPr lang="en-US" altLang="ko-KR" sz="1050">
                <a:sym typeface="Wingdings" panose="05000000000000000000" pitchFamily="2" charset="2"/>
              </a:rPr>
              <a:t>                                             PostMember </a:t>
            </a:r>
            <a:r>
              <a:rPr lang="ko-KR" altLang="en-US" sz="1050">
                <a:sym typeface="Wingdings" panose="05000000000000000000" pitchFamily="2" charset="2"/>
              </a:rPr>
              <a:t>고유의 </a:t>
            </a:r>
            <a:r>
              <a:rPr lang="en-US" altLang="ko-KR" sz="1050">
                <a:sym typeface="Wingdings" panose="05000000000000000000" pitchFamily="2" charset="2"/>
              </a:rPr>
              <a:t>createDate, modifyDate</a:t>
            </a:r>
            <a:r>
              <a:rPr lang="ko-KR" altLang="en-US" sz="1050">
                <a:sym typeface="Wingdings" panose="05000000000000000000" pitchFamily="2" charset="2"/>
              </a:rPr>
              <a:t>가 아니라 </a:t>
            </a:r>
            <a:r>
              <a:rPr lang="en-US" altLang="ko-KR" sz="1050">
                <a:sym typeface="Wingdings" panose="05000000000000000000" pitchFamily="2" charset="2"/>
              </a:rPr>
              <a:t>member</a:t>
            </a:r>
            <a:r>
              <a:rPr lang="ko-KR" altLang="en-US" sz="1050">
                <a:sym typeface="Wingdings" panose="05000000000000000000" pitchFamily="2" charset="2"/>
              </a:rPr>
              <a:t>의 생성일</a:t>
            </a:r>
            <a:r>
              <a:rPr lang="en-US" altLang="ko-KR" sz="1050">
                <a:sym typeface="Wingdings" panose="05000000000000000000" pitchFamily="2" charset="2"/>
              </a:rPr>
              <a:t>, </a:t>
            </a:r>
            <a:r>
              <a:rPr lang="ko-KR" altLang="en-US" sz="1050">
                <a:sym typeface="Wingdings" panose="05000000000000000000" pitchFamily="2" charset="2"/>
              </a:rPr>
              <a:t>수정일을 따라야함</a:t>
            </a:r>
            <a:br>
              <a:rPr lang="en-US" altLang="ko-KR" sz="1050">
                <a:sym typeface="Wingdings" panose="05000000000000000000" pitchFamily="2" charset="2"/>
              </a:rPr>
            </a:br>
            <a:r>
              <a:rPr lang="en-US" altLang="ko-KR" sz="1050">
                <a:sym typeface="Wingdings" panose="05000000000000000000" pitchFamily="2" charset="2"/>
              </a:rPr>
              <a:t>                                             = </a:t>
            </a:r>
            <a:r>
              <a:rPr lang="ko-KR" altLang="en-US" sz="1050">
                <a:sym typeface="Wingdings" panose="05000000000000000000" pitchFamily="2" charset="2"/>
              </a:rPr>
              <a:t> </a:t>
            </a:r>
            <a:r>
              <a:rPr lang="en-US" altLang="ko-KR" sz="1050">
                <a:sym typeface="Wingdings" panose="05000000000000000000" pitchFamily="2" charset="2"/>
              </a:rPr>
              <a:t>JPA Auditing </a:t>
            </a:r>
            <a:r>
              <a:rPr lang="ko-KR" altLang="en-US" sz="1050">
                <a:sym typeface="Wingdings" panose="05000000000000000000" pitchFamily="2" charset="2"/>
              </a:rPr>
              <a:t>애노테이션이 적용되지 않아야함</a:t>
            </a:r>
            <a:r>
              <a:rPr lang="en-US" altLang="ko-KR" sz="1050">
                <a:sym typeface="Wingdings" panose="05000000000000000000" pitchFamily="2" charset="2"/>
              </a:rPr>
              <a:t>)</a:t>
            </a:r>
            <a:br>
              <a:rPr lang="en-US" altLang="ko-KR" sz="1050">
                <a:sym typeface="Wingdings" panose="05000000000000000000" pitchFamily="2" charset="2"/>
              </a:rPr>
            </a:br>
            <a:br>
              <a:rPr lang="en-US" altLang="ko-KR" sz="1050">
                <a:sym typeface="Wingdings" panose="05000000000000000000" pitchFamily="2" charset="2"/>
              </a:rPr>
            </a:br>
            <a:r>
              <a:rPr lang="en-US" altLang="ko-KR" sz="1050">
                <a:sym typeface="Wingdings" panose="05000000000000000000" pitchFamily="2" charset="2"/>
              </a:rPr>
              <a:t>4. Member  member</a:t>
            </a:r>
            <a:r>
              <a:rPr lang="ko-KR" altLang="en-US" sz="1050">
                <a:sym typeface="Wingdings" panose="05000000000000000000" pitchFamily="2" charset="2"/>
              </a:rPr>
              <a:t>는 원본 엔티티임으로 생성일</a:t>
            </a:r>
            <a:r>
              <a:rPr lang="en-US" altLang="ko-KR" sz="1050">
                <a:sym typeface="Wingdings" panose="05000000000000000000" pitchFamily="2" charset="2"/>
              </a:rPr>
              <a:t>, </a:t>
            </a:r>
            <a:r>
              <a:rPr lang="ko-KR" altLang="en-US" sz="1050">
                <a:sym typeface="Wingdings" panose="05000000000000000000" pitchFamily="2" charset="2"/>
              </a:rPr>
              <a:t>수정일이 자동으로 채워져야하며 이를 위해</a:t>
            </a:r>
            <a:br>
              <a:rPr lang="en-US" altLang="ko-KR" sz="1050">
                <a:sym typeface="Wingdings" panose="05000000000000000000" pitchFamily="2" charset="2"/>
              </a:rPr>
            </a:br>
            <a:r>
              <a:rPr lang="en-US" altLang="ko-KR" sz="1050">
                <a:sym typeface="Wingdings" panose="05000000000000000000" pitchFamily="2" charset="2"/>
              </a:rPr>
              <a:t>                           SourceMember</a:t>
            </a:r>
            <a:r>
              <a:rPr lang="ko-KR" altLang="en-US" sz="1050">
                <a:sym typeface="Wingdings" panose="05000000000000000000" pitchFamily="2" charset="2"/>
              </a:rPr>
              <a:t>를 상속받음</a:t>
            </a:r>
            <a:r>
              <a:rPr lang="en-US" altLang="ko-KR" sz="1050">
                <a:sym typeface="Wingdings" panose="05000000000000000000" pitchFamily="2" charset="2"/>
              </a:rPr>
              <a:t>. </a:t>
            </a:r>
            <a:br>
              <a:rPr lang="en-US" altLang="ko-KR" sz="1050">
                <a:sym typeface="Wingdings" panose="05000000000000000000" pitchFamily="2" charset="2"/>
              </a:rPr>
            </a:br>
            <a:r>
              <a:rPr lang="en-US" altLang="ko-KR" sz="1050">
                <a:sym typeface="Wingdings" panose="05000000000000000000" pitchFamily="2" charset="2"/>
              </a:rPr>
              <a:t>                           SourceMember</a:t>
            </a:r>
            <a:r>
              <a:rPr lang="ko-KR" altLang="en-US" sz="1050">
                <a:sym typeface="Wingdings" panose="05000000000000000000" pitchFamily="2" charset="2"/>
              </a:rPr>
              <a:t>는 기본 멤버 정보를 가지고 있어야함으로 </a:t>
            </a:r>
            <a:r>
              <a:rPr lang="en-US" altLang="ko-KR" sz="1050">
                <a:sym typeface="Wingdings" panose="05000000000000000000" pitchFamily="2" charset="2"/>
              </a:rPr>
              <a:t>BaseMember</a:t>
            </a:r>
            <a:r>
              <a:rPr lang="ko-KR" altLang="en-US" sz="1050">
                <a:sym typeface="Wingdings" panose="05000000000000000000" pitchFamily="2" charset="2"/>
              </a:rPr>
              <a:t>를 상속받으며</a:t>
            </a:r>
            <a:br>
              <a:rPr lang="en-US" altLang="ko-KR" sz="1050">
                <a:sym typeface="Wingdings" panose="05000000000000000000" pitchFamily="2" charset="2"/>
              </a:rPr>
            </a:br>
            <a:r>
              <a:rPr lang="en-US" altLang="ko-KR" sz="1050">
                <a:sym typeface="Wingdings" panose="05000000000000000000" pitchFamily="2" charset="2"/>
              </a:rPr>
              <a:t>                           BaseEntity</a:t>
            </a:r>
            <a:r>
              <a:rPr lang="ko-KR" altLang="en-US" sz="1050">
                <a:sym typeface="Wingdings" panose="05000000000000000000" pitchFamily="2" charset="2"/>
              </a:rPr>
              <a:t>는 최상위 추상 엔티티임으로 </a:t>
            </a:r>
            <a:r>
              <a:rPr lang="en-US" altLang="ko-KR" sz="1050">
                <a:sym typeface="Wingdings" panose="05000000000000000000" pitchFamily="2" charset="2"/>
              </a:rPr>
              <a:t>BaseMember</a:t>
            </a:r>
            <a:r>
              <a:rPr lang="ko-KR" altLang="en-US" sz="1050">
                <a:sym typeface="Wingdings" panose="05000000000000000000" pitchFamily="2" charset="2"/>
              </a:rPr>
              <a:t>에서 상속해야함</a:t>
            </a:r>
            <a:r>
              <a:rPr lang="en-US" altLang="ko-KR" sz="1050">
                <a:sym typeface="Wingdings" panose="05000000000000000000" pitchFamily="2" charset="2"/>
              </a:rPr>
              <a:t>.</a:t>
            </a:r>
            <a:r>
              <a:rPr lang="ko-KR" altLang="en-US" sz="1050">
                <a:sym typeface="Wingdings" panose="05000000000000000000" pitchFamily="2" charset="2"/>
              </a:rPr>
              <a:t> </a:t>
            </a:r>
            <a:endParaRPr lang="ko-KR" altLang="en-US" sz="1050"/>
          </a:p>
        </p:txBody>
      </p:sp>
    </p:spTree>
    <p:extLst>
      <p:ext uri="{BB962C8B-B14F-4D97-AF65-F5344CB8AC3E}">
        <p14:creationId xmlns:p14="http://schemas.microsoft.com/office/powerpoint/2010/main" val="2735338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FC5880-A37E-5A48-DF61-BF242F001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모듈별로 데이터 초기화 분리</a:t>
            </a:r>
            <a:r>
              <a:rPr lang="en-US" altLang="ko-KR"/>
              <a:t>(1)</a:t>
            </a:r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CC8D2DC-0BB1-80DE-2450-DF4EE225EDD8}"/>
              </a:ext>
            </a:extLst>
          </p:cNvPr>
          <p:cNvGrpSpPr/>
          <p:nvPr/>
        </p:nvGrpSpPr>
        <p:grpSpPr>
          <a:xfrm>
            <a:off x="1191528" y="1910858"/>
            <a:ext cx="4300850" cy="1450757"/>
            <a:chOff x="4745760" y="1960992"/>
            <a:chExt cx="4716245" cy="1684821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5DF023A5-63B7-1CF8-683E-BB6C0AC01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45760" y="1960992"/>
              <a:ext cx="4716245" cy="1684821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97148C4-FBDE-57F9-33B0-B327E24502BC}"/>
                </a:ext>
              </a:extLst>
            </p:cNvPr>
            <p:cNvSpPr/>
            <p:nvPr/>
          </p:nvSpPr>
          <p:spPr>
            <a:xfrm>
              <a:off x="7910380" y="2112067"/>
              <a:ext cx="1199492" cy="8443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댓글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EC2C3A8-3E95-E61B-C98A-D07DDBF9AC0E}"/>
              </a:ext>
            </a:extLst>
          </p:cNvPr>
          <p:cNvSpPr txBox="1"/>
          <p:nvPr/>
        </p:nvSpPr>
        <p:spPr>
          <a:xfrm>
            <a:off x="5598869" y="1906417"/>
            <a:ext cx="4916557" cy="761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/>
              <a:t>생각해보기</a:t>
            </a:r>
            <a:endParaRPr lang="en-US" altLang="ko-KR" sz="1050" b="1"/>
          </a:p>
          <a:p>
            <a:r>
              <a:rPr lang="ko-KR" altLang="en-US" sz="1050"/>
              <a:t>댓글정보에는 작성자</a:t>
            </a:r>
            <a:r>
              <a:rPr lang="en-US" altLang="ko-KR" sz="1050"/>
              <a:t>(</a:t>
            </a:r>
            <a:r>
              <a:rPr lang="ko-KR" altLang="en-US" sz="1050"/>
              <a:t>회원정보</a:t>
            </a:r>
            <a:r>
              <a:rPr lang="en-US" altLang="ko-KR" sz="1050"/>
              <a:t>)</a:t>
            </a:r>
            <a:r>
              <a:rPr lang="ko-KR" altLang="en-US" sz="1050"/>
              <a:t>가 들어있다</a:t>
            </a:r>
            <a:r>
              <a:rPr lang="en-US" altLang="ko-KR" sz="1050"/>
              <a:t>.</a:t>
            </a:r>
          </a:p>
          <a:p>
            <a:r>
              <a:rPr lang="ko-KR" altLang="en-US" sz="1050"/>
              <a:t>즉 회원이 먼저 생성되지 않으면 댓글은 작성 될 수 없다</a:t>
            </a:r>
            <a:r>
              <a:rPr lang="en-US" altLang="ko-KR" sz="1050"/>
              <a:t>.</a:t>
            </a:r>
          </a:p>
          <a:p>
            <a:r>
              <a:rPr lang="en-US" altLang="ko-KR" sz="1050">
                <a:sym typeface="Wingdings" panose="05000000000000000000" pitchFamily="2" charset="2"/>
              </a:rPr>
              <a:t> </a:t>
            </a:r>
            <a:r>
              <a:rPr lang="ko-KR" altLang="en-US" sz="1050"/>
              <a:t>모듈 데이터 초기화 시 초기화 순서를 정해줘야한다 </a:t>
            </a:r>
            <a:r>
              <a:rPr lang="en-US" altLang="ko-KR" sz="1050"/>
              <a:t>== @Order(N) </a:t>
            </a:r>
            <a:r>
              <a:rPr lang="ko-KR" altLang="en-US" sz="1050"/>
              <a:t>순서 사용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104AD68-B6DB-42CB-1101-2A9C96630648}"/>
              </a:ext>
            </a:extLst>
          </p:cNvPr>
          <p:cNvGrpSpPr/>
          <p:nvPr/>
        </p:nvGrpSpPr>
        <p:grpSpPr>
          <a:xfrm>
            <a:off x="3904090" y="3535113"/>
            <a:ext cx="1588288" cy="2014897"/>
            <a:chOff x="1191527" y="3683701"/>
            <a:chExt cx="2343477" cy="2562583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AC8F0AC6-CA68-7884-1E3D-88C0CF8E53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91527" y="3683701"/>
              <a:ext cx="2343477" cy="2562583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34CE343-BF0A-5941-AAF5-3D257331A57C}"/>
                </a:ext>
              </a:extLst>
            </p:cNvPr>
            <p:cNvSpPr/>
            <p:nvPr/>
          </p:nvSpPr>
          <p:spPr>
            <a:xfrm>
              <a:off x="1900362" y="5764696"/>
              <a:ext cx="1240403" cy="32600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47C477B9-2992-A758-4088-AF576AD715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4149" y="2668164"/>
            <a:ext cx="5137665" cy="4189836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7C1120AD-0278-A6D4-66B0-D6C0427E82B5}"/>
              </a:ext>
            </a:extLst>
          </p:cNvPr>
          <p:cNvSpPr/>
          <p:nvPr/>
        </p:nvSpPr>
        <p:spPr>
          <a:xfrm>
            <a:off x="8332967" y="2767993"/>
            <a:ext cx="2438847" cy="17403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>
                <a:solidFill>
                  <a:schemeClr val="tx1"/>
                </a:solidFill>
              </a:rPr>
              <a:t>1. </a:t>
            </a:r>
            <a:r>
              <a:rPr lang="ko-KR" altLang="en-US" sz="1100">
                <a:solidFill>
                  <a:schemeClr val="tx1"/>
                </a:solidFill>
              </a:rPr>
              <a:t>데이터 초기화 설정 클래스에서 </a:t>
            </a:r>
            <a:r>
              <a:rPr lang="en-US" altLang="ko-KR" sz="1100">
                <a:solidFill>
                  <a:schemeClr val="tx1"/>
                </a:solidFill>
              </a:rPr>
              <a:t>@Lazy </a:t>
            </a:r>
            <a:r>
              <a:rPr lang="ko-KR" altLang="en-US" sz="1100">
                <a:solidFill>
                  <a:schemeClr val="tx1"/>
                </a:solidFill>
              </a:rPr>
              <a:t>선언된 자기 자신을 순환하는 생성자를 확인할 수 있다</a:t>
            </a:r>
            <a:r>
              <a:rPr lang="en-US" altLang="ko-KR" sz="1100">
                <a:solidFill>
                  <a:schemeClr val="tx1"/>
                </a:solidFill>
              </a:rPr>
              <a:t>.</a:t>
            </a:r>
            <a:br>
              <a:rPr lang="en-US" altLang="ko-KR" sz="1100">
                <a:solidFill>
                  <a:schemeClr val="tx1"/>
                </a:solidFill>
              </a:rPr>
            </a:br>
            <a:r>
              <a:rPr lang="en-US" altLang="ko-KR" sz="1100">
                <a:solidFill>
                  <a:schemeClr val="tx1"/>
                </a:solidFill>
              </a:rPr>
              <a:t>2. @Lazy</a:t>
            </a:r>
            <a:r>
              <a:rPr lang="ko-KR" altLang="en-US" sz="1100">
                <a:solidFill>
                  <a:schemeClr val="tx1"/>
                </a:solidFill>
              </a:rPr>
              <a:t>를 붙이는 이유는 생성 시점에 자기자신을 참조함으로써</a:t>
            </a:r>
            <a:r>
              <a:rPr lang="en-US" altLang="ko-KR" sz="1100">
                <a:solidFill>
                  <a:schemeClr val="tx1"/>
                </a:solidFill>
              </a:rPr>
              <a:t>, </a:t>
            </a:r>
            <a:r>
              <a:rPr lang="ko-KR" altLang="en-US" sz="1100">
                <a:solidFill>
                  <a:schemeClr val="tx1"/>
                </a:solidFill>
              </a:rPr>
              <a:t>순환참조 오류가 발생하기 때문에 생성자 시점에서 자기자신의 참조를 뒤로 미루기 위함이다</a:t>
            </a:r>
            <a:r>
              <a:rPr lang="en-US" altLang="ko-KR" sz="1100">
                <a:solidFill>
                  <a:schemeClr val="tx1"/>
                </a:solidFill>
              </a:rPr>
              <a:t>.</a:t>
            </a:r>
            <a:endParaRPr lang="ko-KR" altLang="en-US" sz="1100">
              <a:solidFill>
                <a:schemeClr val="tx1"/>
              </a:solidFill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B271BC3A-C8EC-0718-3FF8-40F619C2BE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99" y="3535113"/>
            <a:ext cx="3744020" cy="227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667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1022BA-AF67-99B8-C7B3-05B4EC886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모듈별로 데이터 초기화 분리</a:t>
            </a:r>
            <a:r>
              <a:rPr lang="en-US" altLang="ko-KR"/>
              <a:t>(2)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3D0CC99-9658-536D-77A8-4A43D64BD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38" y="1923840"/>
            <a:ext cx="2419688" cy="301032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DBFA11D-743F-F8C2-A6E5-411BA7AA2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4519" y="1918168"/>
            <a:ext cx="4194292" cy="49398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7DA2D0-8D99-8106-E093-3859A89FCE52}"/>
              </a:ext>
            </a:extLst>
          </p:cNvPr>
          <p:cNvSpPr txBox="1"/>
          <p:nvPr/>
        </p:nvSpPr>
        <p:spPr>
          <a:xfrm>
            <a:off x="7521934" y="1918168"/>
            <a:ext cx="386433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PostDataInit </a:t>
            </a:r>
            <a:r>
              <a:rPr lang="ko-KR" altLang="en-US" sz="1200"/>
              <a:t>또한 </a:t>
            </a:r>
            <a:br>
              <a:rPr lang="en-US" altLang="ko-KR" sz="1200"/>
            </a:br>
            <a:r>
              <a:rPr lang="en-US" altLang="ko-KR" sz="1200"/>
              <a:t>self </a:t>
            </a:r>
            <a:r>
              <a:rPr lang="ko-KR" altLang="en-US" sz="1200"/>
              <a:t>멤버변수가 자기자신을 의미하는 순환참조로</a:t>
            </a:r>
            <a:br>
              <a:rPr lang="en-US" altLang="ko-KR" sz="1200"/>
            </a:br>
            <a:r>
              <a:rPr lang="ko-KR" altLang="en-US" sz="1200"/>
              <a:t>구성되어있다는것을 확인할 수 있다</a:t>
            </a:r>
            <a:r>
              <a:rPr lang="en-US" altLang="ko-KR" sz="1200"/>
              <a:t>.</a:t>
            </a:r>
            <a:br>
              <a:rPr lang="en-US" altLang="ko-KR" sz="1200"/>
            </a:br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r>
              <a:rPr lang="ko-KR" altLang="en-US" sz="1200"/>
              <a:t>★ 중요 포인트 </a:t>
            </a:r>
            <a:r>
              <a:rPr lang="en-US" altLang="ko-KR" sz="1200"/>
              <a:t>: </a:t>
            </a:r>
            <a:br>
              <a:rPr lang="en-US" altLang="ko-KR" sz="1200"/>
            </a:br>
            <a:r>
              <a:rPr lang="en-US" altLang="ko-KR" sz="1200"/>
              <a:t>     </a:t>
            </a:r>
            <a:r>
              <a:rPr lang="ko-KR" altLang="en-US" sz="1200"/>
              <a:t>서비스 확장 시</a:t>
            </a:r>
            <a:r>
              <a:rPr lang="en-US" altLang="ko-KR" sz="1200"/>
              <a:t> </a:t>
            </a:r>
            <a:r>
              <a:rPr lang="ko-KR" altLang="en-US" sz="1200"/>
              <a:t>예를 들어 </a:t>
            </a:r>
            <a:r>
              <a:rPr lang="en-US" altLang="ko-KR" sz="1200"/>
              <a:t>CacheDataInit</a:t>
            </a:r>
            <a:r>
              <a:rPr lang="ko-KR" altLang="en-US" sz="1200"/>
              <a:t>의 경우 </a:t>
            </a:r>
            <a:br>
              <a:rPr lang="en-US" altLang="ko-KR" sz="1200"/>
            </a:br>
            <a:r>
              <a:rPr lang="en-US" altLang="ko-KR" sz="1200"/>
              <a:t>    @Order(2)</a:t>
            </a:r>
            <a:r>
              <a:rPr lang="ko-KR" altLang="en-US" sz="1200"/>
              <a:t>이로서 </a:t>
            </a:r>
            <a:r>
              <a:rPr lang="en-US" altLang="ko-KR" sz="1200"/>
              <a:t>PostDataInit</a:t>
            </a:r>
            <a:r>
              <a:rPr lang="ko-KR" altLang="en-US" sz="1200"/>
              <a:t>과 동일한 레벨의 </a:t>
            </a:r>
            <a:br>
              <a:rPr lang="en-US" altLang="ko-KR" sz="1200"/>
            </a:br>
            <a:r>
              <a:rPr lang="en-US" altLang="ko-KR" sz="1200"/>
              <a:t>    </a:t>
            </a:r>
            <a:r>
              <a:rPr lang="ko-KR" altLang="en-US" sz="1200"/>
              <a:t>순서를 가지고 있다는것을 확인할 수 있다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/>
              <a:t>    PostDataInit, CasheDataInit</a:t>
            </a:r>
            <a:r>
              <a:rPr lang="ko-KR" altLang="en-US" sz="1200"/>
              <a:t>은 서로 순서상 상관이 없기 </a:t>
            </a:r>
            <a:br>
              <a:rPr lang="en-US" altLang="ko-KR" sz="1200"/>
            </a:br>
            <a:r>
              <a:rPr lang="en-US" altLang="ko-KR" sz="1200"/>
              <a:t>    </a:t>
            </a:r>
            <a:r>
              <a:rPr lang="ko-KR" altLang="en-US" sz="1200"/>
              <a:t>때문에 </a:t>
            </a:r>
            <a:r>
              <a:rPr lang="en-US" altLang="ko-KR" sz="1200"/>
              <a:t>JVM</a:t>
            </a:r>
            <a:r>
              <a:rPr lang="ko-KR" altLang="en-US" sz="1200"/>
              <a:t>은 어떤 </a:t>
            </a:r>
            <a:r>
              <a:rPr lang="en-US" altLang="ko-KR" sz="1200"/>
              <a:t>Init </a:t>
            </a:r>
            <a:r>
              <a:rPr lang="ko-KR" altLang="en-US" sz="1200"/>
              <a:t>객체가 먼저 생성되는지 </a:t>
            </a:r>
            <a:br>
              <a:rPr lang="en-US" altLang="ko-KR" sz="1200"/>
            </a:br>
            <a:r>
              <a:rPr lang="en-US" altLang="ko-KR" sz="1200"/>
              <a:t>    </a:t>
            </a:r>
            <a:r>
              <a:rPr lang="ko-KR" altLang="en-US" sz="1200"/>
              <a:t>상관하지 않는다</a:t>
            </a:r>
            <a:r>
              <a:rPr lang="en-US" altLang="ko-KR" sz="1200"/>
              <a:t>. 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6596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9D8778-7589-4C28-1A2A-40C4EE509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Global </a:t>
            </a:r>
            <a:r>
              <a:rPr lang="ko-KR" altLang="en-US"/>
              <a:t>과 </a:t>
            </a:r>
            <a:r>
              <a:rPr lang="en-US" altLang="ko-KR"/>
              <a:t>Shared </a:t>
            </a:r>
            <a:r>
              <a:rPr lang="ko-KR" altLang="en-US"/>
              <a:t>파일 분류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DB0A74F-740D-6091-5AE6-E7F701D9C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6" y="1970786"/>
            <a:ext cx="2286319" cy="205768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D36BE8C-E9F9-94BD-F626-EF5E6A744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240" y="1970786"/>
            <a:ext cx="2116558" cy="488721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282F3B5-3F72-69CE-90B5-0D0BC712F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0463" y="1970786"/>
            <a:ext cx="4696501" cy="4576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502376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235</TotalTime>
  <Words>1254</Words>
  <Application>Microsoft Office PowerPoint</Application>
  <PresentationFormat>와이드스크린</PresentationFormat>
  <Paragraphs>118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JetBrains Mono</vt:lpstr>
      <vt:lpstr>Calibri</vt:lpstr>
      <vt:lpstr>Calibri Light</vt:lpstr>
      <vt:lpstr>Wingdings</vt:lpstr>
      <vt:lpstr>추억</vt:lpstr>
      <vt:lpstr>K-Trainning 1부 분석</vt:lpstr>
      <vt:lpstr>용어 개념 정리</vt:lpstr>
      <vt:lpstr>용어를 정리한 이유.</vt:lpstr>
      <vt:lpstr>모놀리식 아키텍처에서의 결합도 분리</vt:lpstr>
      <vt:lpstr>비지니스 로직 이벤트 발행 및 처리</vt:lpstr>
      <vt:lpstr>이벤트의 발행 파일의 패키지 위치</vt:lpstr>
      <vt:lpstr>도메인에 결합된 비지니스 로직의 이벤트 발행을 위한 배경 설명</vt:lpstr>
      <vt:lpstr>도메인에 결합된 비지니스 로직 이벤트 발행(1)</vt:lpstr>
      <vt:lpstr>도메인에 결합된 비지니스 로직 이벤트 발행(2)</vt:lpstr>
      <vt:lpstr>회원 도메인의 상속관계가 많은 이유</vt:lpstr>
      <vt:lpstr>모듈별로 데이터 초기화 분리(1)</vt:lpstr>
      <vt:lpstr>모듈별로 데이터 초기화 분리(2)</vt:lpstr>
      <vt:lpstr>Global 과 Shared 파일 분류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54</cp:revision>
  <dcterms:created xsi:type="dcterms:W3CDTF">2026-09-18T12:34:26Z</dcterms:created>
  <dcterms:modified xsi:type="dcterms:W3CDTF">2026-09-19T01:27:47Z</dcterms:modified>
</cp:coreProperties>
</file>