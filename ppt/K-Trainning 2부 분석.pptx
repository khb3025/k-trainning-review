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6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713B-EA07-4C0E-999B-7E309B89D4BB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380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713B-EA07-4C0E-999B-7E309B89D4BB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3260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713B-EA07-4C0E-999B-7E309B89D4BB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754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713B-EA07-4C0E-999B-7E309B89D4BB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233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713B-EA07-4C0E-999B-7E309B89D4BB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104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713B-EA07-4C0E-999B-7E309B89D4BB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410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713B-EA07-4C0E-999B-7E309B89D4BB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329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1FE713B-EA07-4C0E-999B-7E309B89D4BB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048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713B-EA07-4C0E-999B-7E309B89D4BB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20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713B-EA07-4C0E-999B-7E309B89D4BB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7646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E713B-EA07-4C0E-999B-7E309B89D4BB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013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1FE713B-EA07-4C0E-999B-7E309B89D4BB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9154344-FEDC-47B1-8A67-859D57710BA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333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38D566-F3BF-850B-03D3-2164BF763D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K-Trainning 2</a:t>
            </a:r>
            <a:r>
              <a:rPr lang="ko-KR" altLang="en-US"/>
              <a:t>부 분석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00723F-7291-35D2-10DA-CA76F59613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758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E64E67-3D7A-5B00-0989-D6ED8BA16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주문 결제 분석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684CC91-0530-511A-814B-71F3B8DEB7C8}"/>
              </a:ext>
            </a:extLst>
          </p:cNvPr>
          <p:cNvGrpSpPr/>
          <p:nvPr/>
        </p:nvGrpSpPr>
        <p:grpSpPr>
          <a:xfrm>
            <a:off x="1206393" y="1875195"/>
            <a:ext cx="2174583" cy="768963"/>
            <a:chOff x="1206393" y="1875195"/>
            <a:chExt cx="2174583" cy="76896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7B7F514-DB66-BC22-A638-8A41CFFCA0B9}"/>
                </a:ext>
              </a:extLst>
            </p:cNvPr>
            <p:cNvSpPr/>
            <p:nvPr/>
          </p:nvSpPr>
          <p:spPr>
            <a:xfrm>
              <a:off x="1206393" y="1875195"/>
              <a:ext cx="2174582" cy="353465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/>
                <a:t>1.MarketFacade.requestPayment</a:t>
              </a:r>
              <a:endParaRPr lang="ko-KR" altLang="en-US" sz="110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ABBD1D9-F053-AB69-679F-979091A970C7}"/>
                </a:ext>
              </a:extLst>
            </p:cNvPr>
            <p:cNvSpPr txBox="1"/>
            <p:nvPr/>
          </p:nvSpPr>
          <p:spPr>
            <a:xfrm>
              <a:off x="1206394" y="2228660"/>
              <a:ext cx="2174582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50"/>
                <a:t>주문 결제 요청 시작 </a:t>
              </a:r>
              <a:br>
                <a:rPr lang="en-US" altLang="ko-KR" sz="1050"/>
              </a:br>
              <a:r>
                <a:rPr lang="en-US" altLang="ko-KR" sz="1050"/>
                <a:t>(Order, pgPaymentAmount)</a:t>
              </a:r>
              <a:r>
                <a:rPr lang="ko-KR" altLang="en-US" sz="1050"/>
                <a:t>전달</a:t>
              </a:r>
            </a:p>
          </p:txBody>
        </p:sp>
      </p:grp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D1D4E2A-99F1-AA63-6EE9-CF016B1B3E02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 flipV="1">
            <a:off x="3380975" y="2051927"/>
            <a:ext cx="5404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D26A6B38-ECCB-DF70-7B97-B5C69B46A204}"/>
              </a:ext>
            </a:extLst>
          </p:cNvPr>
          <p:cNvSpPr/>
          <p:nvPr/>
        </p:nvSpPr>
        <p:spPr>
          <a:xfrm>
            <a:off x="3921418" y="1763386"/>
            <a:ext cx="2796988" cy="5770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2. order.requestPayment(pgPaymentAmount)</a:t>
            </a:r>
            <a:endParaRPr lang="ko-KR" altLang="en-US" sz="11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9D3756-1151-7AFE-95AC-1FAEB3BA9D7D}"/>
              </a:ext>
            </a:extLst>
          </p:cNvPr>
          <p:cNvSpPr txBox="1"/>
          <p:nvPr/>
        </p:nvSpPr>
        <p:spPr>
          <a:xfrm>
            <a:off x="5724605" y="161365"/>
            <a:ext cx="6408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용어 정리 </a:t>
            </a:r>
            <a:r>
              <a:rPr lang="en-US" altLang="ko-KR" sz="1200"/>
              <a:t>:</a:t>
            </a:r>
          </a:p>
          <a:p>
            <a:r>
              <a:rPr lang="en-US" altLang="ko-KR" sz="1200"/>
              <a:t>pgPaymentAmount </a:t>
            </a:r>
            <a:r>
              <a:rPr lang="en-US" altLang="ko-KR" sz="1200">
                <a:sym typeface="Wingdings" panose="05000000000000000000" pitchFamily="2" charset="2"/>
              </a:rPr>
              <a:t> Wallet</a:t>
            </a:r>
            <a:r>
              <a:rPr lang="ko-KR" altLang="en-US" sz="1200">
                <a:sym typeface="Wingdings" panose="05000000000000000000" pitchFamily="2" charset="2"/>
              </a:rPr>
              <a:t>내 </a:t>
            </a:r>
            <a:r>
              <a:rPr lang="en-US" altLang="ko-KR" sz="1200">
                <a:sym typeface="Wingdings" panose="05000000000000000000" pitchFamily="2" charset="2"/>
              </a:rPr>
              <a:t>balance(</a:t>
            </a:r>
            <a:r>
              <a:rPr lang="ko-KR" altLang="en-US" sz="1200">
                <a:sym typeface="Wingdings" panose="05000000000000000000" pitchFamily="2" charset="2"/>
              </a:rPr>
              <a:t>잔액</a:t>
            </a:r>
            <a:r>
              <a:rPr lang="en-US" altLang="ko-KR" sz="1200">
                <a:sym typeface="Wingdings" panose="05000000000000000000" pitchFamily="2" charset="2"/>
              </a:rPr>
              <a:t>)</a:t>
            </a:r>
            <a:r>
              <a:rPr lang="ko-KR" altLang="en-US" sz="1200">
                <a:sym typeface="Wingdings" panose="05000000000000000000" pitchFamily="2" charset="2"/>
              </a:rPr>
              <a:t>충전 금액 </a:t>
            </a:r>
            <a:r>
              <a:rPr lang="en-US" altLang="ko-KR" sz="1200">
                <a:sym typeface="Wingdings" panose="05000000000000000000" pitchFamily="2" charset="2"/>
              </a:rPr>
              <a:t>[1. </a:t>
            </a:r>
            <a:r>
              <a:rPr lang="ko-KR" altLang="en-US" sz="1200">
                <a:sym typeface="Wingdings" panose="05000000000000000000" pitchFamily="2" charset="2"/>
              </a:rPr>
              <a:t>주문과 동시에 잔액 충전금 전달</a:t>
            </a:r>
            <a:r>
              <a:rPr lang="en-US" altLang="ko-KR" sz="1200">
                <a:sym typeface="Wingdings" panose="05000000000000000000" pitchFamily="2" charset="2"/>
              </a:rPr>
              <a:t>]</a:t>
            </a:r>
            <a:r>
              <a:rPr lang="ko-KR" altLang="en-US" sz="1200">
                <a:sym typeface="Wingdings" panose="05000000000000000000" pitchFamily="2" charset="2"/>
              </a:rPr>
              <a:t> </a:t>
            </a:r>
            <a:endParaRPr lang="ko-KR" altLang="en-US" sz="1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6D3445-BA3C-8C43-E233-017375D6B8B4}"/>
              </a:ext>
            </a:extLst>
          </p:cNvPr>
          <p:cNvSpPr txBox="1"/>
          <p:nvPr/>
        </p:nvSpPr>
        <p:spPr>
          <a:xfrm>
            <a:off x="3921418" y="2366493"/>
            <a:ext cx="27969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order. requestPayment </a:t>
            </a:r>
            <a:r>
              <a:rPr lang="ko-KR" altLang="en-US" sz="1050"/>
              <a:t>에선</a:t>
            </a:r>
            <a:endParaRPr lang="en-US" altLang="ko-KR" sz="1050"/>
          </a:p>
          <a:p>
            <a:r>
              <a:rPr lang="ko-KR" altLang="en-US" sz="1050"/>
              <a:t>자신과 </a:t>
            </a:r>
            <a:r>
              <a:rPr lang="en-US" altLang="ko-KR" sz="1050"/>
              <a:t>pgPaymentAmount</a:t>
            </a:r>
            <a:r>
              <a:rPr lang="ko-KR" altLang="en-US" sz="1050"/>
              <a:t>를 조합하여</a:t>
            </a:r>
            <a:br>
              <a:rPr lang="en-US" altLang="ko-KR" sz="1050"/>
            </a:br>
            <a:r>
              <a:rPr lang="en-US" altLang="ko-KR" sz="1050"/>
              <a:t>MarketOrderPaymentRequestedEvent </a:t>
            </a:r>
            <a:br>
              <a:rPr lang="en-US" altLang="ko-KR" sz="1050"/>
            </a:br>
            <a:r>
              <a:rPr lang="en-US" altLang="ko-KR" sz="1050"/>
              <a:t>(</a:t>
            </a:r>
            <a:r>
              <a:rPr lang="ko-KR" altLang="en-US" sz="1050"/>
              <a:t>마켓주문 결제요청 이벤트</a:t>
            </a:r>
            <a:r>
              <a:rPr lang="en-US" altLang="ko-KR" sz="1050"/>
              <a:t>) </a:t>
            </a:r>
            <a:r>
              <a:rPr lang="ko-KR" altLang="en-US" sz="1050"/>
              <a:t>발행 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369330C-9C8F-2E7E-2317-D2ABE11BEE1F}"/>
              </a:ext>
            </a:extLst>
          </p:cNvPr>
          <p:cNvCxnSpPr>
            <a:stCxn id="9" idx="3"/>
          </p:cNvCxnSpPr>
          <p:nvPr/>
        </p:nvCxnSpPr>
        <p:spPr>
          <a:xfrm>
            <a:off x="6718406" y="2051927"/>
            <a:ext cx="5967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C80BD18-98BF-9606-F511-98BD982113AA}"/>
              </a:ext>
            </a:extLst>
          </p:cNvPr>
          <p:cNvSpPr/>
          <p:nvPr/>
        </p:nvSpPr>
        <p:spPr>
          <a:xfrm>
            <a:off x="7315200" y="1763385"/>
            <a:ext cx="4026434" cy="5770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3. cashListener.handle(MarketOrderPaymentRequestedEvent event)</a:t>
            </a:r>
            <a:endParaRPr lang="ko-KR" altLang="en-US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0D0B9E-DF41-8AA2-DCD0-E6D5B1525941}"/>
              </a:ext>
            </a:extLst>
          </p:cNvPr>
          <p:cNvSpPr txBox="1"/>
          <p:nvPr/>
        </p:nvSpPr>
        <p:spPr>
          <a:xfrm>
            <a:off x="7315200" y="2366493"/>
            <a:ext cx="4026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마켓 주문 결제 요청 이벤트를 </a:t>
            </a:r>
            <a:r>
              <a:rPr lang="en-US" altLang="ko-KR" sz="1000"/>
              <a:t>CashListener</a:t>
            </a:r>
            <a:r>
              <a:rPr lang="ko-KR" altLang="en-US" sz="1000"/>
              <a:t>에서 받음</a:t>
            </a:r>
            <a:r>
              <a:rPr lang="en-US" altLang="ko-KR" sz="1000"/>
              <a:t>.</a:t>
            </a:r>
            <a:br>
              <a:rPr lang="en-US" altLang="ko-KR" sz="1000"/>
            </a:br>
            <a:r>
              <a:rPr lang="en-US" altLang="ko-KR" sz="1000"/>
              <a:t>cashFacade.handle(event) </a:t>
            </a:r>
            <a:r>
              <a:rPr lang="en-US" altLang="ko-KR" sz="1000">
                <a:sym typeface="Wingdings" panose="05000000000000000000" pitchFamily="2" charset="2"/>
              </a:rPr>
              <a:t>[</a:t>
            </a:r>
            <a:r>
              <a:rPr lang="ko-KR" altLang="en-US" sz="1000">
                <a:sym typeface="Wingdings" panose="05000000000000000000" pitchFamily="2" charset="2"/>
              </a:rPr>
              <a:t>이벤트를 </a:t>
            </a:r>
            <a:r>
              <a:rPr lang="en-US" altLang="ko-KR" sz="1000">
                <a:sym typeface="Wingdings" panose="05000000000000000000" pitchFamily="2" charset="2"/>
              </a:rPr>
              <a:t>cashFacade</a:t>
            </a:r>
            <a:r>
              <a:rPr lang="ko-KR" altLang="en-US" sz="1000">
                <a:sym typeface="Wingdings" panose="05000000000000000000" pitchFamily="2" charset="2"/>
              </a:rPr>
              <a:t>로 전달</a:t>
            </a:r>
            <a:r>
              <a:rPr lang="en-US" altLang="ko-KR" sz="1000">
                <a:sym typeface="Wingdings" panose="05000000000000000000" pitchFamily="2" charset="2"/>
              </a:rPr>
              <a:t>]</a:t>
            </a:r>
            <a:endParaRPr lang="ko-KR" altLang="en-US" sz="100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83E1C5F-22F5-3B6F-A143-AFA78D48817E}"/>
              </a:ext>
            </a:extLst>
          </p:cNvPr>
          <p:cNvCxnSpPr>
            <a:cxnSpLocks/>
          </p:cNvCxnSpPr>
          <p:nvPr/>
        </p:nvCxnSpPr>
        <p:spPr>
          <a:xfrm>
            <a:off x="9328417" y="2766603"/>
            <a:ext cx="0" cy="441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691A645-8FB1-04A4-48AB-320B9BA04125}"/>
              </a:ext>
            </a:extLst>
          </p:cNvPr>
          <p:cNvSpPr/>
          <p:nvPr/>
        </p:nvSpPr>
        <p:spPr>
          <a:xfrm>
            <a:off x="7315200" y="3320109"/>
            <a:ext cx="4026434" cy="5770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4. cashFacade.handle(event) -&gt; cashCompleteOrderPaymentUseCase.handle(event)</a:t>
            </a:r>
            <a:endParaRPr lang="ko-KR" altLang="en-US" sz="110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9AC2935-CEE7-1D6F-2B8E-891F165AED19}"/>
              </a:ext>
            </a:extLst>
          </p:cNvPr>
          <p:cNvSpPr txBox="1"/>
          <p:nvPr/>
        </p:nvSpPr>
        <p:spPr>
          <a:xfrm>
            <a:off x="7315200" y="3939017"/>
            <a:ext cx="451052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cashFacade.handle(event)</a:t>
            </a:r>
            <a:r>
              <a:rPr lang="ko-KR" altLang="en-US" sz="1000"/>
              <a:t>에서 </a:t>
            </a:r>
            <a:br>
              <a:rPr lang="en-US" altLang="ko-KR" sz="1000"/>
            </a:br>
            <a:r>
              <a:rPr lang="en-US" altLang="ko-KR" sz="1000"/>
              <a:t>     cashCompleteOrderPaymentUseCase.handle(event)</a:t>
            </a:r>
            <a:r>
              <a:rPr lang="ko-KR" altLang="en-US" sz="1000"/>
              <a:t>로 </a:t>
            </a:r>
            <a:r>
              <a:rPr lang="en-US" altLang="ko-KR" sz="1000"/>
              <a:t>byPass</a:t>
            </a:r>
            <a:r>
              <a:rPr lang="ko-KR" altLang="en-US" sz="1000"/>
              <a:t> 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1C60E5C-AEAD-C383-9A19-6B3B49969725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6639005" y="3608650"/>
            <a:ext cx="6761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C8281B2-B5DE-7344-2936-B82F45B657F0}"/>
              </a:ext>
            </a:extLst>
          </p:cNvPr>
          <p:cNvSpPr/>
          <p:nvPr/>
        </p:nvSpPr>
        <p:spPr>
          <a:xfrm>
            <a:off x="3921418" y="3208540"/>
            <a:ext cx="2717585" cy="16631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5. cashCompleteOrderPaymentUseCase.handle(event) </a:t>
            </a:r>
            <a:r>
              <a:rPr lang="ko-KR" altLang="en-US" sz="1050"/>
              <a:t>에서 실질적인 결제 가능 상태 파악</a:t>
            </a:r>
            <a:r>
              <a:rPr lang="en-US" altLang="ko-KR" sz="1050"/>
              <a:t>.</a:t>
            </a:r>
            <a:br>
              <a:rPr lang="en-US" altLang="ko-KR" sz="1050"/>
            </a:br>
            <a:endParaRPr lang="en-US" altLang="ko-KR" sz="1050"/>
          </a:p>
          <a:p>
            <a:pPr algn="ctr"/>
            <a:r>
              <a:rPr lang="ko-KR" altLang="en-US" sz="1050" b="1">
                <a:solidFill>
                  <a:srgbClr val="92D050"/>
                </a:solidFill>
              </a:rPr>
              <a:t>결제 가능일 경우 </a:t>
            </a:r>
            <a:r>
              <a:rPr lang="en-US" altLang="ko-KR" sz="1050" b="1">
                <a:solidFill>
                  <a:srgbClr val="92D050"/>
                </a:solidFill>
              </a:rPr>
              <a:t>-&gt; CashOrderPaymentSucceededEvent </a:t>
            </a:r>
            <a:r>
              <a:rPr lang="ko-KR" altLang="en-US" sz="1050" b="1">
                <a:solidFill>
                  <a:srgbClr val="92D050"/>
                </a:solidFill>
              </a:rPr>
              <a:t>발행</a:t>
            </a:r>
            <a:endParaRPr lang="en-US" altLang="ko-KR" sz="1050" b="1">
              <a:solidFill>
                <a:srgbClr val="92D050"/>
              </a:solidFill>
            </a:endParaRPr>
          </a:p>
          <a:p>
            <a:pPr algn="ctr"/>
            <a:endParaRPr lang="en-US" altLang="ko-KR" sz="1050" b="1">
              <a:solidFill>
                <a:srgbClr val="92D050"/>
              </a:solidFill>
            </a:endParaRPr>
          </a:p>
          <a:p>
            <a:pPr algn="ctr"/>
            <a:r>
              <a:rPr lang="ko-KR" altLang="en-US" sz="1050" b="1">
                <a:solidFill>
                  <a:srgbClr val="FF0000"/>
                </a:solidFill>
              </a:rPr>
              <a:t>결제 불가일 경우 </a:t>
            </a:r>
            <a:r>
              <a:rPr lang="en-US" altLang="ko-KR" sz="1050" b="1">
                <a:solidFill>
                  <a:srgbClr val="FF0000"/>
                </a:solidFill>
              </a:rPr>
              <a:t>-&gt;  CashOrderPaymentFailedEvent </a:t>
            </a:r>
            <a:r>
              <a:rPr lang="ko-KR" altLang="en-US" sz="1050" b="1">
                <a:solidFill>
                  <a:srgbClr val="FF0000"/>
                </a:solidFill>
              </a:rPr>
              <a:t>발행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194A8CF-F276-B6A3-2DDD-0268882C6BD9}"/>
              </a:ext>
            </a:extLst>
          </p:cNvPr>
          <p:cNvSpPr txBox="1"/>
          <p:nvPr/>
        </p:nvSpPr>
        <p:spPr>
          <a:xfrm>
            <a:off x="3921417" y="4940834"/>
            <a:ext cx="8211671" cy="1869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1. event</a:t>
            </a:r>
            <a:r>
              <a:rPr lang="ko-KR" altLang="en-US" sz="1050"/>
              <a:t>로부터 받은 </a:t>
            </a:r>
            <a:r>
              <a:rPr lang="en-US" altLang="ko-KR" sz="1050"/>
              <a:t>orderDto</a:t>
            </a:r>
            <a:r>
              <a:rPr lang="ko-KR" altLang="en-US" sz="1050"/>
              <a:t>로 부터 </a:t>
            </a:r>
            <a:r>
              <a:rPr lang="en-US" altLang="ko-KR" sz="1050"/>
              <a:t>buyer</a:t>
            </a:r>
            <a:r>
              <a:rPr lang="ko-KR" altLang="en-US" sz="1050"/>
              <a:t>의 회원 </a:t>
            </a:r>
            <a:r>
              <a:rPr lang="en-US" altLang="ko-KR" sz="1050"/>
              <a:t>Id</a:t>
            </a:r>
            <a:r>
              <a:rPr lang="ko-KR" altLang="en-US" sz="1050"/>
              <a:t>를 통해 </a:t>
            </a:r>
            <a:r>
              <a:rPr lang="en-US" altLang="ko-KR" sz="1050"/>
              <a:t>Buyer</a:t>
            </a:r>
            <a:r>
              <a:rPr lang="ko-KR" altLang="en-US" sz="1050"/>
              <a:t>의 </a:t>
            </a:r>
            <a:r>
              <a:rPr lang="en-US" altLang="ko-KR" sz="1050"/>
              <a:t>Wallet</a:t>
            </a:r>
            <a:r>
              <a:rPr lang="ko-KR" altLang="en-US" sz="1050"/>
              <a:t>을 가져옴</a:t>
            </a:r>
            <a:r>
              <a:rPr lang="en-US" altLang="ko-KR" sz="1050"/>
              <a:t>. </a:t>
            </a:r>
            <a:br>
              <a:rPr lang="en-US" altLang="ko-KR" sz="1050"/>
            </a:br>
            <a:r>
              <a:rPr lang="en-US" altLang="ko-KR" sz="1050"/>
              <a:t>- [cashSupport</a:t>
            </a:r>
            <a:r>
              <a:rPr lang="ko-KR" altLang="en-US" sz="1050"/>
              <a:t>에 </a:t>
            </a:r>
            <a:r>
              <a:rPr lang="en-US" altLang="ko-KR" sz="1050"/>
              <a:t>findWalletByHolderId(id) </a:t>
            </a:r>
            <a:r>
              <a:rPr lang="ko-KR" altLang="en-US" sz="1050"/>
              <a:t>추가</a:t>
            </a:r>
            <a:r>
              <a:rPr lang="en-US" altLang="ko-KR" sz="1050"/>
              <a:t>]</a:t>
            </a:r>
          </a:p>
          <a:p>
            <a:r>
              <a:rPr lang="en-US" altLang="ko-KR" sz="1050"/>
              <a:t>2. </a:t>
            </a:r>
            <a:r>
              <a:rPr lang="ko-KR" altLang="en-US" sz="1050"/>
              <a:t>이커머스 회사 전용 계좌 계정</a:t>
            </a:r>
            <a:r>
              <a:rPr lang="en-US" altLang="ko-KR" sz="1050"/>
              <a:t>(</a:t>
            </a:r>
            <a:r>
              <a:rPr lang="ko-KR" altLang="en-US" sz="1050"/>
              <a:t>무통장 입금 같은 계정 </a:t>
            </a:r>
            <a:r>
              <a:rPr lang="en-US" altLang="ko-KR" sz="1050"/>
              <a:t>= holding</a:t>
            </a:r>
            <a:r>
              <a:rPr lang="ko-KR" altLang="en-US" sz="1050"/>
              <a:t> 계정</a:t>
            </a:r>
            <a:r>
              <a:rPr lang="en-US" altLang="ko-KR" sz="1050"/>
              <a:t>) </a:t>
            </a:r>
            <a:r>
              <a:rPr lang="ko-KR" altLang="en-US" sz="1050"/>
              <a:t>준비 </a:t>
            </a:r>
            <a:endParaRPr lang="en-US" altLang="ko-KR" sz="1050"/>
          </a:p>
          <a:p>
            <a:r>
              <a:rPr lang="en-US" altLang="ko-KR" sz="1050"/>
              <a:t>- [cashSupport</a:t>
            </a:r>
            <a:r>
              <a:rPr lang="ko-KR" altLang="en-US" sz="1050"/>
              <a:t>에 </a:t>
            </a:r>
            <a:r>
              <a:rPr lang="en-US" altLang="ko-KR" sz="1050"/>
              <a:t>findHoldingWallet() </a:t>
            </a:r>
            <a:r>
              <a:rPr lang="ko-KR" altLang="en-US" sz="1050"/>
              <a:t>추가 </a:t>
            </a:r>
            <a:r>
              <a:rPr lang="en-US" altLang="ko-KR" sz="1050"/>
              <a:t>= walletRepository</a:t>
            </a:r>
            <a:r>
              <a:rPr lang="ko-KR" altLang="en-US" sz="1050"/>
              <a:t>에 </a:t>
            </a:r>
            <a:r>
              <a:rPr lang="en-US" altLang="ko-KR" sz="1050"/>
              <a:t>findByHolderId(CashPolicy.HOLDING_MEMBER_ID) </a:t>
            </a:r>
            <a:r>
              <a:rPr lang="ko-KR" altLang="en-US" sz="1050"/>
              <a:t>추가</a:t>
            </a:r>
            <a:r>
              <a:rPr lang="en-US" altLang="ko-KR" sz="1050"/>
              <a:t>]</a:t>
            </a:r>
            <a:br>
              <a:rPr lang="en-US" altLang="ko-KR" sz="1050"/>
            </a:br>
            <a:r>
              <a:rPr lang="en-US" altLang="ko-KR" sz="1050"/>
              <a:t>3. event</a:t>
            </a:r>
            <a:r>
              <a:rPr lang="ko-KR" altLang="en-US" sz="1050"/>
              <a:t>로 부터 받은 </a:t>
            </a:r>
            <a:r>
              <a:rPr lang="en-US" altLang="ko-KR" sz="1050"/>
              <a:t>pgPaymentAmount </a:t>
            </a:r>
            <a:r>
              <a:rPr lang="ko-KR" altLang="en-US" sz="1050"/>
              <a:t>가 </a:t>
            </a:r>
            <a:r>
              <a:rPr lang="en-US" altLang="ko-KR" sz="1050"/>
              <a:t>0</a:t>
            </a:r>
            <a:r>
              <a:rPr lang="ko-KR" altLang="en-US" sz="1050"/>
              <a:t>보다 크면 </a:t>
            </a:r>
            <a:r>
              <a:rPr lang="en-US" altLang="ko-KR" sz="1050"/>
              <a:t>buyer </a:t>
            </a:r>
            <a:r>
              <a:rPr lang="ko-KR" altLang="en-US" sz="1050"/>
              <a:t>지갑의 잔액을 먼저 증가 시켜줘야함</a:t>
            </a:r>
            <a:r>
              <a:rPr lang="en-US" altLang="ko-KR" sz="1050"/>
              <a:t>. </a:t>
            </a:r>
          </a:p>
          <a:p>
            <a:r>
              <a:rPr lang="en-US" altLang="ko-KR" sz="1050"/>
              <a:t>4.buyer</a:t>
            </a:r>
            <a:r>
              <a:rPr lang="ko-KR" altLang="en-US" sz="1050"/>
              <a:t>의 </a:t>
            </a:r>
            <a:r>
              <a:rPr lang="en-US" altLang="ko-KR" sz="1050"/>
              <a:t>balance</a:t>
            </a:r>
            <a:r>
              <a:rPr lang="ko-KR" altLang="en-US" sz="1050"/>
              <a:t>가 </a:t>
            </a:r>
            <a:r>
              <a:rPr lang="en-US" altLang="ko-KR" sz="1050"/>
              <a:t>Order</a:t>
            </a:r>
            <a:r>
              <a:rPr lang="ko-KR" altLang="en-US" sz="1050"/>
              <a:t>의 주문 시점 판매금액보다 큰 지 비교</a:t>
            </a:r>
            <a:endParaRPr lang="en-US" altLang="ko-KR" sz="1050"/>
          </a:p>
          <a:p>
            <a:r>
              <a:rPr lang="en-US" altLang="ko-KR" sz="1050"/>
              <a:t>5. balance</a:t>
            </a:r>
            <a:r>
              <a:rPr lang="ko-KR" altLang="en-US" sz="1050"/>
              <a:t>가 더 클 경우 </a:t>
            </a:r>
            <a:r>
              <a:rPr lang="en-US" altLang="ko-KR" sz="1050"/>
              <a:t>: order.getSalePrice() </a:t>
            </a:r>
            <a:r>
              <a:rPr lang="ko-KR" altLang="en-US" sz="1050"/>
              <a:t>만큼 </a:t>
            </a:r>
            <a:r>
              <a:rPr lang="en-US" altLang="ko-KR" sz="1050"/>
              <a:t>balance </a:t>
            </a:r>
            <a:r>
              <a:rPr lang="ko-KR" altLang="en-US" sz="1050"/>
              <a:t>차감</a:t>
            </a:r>
            <a:r>
              <a:rPr lang="en-US" altLang="ko-KR" sz="1050"/>
              <a:t>. </a:t>
            </a:r>
            <a:r>
              <a:rPr lang="en-US" altLang="ko-KR" sz="1050">
                <a:sym typeface="Wingdings" panose="05000000000000000000" pitchFamily="2" charset="2"/>
              </a:rPr>
              <a:t> holding</a:t>
            </a:r>
            <a:r>
              <a:rPr lang="ko-KR" altLang="en-US" sz="1050">
                <a:sym typeface="Wingdings" panose="05000000000000000000" pitchFamily="2" charset="2"/>
              </a:rPr>
              <a:t>계정 </a:t>
            </a:r>
            <a:r>
              <a:rPr lang="en-US" altLang="ko-KR" sz="1050">
                <a:sym typeface="Wingdings" panose="05000000000000000000" pitchFamily="2" charset="2"/>
              </a:rPr>
              <a:t>balance </a:t>
            </a:r>
            <a:r>
              <a:rPr lang="ko-KR" altLang="en-US" sz="1050">
                <a:sym typeface="Wingdings" panose="05000000000000000000" pitchFamily="2" charset="2"/>
              </a:rPr>
              <a:t>증가 </a:t>
            </a:r>
            <a:r>
              <a:rPr lang="en-US" altLang="ko-KR" sz="1050">
                <a:sym typeface="Wingdings" panose="05000000000000000000" pitchFamily="2" charset="2"/>
              </a:rPr>
              <a:t> </a:t>
            </a:r>
            <a:r>
              <a:rPr lang="ko-KR" altLang="en-US" sz="1050">
                <a:sym typeface="Wingdings" panose="05000000000000000000" pitchFamily="2" charset="2"/>
              </a:rPr>
              <a:t>주문 결제 성공 이벤트</a:t>
            </a:r>
            <a:r>
              <a:rPr lang="en-US" altLang="ko-KR" sz="1050">
                <a:sym typeface="Wingdings" panose="05000000000000000000" pitchFamily="2" charset="2"/>
              </a:rPr>
              <a:t>(CashOrderPaymentSucceededEvent)</a:t>
            </a:r>
            <a:r>
              <a:rPr lang="ko-KR" altLang="en-US" sz="1050">
                <a:sym typeface="Wingdings" panose="05000000000000000000" pitchFamily="2" charset="2"/>
              </a:rPr>
              <a:t> 발행</a:t>
            </a:r>
            <a:endParaRPr lang="en-US" altLang="ko-KR" sz="1050">
              <a:sym typeface="Wingdings" panose="05000000000000000000" pitchFamily="2" charset="2"/>
            </a:endParaRPr>
          </a:p>
          <a:p>
            <a:r>
              <a:rPr lang="en-US" altLang="ko-KR" sz="1050">
                <a:sym typeface="Wingdings" panose="05000000000000000000" pitchFamily="2" charset="2"/>
              </a:rPr>
              <a:t>( </a:t>
            </a:r>
            <a:r>
              <a:rPr lang="ko-KR" altLang="en-US" sz="1050">
                <a:sym typeface="Wingdings" panose="05000000000000000000" pitchFamily="2" charset="2"/>
              </a:rPr>
              <a:t>이벤트에 </a:t>
            </a:r>
            <a:r>
              <a:rPr lang="en-US" altLang="ko-KR" sz="1050">
                <a:sym typeface="Wingdings" panose="05000000000000000000" pitchFamily="2" charset="2"/>
              </a:rPr>
              <a:t>OrderDto</a:t>
            </a:r>
            <a:r>
              <a:rPr lang="ko-KR" altLang="en-US" sz="1050">
                <a:sym typeface="Wingdings" panose="05000000000000000000" pitchFamily="2" charset="2"/>
              </a:rPr>
              <a:t>와 </a:t>
            </a:r>
            <a:r>
              <a:rPr lang="en-US" altLang="ko-KR" sz="1050">
                <a:sym typeface="Wingdings" panose="05000000000000000000" pitchFamily="2" charset="2"/>
              </a:rPr>
              <a:t>pgPaymentAmount </a:t>
            </a:r>
            <a:r>
              <a:rPr lang="ko-KR" altLang="en-US" sz="1050">
                <a:sym typeface="Wingdings" panose="05000000000000000000" pitchFamily="2" charset="2"/>
              </a:rPr>
              <a:t>를 포함</a:t>
            </a:r>
            <a:r>
              <a:rPr lang="en-US" altLang="ko-KR" sz="1050">
                <a:sym typeface="Wingdings" panose="05000000000000000000" pitchFamily="2" charset="2"/>
              </a:rPr>
              <a:t>)</a:t>
            </a:r>
          </a:p>
          <a:p>
            <a:r>
              <a:rPr lang="en-US" altLang="ko-KR" sz="1050">
                <a:sym typeface="Wingdings" panose="05000000000000000000" pitchFamily="2" charset="2"/>
              </a:rPr>
              <a:t>6. balance</a:t>
            </a:r>
            <a:r>
              <a:rPr lang="ko-KR" altLang="en-US" sz="1050">
                <a:sym typeface="Wingdings" panose="05000000000000000000" pitchFamily="2" charset="2"/>
              </a:rPr>
              <a:t>가 더 작은 경우 </a:t>
            </a:r>
            <a:r>
              <a:rPr lang="en-US" altLang="ko-KR" sz="1050">
                <a:sym typeface="Wingdings" panose="05000000000000000000" pitchFamily="2" charset="2"/>
              </a:rPr>
              <a:t>:  </a:t>
            </a:r>
            <a:r>
              <a:rPr lang="ko-KR" altLang="en-US" sz="1050">
                <a:sym typeface="Wingdings" panose="05000000000000000000" pitchFamily="2" charset="2"/>
              </a:rPr>
              <a:t>주문 결제 실패 이벤트</a:t>
            </a:r>
            <a:r>
              <a:rPr lang="en-US" altLang="ko-KR" sz="1050">
                <a:sym typeface="Wingdings" panose="05000000000000000000" pitchFamily="2" charset="2"/>
              </a:rPr>
              <a:t>(CashOrderPaymentFailedEvent)</a:t>
            </a:r>
            <a:r>
              <a:rPr lang="ko-KR" altLang="en-US" sz="1050">
                <a:sym typeface="Wingdings" panose="05000000000000000000" pitchFamily="2" charset="2"/>
              </a:rPr>
              <a:t> 발행</a:t>
            </a:r>
            <a:br>
              <a:rPr lang="en-US" altLang="ko-KR" sz="1050">
                <a:sym typeface="Wingdings" panose="05000000000000000000" pitchFamily="2" charset="2"/>
              </a:rPr>
            </a:br>
            <a:r>
              <a:rPr lang="en-US" altLang="ko-KR" sz="1050">
                <a:sym typeface="Wingdings" panose="05000000000000000000" pitchFamily="2" charset="2"/>
              </a:rPr>
              <a:t>( </a:t>
            </a:r>
            <a:r>
              <a:rPr lang="ko-KR" altLang="en-US" sz="1050">
                <a:sym typeface="Wingdings" panose="05000000000000000000" pitchFamily="2" charset="2"/>
              </a:rPr>
              <a:t>이벤트에 </a:t>
            </a:r>
            <a:r>
              <a:rPr lang="en-US" altLang="ko-KR" sz="1050">
                <a:sym typeface="Wingdings" panose="05000000000000000000" pitchFamily="2" charset="2"/>
              </a:rPr>
              <a:t>resultCode, msg, orderDto, pgPaymentAmount, shortfallAmount[</a:t>
            </a:r>
            <a:r>
              <a:rPr lang="ko-KR" altLang="en-US" sz="1050">
                <a:sym typeface="Wingdings" panose="05000000000000000000" pitchFamily="2" charset="2"/>
              </a:rPr>
              <a:t>부족금</a:t>
            </a:r>
            <a:r>
              <a:rPr lang="en-US" altLang="ko-KR" sz="1050">
                <a:sym typeface="Wingdings" panose="05000000000000000000" pitchFamily="2" charset="2"/>
              </a:rPr>
              <a:t>]</a:t>
            </a:r>
            <a:r>
              <a:rPr lang="ko-KR" altLang="en-US" sz="1050">
                <a:sym typeface="Wingdings" panose="05000000000000000000" pitchFamily="2" charset="2"/>
              </a:rPr>
              <a:t>을</a:t>
            </a:r>
            <a:r>
              <a:rPr lang="en-US" altLang="ko-KR" sz="1050">
                <a:sym typeface="Wingdings" panose="05000000000000000000" pitchFamily="2" charset="2"/>
              </a:rPr>
              <a:t> </a:t>
            </a:r>
            <a:r>
              <a:rPr lang="ko-KR" altLang="en-US" sz="1050">
                <a:sym typeface="Wingdings" panose="05000000000000000000" pitchFamily="2" charset="2"/>
              </a:rPr>
              <a:t>포함</a:t>
            </a:r>
            <a:r>
              <a:rPr lang="en-US" altLang="ko-KR" sz="1050">
                <a:sym typeface="Wingdings" panose="05000000000000000000" pitchFamily="2" charset="2"/>
              </a:rPr>
              <a:t> ) </a:t>
            </a:r>
            <a:endParaRPr lang="ko-KR" altLang="en-US" sz="1050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0A21DF8-BD14-733E-7400-83DDF0CC3994}"/>
              </a:ext>
            </a:extLst>
          </p:cNvPr>
          <p:cNvCxnSpPr>
            <a:stCxn id="29" idx="1"/>
          </p:cNvCxnSpPr>
          <p:nvPr/>
        </p:nvCxnSpPr>
        <p:spPr>
          <a:xfrm flipH="1">
            <a:off x="3380975" y="4040108"/>
            <a:ext cx="540443" cy="1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D1EE44B-4C5F-D794-398B-692EEABC88E5}"/>
              </a:ext>
            </a:extLst>
          </p:cNvPr>
          <p:cNvSpPr/>
          <p:nvPr/>
        </p:nvSpPr>
        <p:spPr>
          <a:xfrm>
            <a:off x="663390" y="3208540"/>
            <a:ext cx="2717585" cy="16631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/>
              <a:t>6. MarketListener</a:t>
            </a:r>
            <a:r>
              <a:rPr lang="ko-KR" altLang="en-US" sz="1050"/>
              <a:t>에서</a:t>
            </a:r>
            <a:br>
              <a:rPr lang="en-US" altLang="ko-KR" sz="1050"/>
            </a:br>
            <a:r>
              <a:rPr lang="en-US" altLang="ko-KR" sz="1050">
                <a:sym typeface="Wingdings" panose="05000000000000000000" pitchFamily="2" charset="2"/>
              </a:rPr>
              <a:t>CashOrderPaymentSucceededEvent </a:t>
            </a:r>
            <a:r>
              <a:rPr lang="ko-KR" altLang="en-US" sz="1050">
                <a:sym typeface="Wingdings" panose="05000000000000000000" pitchFamily="2" charset="2"/>
              </a:rPr>
              <a:t>또는</a:t>
            </a:r>
            <a:br>
              <a:rPr lang="en-US" altLang="ko-KR" sz="1050">
                <a:sym typeface="Wingdings" panose="05000000000000000000" pitchFamily="2" charset="2"/>
              </a:rPr>
            </a:br>
            <a:r>
              <a:rPr lang="ko-KR" altLang="en-US" sz="1050"/>
              <a:t> </a:t>
            </a:r>
            <a:r>
              <a:rPr lang="en-US" altLang="ko-KR" sz="1050">
                <a:sym typeface="Wingdings" panose="05000000000000000000" pitchFamily="2" charset="2"/>
              </a:rPr>
              <a:t>CashOrderPaymentFailedEvent </a:t>
            </a:r>
            <a:r>
              <a:rPr lang="ko-KR" altLang="en-US" sz="1050">
                <a:sym typeface="Wingdings" panose="05000000000000000000" pitchFamily="2" charset="2"/>
              </a:rPr>
              <a:t> 수신</a:t>
            </a:r>
            <a:endParaRPr lang="ko-KR" altLang="en-US" sz="1050" b="1">
              <a:solidFill>
                <a:srgbClr val="FF0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5C4CA7-9CCD-5126-E70E-E1DA81B4249B}"/>
              </a:ext>
            </a:extLst>
          </p:cNvPr>
          <p:cNvSpPr txBox="1"/>
          <p:nvPr/>
        </p:nvSpPr>
        <p:spPr>
          <a:xfrm>
            <a:off x="645459" y="4940834"/>
            <a:ext cx="2735516" cy="2077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성공 이벤트 수신 </a:t>
            </a:r>
            <a:r>
              <a:rPr lang="en-US" altLang="ko-KR" sz="1000">
                <a:sym typeface="Wingdings" panose="05000000000000000000" pitchFamily="2" charset="2"/>
              </a:rPr>
              <a:t>: </a:t>
            </a:r>
            <a:br>
              <a:rPr lang="en-US" altLang="ko-KR" sz="1000">
                <a:sym typeface="Wingdings" panose="05000000000000000000" pitchFamily="2" charset="2"/>
              </a:rPr>
            </a:br>
            <a:r>
              <a:rPr lang="en-US" altLang="ko-KR" sz="1000">
                <a:sym typeface="Wingdings" panose="05000000000000000000" pitchFamily="2" charset="2"/>
              </a:rPr>
              <a:t>marketFacade.handle(event)  </a:t>
            </a:r>
            <a:r>
              <a:rPr lang="en-US" altLang="ko-KR" sz="1000"/>
              <a:t>marketCompleteOrderPaymentUseCase.handle(event) [bypass] </a:t>
            </a:r>
            <a:r>
              <a:rPr lang="en-US" altLang="ko-KR" sz="1000">
                <a:sym typeface="Wingdings" panose="05000000000000000000" pitchFamily="2" charset="2"/>
              </a:rPr>
              <a:t> OrderDto</a:t>
            </a:r>
            <a:r>
              <a:rPr lang="ko-KR" altLang="en-US" sz="1000">
                <a:sym typeface="Wingdings" panose="05000000000000000000" pitchFamily="2" charset="2"/>
              </a:rPr>
              <a:t>로  주문 검색 </a:t>
            </a:r>
            <a:r>
              <a:rPr lang="en-US" altLang="ko-KR" sz="1000">
                <a:sym typeface="Wingdings" panose="05000000000000000000" pitchFamily="2" charset="2"/>
              </a:rPr>
              <a:t> completePayment() </a:t>
            </a:r>
            <a:r>
              <a:rPr lang="ko-KR" altLang="en-US" sz="1000">
                <a:sym typeface="Wingdings" panose="05000000000000000000" pitchFamily="2" charset="2"/>
              </a:rPr>
              <a:t>로 결제 완료 시간 저장</a:t>
            </a:r>
            <a:endParaRPr lang="en-US" altLang="ko-KR" sz="1000">
              <a:sym typeface="Wingdings" panose="05000000000000000000" pitchFamily="2" charset="2"/>
            </a:endParaRPr>
          </a:p>
          <a:p>
            <a:r>
              <a:rPr lang="ko-KR" altLang="en-US" sz="1000">
                <a:sym typeface="Wingdings" panose="05000000000000000000" pitchFamily="2" charset="2"/>
              </a:rPr>
              <a:t>실패 이벤트 수신 </a:t>
            </a:r>
            <a:r>
              <a:rPr lang="en-US" altLang="ko-KR" sz="1000">
                <a:sym typeface="Wingdings" panose="05000000000000000000" pitchFamily="2" charset="2"/>
              </a:rPr>
              <a:t>: </a:t>
            </a:r>
          </a:p>
          <a:p>
            <a:r>
              <a:rPr lang="en-US" altLang="ko-KR" sz="1000">
                <a:sym typeface="Wingdings" panose="05000000000000000000" pitchFamily="2" charset="2"/>
              </a:rPr>
              <a:t>marketFacade.handle(event)  </a:t>
            </a:r>
            <a:r>
              <a:rPr lang="en-US" altLang="ko-KR" sz="1000"/>
              <a:t>marketCancelOrderRequestPaymentUseCase</a:t>
            </a:r>
          </a:p>
          <a:p>
            <a:r>
              <a:rPr lang="en-US" altLang="ko-KR" sz="1000"/>
              <a:t>.handle(event) [bypass] </a:t>
            </a:r>
            <a:r>
              <a:rPr lang="en-US" altLang="ko-KR" sz="1000">
                <a:sym typeface="Wingdings" panose="05000000000000000000" pitchFamily="2" charset="2"/>
              </a:rPr>
              <a:t> OrderDto</a:t>
            </a:r>
            <a:r>
              <a:rPr lang="ko-KR" altLang="en-US" sz="1000">
                <a:sym typeface="Wingdings" panose="05000000000000000000" pitchFamily="2" charset="2"/>
              </a:rPr>
              <a:t>로  주문 검색 </a:t>
            </a:r>
            <a:r>
              <a:rPr lang="en-US" altLang="ko-KR" sz="1000">
                <a:sym typeface="Wingdings" panose="05000000000000000000" pitchFamily="2" charset="2"/>
              </a:rPr>
              <a:t> cancelRequestPayment() </a:t>
            </a:r>
            <a:r>
              <a:rPr lang="ko-KR" altLang="en-US" sz="1000">
                <a:sym typeface="Wingdings" panose="05000000000000000000" pitchFamily="2" charset="2"/>
              </a:rPr>
              <a:t>로 결제 요청 시간 </a:t>
            </a:r>
            <a:r>
              <a:rPr lang="en-US" altLang="ko-KR" sz="1000">
                <a:sym typeface="Wingdings" panose="05000000000000000000" pitchFamily="2" charset="2"/>
              </a:rPr>
              <a:t>null </a:t>
            </a:r>
            <a:r>
              <a:rPr lang="ko-KR" altLang="en-US" sz="1000">
                <a:sym typeface="Wingdings" panose="05000000000000000000" pitchFamily="2" charset="2"/>
              </a:rPr>
              <a:t>초기화</a:t>
            </a:r>
            <a:endParaRPr lang="en-US" altLang="ko-KR" sz="1000">
              <a:sym typeface="Wingdings" panose="05000000000000000000" pitchFamily="2" charset="2"/>
            </a:endParaRPr>
          </a:p>
          <a:p>
            <a:endParaRPr lang="en-US" altLang="ko-KR" sz="1000"/>
          </a:p>
          <a:p>
            <a:endParaRPr lang="ko-KR" altLang="en-US" sz="900" i="1"/>
          </a:p>
        </p:txBody>
      </p:sp>
    </p:spTree>
    <p:extLst>
      <p:ext uri="{BB962C8B-B14F-4D97-AF65-F5344CB8AC3E}">
        <p14:creationId xmlns:p14="http://schemas.microsoft.com/office/powerpoint/2010/main" val="49444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35BE4C50-3371-31A6-340A-61D70A0F2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308" y="4284"/>
            <a:ext cx="10631384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91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748148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1027</TotalTime>
  <Words>415</Words>
  <Application>Microsoft Office PowerPoint</Application>
  <PresentationFormat>와이드스크린</PresentationFormat>
  <Paragraphs>29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추억</vt:lpstr>
      <vt:lpstr>K-Trainning 2부 분석</vt:lpstr>
      <vt:lpstr>주문 결제 분석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26</cp:revision>
  <dcterms:created xsi:type="dcterms:W3CDTF">2026-09-21T08:40:43Z</dcterms:created>
  <dcterms:modified xsi:type="dcterms:W3CDTF">2026-09-22T12:22:13Z</dcterms:modified>
</cp:coreProperties>
</file>