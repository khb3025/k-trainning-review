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7105650" cy="10236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A83B097-CFEC-4A5B-ABE6-B3594AA87981}">
          <p14:sldIdLst>
            <p14:sldId id="256"/>
            <p14:sldId id="259"/>
          </p14:sldIdLst>
        </p14:section>
        <p14:section name="41강" id="{76077975-0B84-4E6A-9EE9-F7742ECAAFE8}">
          <p14:sldIdLst>
            <p14:sldId id="258"/>
            <p14:sldId id="260"/>
          </p14:sldIdLst>
        </p14:section>
        <p14:section name="42강" id="{71A71E9E-5A90-423B-A702-396725AD1BF9}">
          <p14:sldIdLst>
            <p14:sldId id="261"/>
            <p14:sldId id="262"/>
            <p14:sldId id="263"/>
          </p14:sldIdLst>
        </p14:section>
        <p14:section name="43강" id="{BE38821D-6BFD-462F-8601-D0E33CBFC0A8}">
          <p14:sldIdLst>
            <p14:sldId id="264"/>
            <p14:sldId id="265"/>
          </p14:sldIdLst>
        </p14:section>
        <p14:section name="44강" id="{5082AE16-B791-4C3D-BF86-D0F1C5151AD4}">
          <p14:sldIdLst>
            <p14:sldId id="266"/>
            <p14:sldId id="267"/>
            <p14:sldId id="268"/>
          </p14:sldIdLst>
        </p14:section>
        <p14:section name="45강" id="{29757DBA-0B78-4856-A069-615433DB8BE6}">
          <p14:sldIdLst>
            <p14:sldId id="269"/>
            <p14:sldId id="270"/>
            <p14:sldId id="271"/>
          </p14:sldIdLst>
        </p14:section>
        <p14:section name="46강" id="{AD20ED81-918B-4183-B507-3D4182400A85}">
          <p14:sldIdLst>
            <p14:sldId id="272"/>
            <p14:sldId id="273"/>
          </p14:sldIdLst>
        </p14:section>
        <p14:section name="47강" id="{379D9F8F-C216-447C-9765-D1B7194069F8}">
          <p14:sldIdLst>
            <p14:sldId id="274"/>
            <p14:sldId id="275"/>
            <p14:sldId id="276"/>
          </p14:sldIdLst>
        </p14:section>
        <p14:section name="48강" id="{1305A5E0-BF8E-43FA-B495-EB7D040647DB}">
          <p14:sldIdLst>
            <p14:sldId id="277"/>
            <p14:sldId id="278"/>
            <p14:sldId id="279"/>
            <p14:sldId id="280"/>
          </p14:sldIdLst>
        </p14:section>
        <p14:section name="49강" id="{FAE4658C-893A-42DB-A95D-8B1519DFC65D}">
          <p14:sldIdLst>
            <p14:sldId id="281"/>
            <p14:sldId id="282"/>
          </p14:sldIdLst>
        </p14:section>
        <p14:section name="50강" id="{746C1C27-A41C-48DD-AACF-8A1B73AF101C}">
          <p14:sldIdLst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8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2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750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9750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8C3531-A65C-4044-8924-D714CEBE4520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3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3438"/>
            <a:ext cx="3079750" cy="512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4313" y="9723438"/>
            <a:ext cx="3079750" cy="512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2F14BE-05F6-44DF-B8A9-455CE6618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8297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2F14BE-05F6-44DF-B8A9-455CE6618AF3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0068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DEB1-12D0-464D-A22F-C179B25B16B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B6252-EEE8-4D32-8536-10A329E1B14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057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DEB1-12D0-464D-A22F-C179B25B16B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B6252-EEE8-4D32-8536-10A329E1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947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DEB1-12D0-464D-A22F-C179B25B16B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B6252-EEE8-4D32-8536-10A329E1B14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193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DEB1-12D0-464D-A22F-C179B25B16B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B6252-EEE8-4D32-8536-10A329E1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269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DEB1-12D0-464D-A22F-C179B25B16B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B6252-EEE8-4D32-8536-10A329E1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862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DEB1-12D0-464D-A22F-C179B25B16B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B6252-EEE8-4D32-8536-10A329E1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542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DEB1-12D0-464D-A22F-C179B25B16B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B6252-EEE8-4D32-8536-10A329E1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272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29EDEB1-12D0-464D-A22F-C179B25B16B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1B6252-EEE8-4D32-8536-10A329E1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651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DEB1-12D0-464D-A22F-C179B25B16B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B6252-EEE8-4D32-8536-10A329E1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174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DEB1-12D0-464D-A22F-C179B25B16B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B6252-EEE8-4D32-8536-10A329E1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957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DEB1-12D0-464D-A22F-C179B25B16B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B6252-EEE8-4D32-8536-10A329E1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30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29EDEB1-12D0-464D-A22F-C179B25B16B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F1B6252-EEE8-4D32-8536-10A329E1B14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509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FE85F-EE5F-F625-848F-27B945FB1D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K-Trainning 3</a:t>
            </a:r>
            <a:r>
              <a:rPr lang="ko-KR" altLang="en-US"/>
              <a:t>부 분석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A44267-52AF-D4CF-AF37-24F9BB0330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Spring Batch</a:t>
            </a:r>
            <a:r>
              <a:rPr lang="ko-KR" altLang="en-US"/>
              <a:t>를 활용한 정산</a:t>
            </a:r>
          </a:p>
        </p:txBody>
      </p:sp>
    </p:spTree>
    <p:extLst>
      <p:ext uri="{BB962C8B-B14F-4D97-AF65-F5344CB8AC3E}">
        <p14:creationId xmlns:p14="http://schemas.microsoft.com/office/powerpoint/2010/main" val="3223232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7587B-A811-F1BD-1C8D-F37851FD1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/>
              <a:t>정산</a:t>
            </a:r>
            <a:r>
              <a:rPr lang="en-US" altLang="ko-KR" sz="2800"/>
              <a:t>, </a:t>
            </a:r>
            <a:r>
              <a:rPr lang="ko-KR" altLang="en-US" sz="2800"/>
              <a:t>스프링 배치 연동</a:t>
            </a:r>
            <a:r>
              <a:rPr lang="en-US" altLang="ko-KR" sz="2800"/>
              <a:t>, </a:t>
            </a:r>
            <a:r>
              <a:rPr lang="ko-KR" altLang="en-US" sz="2800"/>
              <a:t>스프링 스케줄러 연동</a:t>
            </a:r>
            <a:r>
              <a:rPr lang="en-US" altLang="ko-KR" sz="2800"/>
              <a:t>, 41</a:t>
            </a:r>
            <a:r>
              <a:rPr lang="ko-KR" altLang="en-US" sz="2800"/>
              <a:t>강 </a:t>
            </a:r>
            <a:r>
              <a:rPr lang="en-US" altLang="ko-KR" sz="2800"/>
              <a:t>~ 50</a:t>
            </a:r>
            <a:r>
              <a:rPr lang="ko-KR" altLang="en-US" sz="2800"/>
              <a:t>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45E44A2-A7DB-AA19-718E-8365222CA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00164"/>
            <a:ext cx="6728059" cy="201645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32099DF-EA5A-924A-EAD2-8571D4E0D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2" y="4279419"/>
            <a:ext cx="11431595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196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B41D7-7F87-21B5-A7C1-C8ADB42E0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>
                <a:latin typeface="+mn-lt"/>
              </a:rPr>
              <a:t>41</a:t>
            </a:r>
            <a:r>
              <a:rPr lang="ko-KR" altLang="en-US" sz="2400">
                <a:latin typeface="+mn-lt"/>
              </a:rPr>
              <a:t>강 </a:t>
            </a:r>
            <a:r>
              <a:rPr lang="en-US" altLang="ko-KR" sz="2400">
                <a:latin typeface="+mn-lt"/>
              </a:rPr>
              <a:t>PayoutMember </a:t>
            </a:r>
            <a:r>
              <a:rPr lang="ko-KR" altLang="en-US" sz="2400">
                <a:latin typeface="+mn-lt"/>
              </a:rPr>
              <a:t>생성 후 </a:t>
            </a:r>
            <a:r>
              <a:rPr lang="en-US" altLang="ko-KR" sz="2400">
                <a:latin typeface="+mn-lt"/>
              </a:rPr>
              <a:t>PayoutMemberCreatedEvent </a:t>
            </a:r>
            <a:r>
              <a:rPr lang="ko-KR" altLang="en-US" sz="2400">
                <a:latin typeface="+mn-lt"/>
              </a:rPr>
              <a:t>발생</a:t>
            </a:r>
            <a:br>
              <a:rPr lang="en-US" altLang="ko-KR" sz="2400">
                <a:latin typeface="+mn-lt"/>
              </a:rPr>
            </a:br>
            <a:r>
              <a:rPr lang="ko-KR" altLang="en-US" sz="2400">
                <a:latin typeface="+mn-lt"/>
              </a:rPr>
              <a:t>주문 결제 완료 후 </a:t>
            </a:r>
            <a:r>
              <a:rPr lang="en-US" altLang="ko-KR" sz="2400">
                <a:latin typeface="+mn-lt"/>
              </a:rPr>
              <a:t>MarketOrderPaymentCompletedEvent </a:t>
            </a:r>
            <a:r>
              <a:rPr lang="ko-KR" altLang="en-US" sz="2400">
                <a:latin typeface="+mn-lt"/>
              </a:rPr>
              <a:t>발생</a:t>
            </a:r>
            <a:endParaRPr lang="ko-KR" altLang="en-US" sz="280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D0E3B5-022C-4605-8932-D7B522CEB00F}"/>
              </a:ext>
            </a:extLst>
          </p:cNvPr>
          <p:cNvSpPr txBox="1"/>
          <p:nvPr/>
        </p:nvSpPr>
        <p:spPr>
          <a:xfrm>
            <a:off x="1194318" y="1810139"/>
            <a:ext cx="99613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</a:t>
            </a:r>
            <a:r>
              <a:rPr lang="ko-KR" altLang="en-US" sz="1200"/>
              <a:t>정산 서비스를 위해 </a:t>
            </a:r>
            <a:r>
              <a:rPr lang="en-US" altLang="ko-KR" sz="1200"/>
              <a:t>Payout </a:t>
            </a:r>
            <a:r>
              <a:rPr lang="ko-KR" altLang="en-US" sz="1200"/>
              <a:t>모듈을 만들고 다른 서비스 처럼 해당 서비스에서 사용할 복제 </a:t>
            </a:r>
            <a:r>
              <a:rPr lang="en-US" altLang="ko-KR" sz="1200"/>
              <a:t>Member </a:t>
            </a:r>
            <a:r>
              <a:rPr lang="ko-KR" altLang="en-US" sz="1200"/>
              <a:t>를 작성한다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	Order </a:t>
            </a:r>
            <a:r>
              <a:rPr lang="ko-KR" altLang="en-US" sz="1200"/>
              <a:t>내 결제 완료 시 </a:t>
            </a:r>
            <a:r>
              <a:rPr lang="en-US" altLang="ko-KR" sz="1200"/>
              <a:t>MarketOrderPaymentCompletedEvent</a:t>
            </a:r>
            <a:r>
              <a:rPr lang="ko-KR" altLang="en-US" sz="1200"/>
              <a:t>를 발생시키며</a:t>
            </a:r>
            <a:r>
              <a:rPr lang="en-US" altLang="ko-KR" sz="1200"/>
              <a:t>, </a:t>
            </a:r>
            <a:r>
              <a:rPr lang="ko-KR" altLang="en-US" sz="1200"/>
              <a:t>해당 이벤트의 처리는 다음 강의에서 작성한다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SELECT * FROM PAYOUT_MEMBER; </a:t>
            </a:r>
            <a:r>
              <a:rPr lang="ko-KR" altLang="en-US" sz="1200"/>
              <a:t>결과가 </a:t>
            </a:r>
            <a:r>
              <a:rPr lang="en-US" altLang="ko-KR" sz="1200"/>
              <a:t>6</a:t>
            </a:r>
            <a:r>
              <a:rPr lang="ko-KR" altLang="en-US" sz="1200"/>
              <a:t>행이다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실행 로그에 </a:t>
            </a:r>
            <a:r>
              <a:rPr lang="en-US" altLang="ko-KR" sz="1200"/>
              <a:t>createPayout.payee: 1</a:t>
            </a:r>
            <a:r>
              <a:rPr lang="ko-KR" altLang="en-US" sz="1200"/>
              <a:t>부터 </a:t>
            </a:r>
            <a:r>
              <a:rPr lang="en-US" altLang="ko-KR" sz="1200"/>
              <a:t>createPayout.payee: 6</a:t>
            </a:r>
            <a:r>
              <a:rPr lang="ko-KR" altLang="en-US" sz="1200"/>
              <a:t>까지 </a:t>
            </a:r>
            <a:r>
              <a:rPr lang="en-US" altLang="ko-KR" sz="1200"/>
              <a:t>6</a:t>
            </a:r>
            <a:r>
              <a:rPr lang="ko-KR" altLang="en-US" sz="1200"/>
              <a:t>번 찍힌다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실행 로그에 </a:t>
            </a:r>
            <a:r>
              <a:rPr lang="en-US" altLang="ko-KR" sz="1200"/>
              <a:t>addPayoutCandidateItems.order: 1</a:t>
            </a:r>
            <a:r>
              <a:rPr lang="ko-KR" altLang="en-US" sz="1200"/>
              <a:t>이 </a:t>
            </a:r>
            <a:r>
              <a:rPr lang="en-US" altLang="ko-KR" sz="1200"/>
              <a:t>1</a:t>
            </a:r>
            <a:r>
              <a:rPr lang="ko-KR" altLang="en-US" sz="1200"/>
              <a:t>번 찍힌다</a:t>
            </a:r>
            <a:r>
              <a:rPr lang="en-US" altLang="ko-KR" sz="1200"/>
              <a:t>(</a:t>
            </a:r>
            <a:r>
              <a:rPr lang="ko-KR" altLang="en-US" sz="1200"/>
              <a:t>결제된 주문은 </a:t>
            </a:r>
            <a:r>
              <a:rPr lang="en-US" altLang="ko-KR" sz="1200"/>
              <a:t>1</a:t>
            </a:r>
            <a:r>
              <a:rPr lang="ko-KR" altLang="en-US" sz="1200"/>
              <a:t>번뿐이다</a:t>
            </a:r>
            <a:r>
              <a:rPr lang="en-US" altLang="ko-KR" sz="1200"/>
              <a:t>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E82D2E-BB54-69A5-20A0-5D17E4C53469}"/>
              </a:ext>
            </a:extLst>
          </p:cNvPr>
          <p:cNvSpPr txBox="1"/>
          <p:nvPr/>
        </p:nvSpPr>
        <p:spPr>
          <a:xfrm>
            <a:off x="9057791" y="2982724"/>
            <a:ext cx="12412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수정 파일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Order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5A26C-F07D-E5FD-FC67-75960F95A222}"/>
              </a:ext>
            </a:extLst>
          </p:cNvPr>
          <p:cNvSpPr txBox="1"/>
          <p:nvPr/>
        </p:nvSpPr>
        <p:spPr>
          <a:xfrm>
            <a:off x="1270534" y="3124069"/>
            <a:ext cx="3819953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생성 파일</a:t>
            </a:r>
            <a:endParaRPr lang="en-US" altLang="ko-KR" sz="1200" b="1"/>
          </a:p>
          <a:p>
            <a:pPr marL="171450" indent="-171450">
              <a:buFontTx/>
              <a:buChar char="-"/>
            </a:pPr>
            <a:r>
              <a:rPr lang="en-US" altLang="ko-KR" sz="1100"/>
              <a:t>PayoutAddPayoutCandidateItemsUseCase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void addPayoutCandidateItems(OrderDto)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PayoutCreatePayoutUseCase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void createPayout(PayoutMemberDto 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PayoutFacade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void syncMember(MemberDto member)</a:t>
            </a:r>
            <a:br>
              <a:rPr lang="en-US" altLang="ko-KR" sz="1100"/>
            </a:br>
            <a:r>
              <a:rPr lang="en-US" altLang="ko-KR" sz="1100"/>
              <a:t>void createPayout(PayoutMemberDto payee)</a:t>
            </a:r>
            <a:br>
              <a:rPr lang="en-US" altLang="ko-KR" sz="1100"/>
            </a:br>
            <a:r>
              <a:rPr lang="en-US" altLang="ko-KR" sz="1100"/>
              <a:t>void addPayoutCandidateItems(OrderDto order)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PayoutSyncMemberUseCase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PayoutMember syncMember(MemberDto member)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PayoutMember</a:t>
            </a:r>
          </a:p>
          <a:p>
            <a:pPr marL="628650" lvl="1" indent="-171450">
              <a:buFontTx/>
              <a:buChar char="-"/>
            </a:pPr>
            <a:r>
              <a:rPr lang="ko-KR" altLang="en-US" sz="1100"/>
              <a:t>복제 테이블과 구성 일치</a:t>
            </a:r>
            <a:endParaRPr lang="en-US" altLang="ko-KR" sz="1100"/>
          </a:p>
          <a:p>
            <a:pPr lvl="1"/>
            <a:endParaRPr lang="en-US" altLang="ko-KR" sz="11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B2B13E-2F51-6702-44E1-F88A5876FED3}"/>
              </a:ext>
            </a:extLst>
          </p:cNvPr>
          <p:cNvSpPr txBox="1"/>
          <p:nvPr/>
        </p:nvSpPr>
        <p:spPr>
          <a:xfrm>
            <a:off x="5090487" y="3045280"/>
            <a:ext cx="3819953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생성 파일</a:t>
            </a:r>
            <a:endParaRPr lang="en-US" altLang="ko-KR" sz="1200" b="1"/>
          </a:p>
          <a:p>
            <a:pPr marL="171450" indent="-171450">
              <a:buFontTx/>
              <a:buChar char="-"/>
            </a:pPr>
            <a:r>
              <a:rPr lang="en-US" altLang="ko-KR" sz="1100"/>
              <a:t>PayoutEventListener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void handle(MemberJoinedEvent event) </a:t>
            </a:r>
            <a:br>
              <a:rPr lang="en-US" altLang="ko-KR" sz="1100"/>
            </a:br>
            <a:r>
              <a:rPr lang="en-US" altLang="ko-KR" sz="1100"/>
              <a:t>public void handle(MemberModifiedEvent event) </a:t>
            </a:r>
            <a:br>
              <a:rPr lang="en-US" altLang="ko-KR" sz="1100"/>
            </a:br>
            <a:r>
              <a:rPr lang="en-US" altLang="ko-KR" sz="1100"/>
              <a:t>public void handle(PayoutMemberCreatedEvent event)</a:t>
            </a:r>
            <a:br>
              <a:rPr lang="en-US" altLang="ko-KR" sz="1100"/>
            </a:br>
            <a:r>
              <a:rPr lang="en-US" altLang="ko-KR" sz="1100"/>
              <a:t>public void handle(MarketOrderPaymentCompletedEvent event) </a:t>
            </a:r>
            <a:br>
              <a:rPr lang="en-US" altLang="ko-KR" sz="1100"/>
            </a:b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/>
              <a:t>PayoutMemberRepository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 Optional&lt;PayoutMember&gt; findByUsername(String username);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MarketOrderPaymentCompletedEvent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private final OrderDto order;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PayoutMemberDto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MemberDto </a:t>
            </a:r>
            <a:r>
              <a:rPr lang="ko-KR" altLang="en-US" sz="1100"/>
              <a:t>와 구성 일치</a:t>
            </a: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/>
              <a:t>PayoutMemberCreatedEvent</a:t>
            </a:r>
            <a:br>
              <a:rPr lang="en-US" altLang="ko-KR" sz="1100"/>
            </a:br>
            <a:r>
              <a:rPr lang="en-US" altLang="ko-KR" sz="1100"/>
              <a:t>	- private final PayoutMemberDto member;</a:t>
            </a:r>
          </a:p>
        </p:txBody>
      </p:sp>
    </p:spTree>
    <p:extLst>
      <p:ext uri="{BB962C8B-B14F-4D97-AF65-F5344CB8AC3E}">
        <p14:creationId xmlns:p14="http://schemas.microsoft.com/office/powerpoint/2010/main" val="3471628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1AED45-520B-F468-EB84-5B29942B0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41</a:t>
            </a:r>
            <a:r>
              <a:rPr lang="ko-KR" altLang="en-US"/>
              <a:t>강 주요 코드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74E84BF-BDF8-A844-80C8-2367A32263E4}"/>
              </a:ext>
            </a:extLst>
          </p:cNvPr>
          <p:cNvGrpSpPr/>
          <p:nvPr/>
        </p:nvGrpSpPr>
        <p:grpSpPr>
          <a:xfrm>
            <a:off x="7405048" y="1920238"/>
            <a:ext cx="4667061" cy="4778943"/>
            <a:chOff x="176475" y="1920238"/>
            <a:chExt cx="4667061" cy="477894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413565B-0328-7E61-DD2B-C54E498B1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475" y="1920238"/>
              <a:ext cx="4667061" cy="477894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323F15A-4C68-94C4-F3AE-38CE4A9C4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3533" y="1920238"/>
              <a:ext cx="1810003" cy="323895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07D7FE5-F595-E00F-2516-99D1B1AAA74E}"/>
              </a:ext>
            </a:extLst>
          </p:cNvPr>
          <p:cNvGrpSpPr/>
          <p:nvPr/>
        </p:nvGrpSpPr>
        <p:grpSpPr>
          <a:xfrm>
            <a:off x="987205" y="5972113"/>
            <a:ext cx="6287377" cy="857370"/>
            <a:chOff x="987205" y="5972113"/>
            <a:chExt cx="6287377" cy="85737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8F6C2C6-10FF-5F70-A331-A5FD7F82E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7205" y="5972113"/>
              <a:ext cx="6287377" cy="857370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F4E7C8F-B386-BE94-ABCE-A4BB41C87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64791" y="6013020"/>
              <a:ext cx="1009791" cy="342948"/>
            </a:xfrm>
            <a:prstGeom prst="rect">
              <a:avLst/>
            </a:prstGeom>
          </p:spPr>
        </p:pic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C0032795-2BE6-6F03-5C93-DD3D9238C9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205" y="1806804"/>
            <a:ext cx="5096600" cy="409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653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55150-F133-5D49-870B-C5AE8DD45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3000"/>
              <a:t>42</a:t>
            </a:r>
            <a:r>
              <a:rPr lang="ko-KR" altLang="en-US" sz="3000"/>
              <a:t>강 </a:t>
            </a:r>
            <a:r>
              <a:rPr lang="en-US" altLang="ko-KR" sz="3000"/>
              <a:t>: </a:t>
            </a:r>
            <a:r>
              <a:rPr lang="en-US" altLang="ko-KR" sz="3000">
                <a:latin typeface="+mn-lt"/>
              </a:rPr>
              <a:t>PayoutMemberCreatedEvent </a:t>
            </a:r>
            <a:r>
              <a:rPr lang="ko-KR" altLang="en-US" sz="3000">
                <a:latin typeface="+mn-lt"/>
              </a:rPr>
              <a:t>이벤트 수신 후 </a:t>
            </a:r>
            <a:r>
              <a:rPr lang="en-US" altLang="ko-KR" sz="3000">
                <a:latin typeface="+mn-lt"/>
              </a:rPr>
              <a:t>Payout </a:t>
            </a:r>
            <a:r>
              <a:rPr lang="ko-KR" altLang="en-US" sz="3000">
                <a:latin typeface="+mn-lt"/>
              </a:rPr>
              <a:t>생성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C25D36-8A5D-7781-0862-BE6EE489956F}"/>
              </a:ext>
            </a:extLst>
          </p:cNvPr>
          <p:cNvSpPr txBox="1"/>
          <p:nvPr/>
        </p:nvSpPr>
        <p:spPr>
          <a:xfrm>
            <a:off x="1194318" y="1810139"/>
            <a:ext cx="996136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</a:t>
            </a:r>
            <a:r>
              <a:rPr lang="ko-KR" altLang="en-US" sz="1200"/>
              <a:t>회원마다 </a:t>
            </a:r>
            <a:r>
              <a:rPr lang="en-US" altLang="ko-KR" sz="1200"/>
              <a:t>"</a:t>
            </a:r>
            <a:r>
              <a:rPr lang="ko-KR" altLang="en-US" sz="1200"/>
              <a:t>열려있는 정산서</a:t>
            </a:r>
            <a:r>
              <a:rPr lang="en-US" altLang="ko-KR" sz="1200"/>
              <a:t>" 1</a:t>
            </a:r>
            <a:r>
              <a:rPr lang="ko-KR" altLang="en-US" sz="1200"/>
              <a:t>개씩 미리 만들어 둔다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ko-KR" altLang="en-US" sz="1100"/>
              <a:t>미리 만들어 두는 이유 </a:t>
            </a:r>
            <a:r>
              <a:rPr lang="en-US" altLang="ko-KR" sz="1100"/>
              <a:t>: </a:t>
            </a:r>
            <a:r>
              <a:rPr lang="ko-KR" altLang="en-US" sz="1100"/>
              <a:t>나중에 정산 항목을 담을 때 </a:t>
            </a:r>
            <a:r>
              <a:rPr lang="en-US" altLang="ko-KR" sz="1100"/>
              <a:t>"</a:t>
            </a:r>
            <a:r>
              <a:rPr lang="ko-KR" altLang="en-US" sz="1100"/>
              <a:t>정산서가 있으면 쓰고 없으면 만든다</a:t>
            </a:r>
            <a:r>
              <a:rPr lang="en-US" altLang="ko-KR" sz="1100"/>
              <a:t>"</a:t>
            </a:r>
            <a:r>
              <a:rPr lang="ko-KR" altLang="en-US" sz="1100"/>
              <a:t>는 분기가 필요 없어진다</a:t>
            </a:r>
            <a:r>
              <a:rPr lang="en-US" altLang="ko-KR" sz="1100"/>
              <a:t>. </a:t>
            </a:r>
            <a:r>
              <a:rPr lang="ko-KR" altLang="en-US" sz="1100"/>
              <a:t>항상 있다고 가정하고 찾기만 하면 된다</a:t>
            </a:r>
            <a:r>
              <a:rPr lang="en-US" altLang="ko-KR" sz="1100"/>
              <a:t>.</a:t>
            </a:r>
          </a:p>
          <a:p>
            <a:endParaRPr lang="en-US" altLang="ko-KR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61E6F8-8CDE-F198-3CE2-A2FC5E6B9218}"/>
              </a:ext>
            </a:extLst>
          </p:cNvPr>
          <p:cNvSpPr txBox="1"/>
          <p:nvPr/>
        </p:nvSpPr>
        <p:spPr>
          <a:xfrm>
            <a:off x="5505859" y="2338028"/>
            <a:ext cx="433116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수정 파일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PayoutCreatePayoutUseCase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Payout createPayout(PayoutMemberDto payee) 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PayoutFacade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Payout createPayout(PayoutMemberDto payee) </a:t>
            </a:r>
          </a:p>
          <a:p>
            <a:pPr marL="628650" lvl="1" indent="-171450">
              <a:buFontTx/>
              <a:buChar char="-"/>
            </a:pPr>
            <a:endParaRPr lang="en-US" altLang="ko-KR" sz="11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CB104A-A3ED-B441-ED66-93A8D8FDF1DF}"/>
              </a:ext>
            </a:extLst>
          </p:cNvPr>
          <p:cNvSpPr txBox="1"/>
          <p:nvPr/>
        </p:nvSpPr>
        <p:spPr>
          <a:xfrm>
            <a:off x="1224233" y="2441081"/>
            <a:ext cx="3819953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생성 파일</a:t>
            </a:r>
            <a:endParaRPr lang="en-US" altLang="ko-KR" sz="1200" b="1"/>
          </a:p>
          <a:p>
            <a:pPr marL="171450" indent="-171450">
              <a:buFontTx/>
              <a:buChar char="-"/>
            </a:pPr>
            <a:r>
              <a:rPr lang="en-US" altLang="ko-KR" sz="1100"/>
              <a:t>Payout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PayoutItem addItem(PayoutEventType eventType, String relTypeCode, int relId, LocalDateTime payDate, PayoutMember payer, PayoutMember payee, long amount)</a:t>
            </a:r>
          </a:p>
          <a:p>
            <a:pPr marL="628650" lvl="1" indent="-171450">
              <a:buFontTx/>
              <a:buChar char="-"/>
            </a:pP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/>
              <a:t>PayoutEventType</a:t>
            </a:r>
          </a:p>
          <a:p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/>
              <a:t>PayoutItem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PayoutRepository</a:t>
            </a:r>
          </a:p>
          <a:p>
            <a:pPr marL="171450" indent="-171450">
              <a:buFontTx/>
              <a:buChar char="-"/>
            </a:pPr>
            <a:endParaRPr lang="en-US" altLang="ko-KR" sz="11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51891E-2555-0BE2-BEC4-AB0F8EAF9920}"/>
              </a:ext>
            </a:extLst>
          </p:cNvPr>
          <p:cNvSpPr txBox="1"/>
          <p:nvPr/>
        </p:nvSpPr>
        <p:spPr>
          <a:xfrm>
            <a:off x="8178681" y="3332135"/>
            <a:ext cx="382399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/>
              <a:t>★ </a:t>
            </a:r>
            <a:r>
              <a:rPr lang="en-US" altLang="ko-KR" sz="1600" b="1"/>
              <a:t>PayoutItem </a:t>
            </a:r>
            <a:r>
              <a:rPr lang="ko-KR" altLang="en-US" sz="1600" b="1"/>
              <a:t>정보 </a:t>
            </a:r>
            <a:r>
              <a:rPr lang="en-US" altLang="ko-KR" sz="1600" b="1"/>
              <a:t>(BaseIdAndTime)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Payout payout;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PayoutEventType eventType;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LocalDateTime paymentDate;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PayoutMember payer;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PayoutMember payee;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long amount;</a:t>
            </a:r>
          </a:p>
          <a:p>
            <a:pPr marL="171450" indent="-171450">
              <a:buFontTx/>
              <a:buChar char="-"/>
            </a:pPr>
            <a:endParaRPr lang="en-US" altLang="ko-KR" sz="1200"/>
          </a:p>
          <a:p>
            <a:r>
              <a:rPr lang="ko-KR" altLang="en-US" sz="1600" b="1"/>
              <a:t>★ </a:t>
            </a:r>
            <a:r>
              <a:rPr lang="en-US" altLang="ko-KR" sz="1600" b="1"/>
              <a:t>PayoutItem </a:t>
            </a:r>
            <a:r>
              <a:rPr lang="ko-KR" altLang="en-US" sz="1600" b="1"/>
              <a:t>정보</a:t>
            </a:r>
            <a:endParaRPr lang="en-US" altLang="ko-KR" sz="1600" b="1"/>
          </a:p>
          <a:p>
            <a:r>
              <a:rPr lang="en-US" altLang="ko-KR" sz="1100"/>
              <a:t>- </a:t>
            </a:r>
            <a:r>
              <a:rPr lang="ko-KR" altLang="en-US" sz="1100"/>
              <a:t>정산</a:t>
            </a:r>
            <a:r>
              <a:rPr lang="en-US" altLang="ko-KR" sz="1100"/>
              <a:t>__</a:t>
            </a:r>
            <a:r>
              <a:rPr lang="ko-KR" altLang="en-US" sz="1100"/>
              <a:t>상품판매</a:t>
            </a:r>
            <a:r>
              <a:rPr lang="en-US" altLang="ko-KR" sz="1100"/>
              <a:t>_</a:t>
            </a:r>
            <a:r>
              <a:rPr lang="ko-KR" altLang="en-US" sz="1100"/>
              <a:t>수수료</a:t>
            </a:r>
            <a:endParaRPr lang="en-US" altLang="ko-KR" sz="1100"/>
          </a:p>
          <a:p>
            <a:r>
              <a:rPr lang="en-US" altLang="ko-KR" sz="1100"/>
              <a:t>- </a:t>
            </a:r>
            <a:r>
              <a:rPr lang="ko-KR" altLang="en-US" sz="1100"/>
              <a:t>정산</a:t>
            </a:r>
            <a:r>
              <a:rPr lang="en-US" altLang="ko-KR" sz="1100"/>
              <a:t>__</a:t>
            </a:r>
            <a:r>
              <a:rPr lang="ko-KR" altLang="en-US" sz="1100"/>
              <a:t>상품판매</a:t>
            </a:r>
            <a:r>
              <a:rPr lang="en-US" altLang="ko-KR" sz="1100"/>
              <a:t>_</a:t>
            </a:r>
            <a:r>
              <a:rPr lang="ko-KR" altLang="en-US" sz="1100"/>
              <a:t>대금</a:t>
            </a:r>
            <a:endParaRPr lang="en-US" altLang="ko-KR" sz="1100"/>
          </a:p>
          <a:p>
            <a:pPr marL="171450" indent="-171450">
              <a:buFontTx/>
              <a:buChar char="-"/>
            </a:pPr>
            <a:endParaRPr lang="en-US" altLang="ko-KR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A1466E-C53A-5366-EF8D-DDF69CCA876B}"/>
              </a:ext>
            </a:extLst>
          </p:cNvPr>
          <p:cNvSpPr txBox="1"/>
          <p:nvPr/>
        </p:nvSpPr>
        <p:spPr>
          <a:xfrm>
            <a:off x="4980687" y="3378301"/>
            <a:ext cx="319799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/>
              <a:t>★ </a:t>
            </a:r>
            <a:r>
              <a:rPr lang="en-US" altLang="ko-KR" sz="1600" b="1"/>
              <a:t>Payout </a:t>
            </a:r>
            <a:r>
              <a:rPr lang="ko-KR" altLang="en-US" sz="1600" b="1"/>
              <a:t>정보 </a:t>
            </a:r>
            <a:r>
              <a:rPr lang="en-US" altLang="ko-KR" sz="1600" b="1"/>
              <a:t>(BaseIdAndTime)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PayoutMember payee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LocalDateTime payoutDate;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long amount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List&lt;PayoutItem&gt; items</a:t>
            </a:r>
          </a:p>
          <a:p>
            <a:pPr marL="171450" indent="-171450">
              <a:buFontTx/>
              <a:buChar char="-"/>
            </a:pPr>
            <a:endParaRPr lang="en-US" altLang="ko-KR" sz="1200"/>
          </a:p>
          <a:p>
            <a:r>
              <a:rPr lang="ko-KR" altLang="en-US" sz="1200"/>
              <a:t>메소드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PayoutItem addItem(PayoutEventType eventType, String relTypeCode, int relId, LocalDateTime payDate, PayoutMember payer, PayoutMember payee, long amount)</a:t>
            </a:r>
          </a:p>
        </p:txBody>
      </p:sp>
    </p:spTree>
    <p:extLst>
      <p:ext uri="{BB962C8B-B14F-4D97-AF65-F5344CB8AC3E}">
        <p14:creationId xmlns:p14="http://schemas.microsoft.com/office/powerpoint/2010/main" val="3527781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ACF8CF-A451-14FE-4F7B-C5CCBF0B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42</a:t>
            </a:r>
            <a:r>
              <a:rPr lang="ko-KR" altLang="en-US"/>
              <a:t>강 주요 코드 사진 </a:t>
            </a:r>
            <a:r>
              <a:rPr lang="en-US" altLang="ko-KR"/>
              <a:t>-1</a:t>
            </a:r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E83FB11-8E8B-1CD0-1CB0-C3FB25464351}"/>
              </a:ext>
            </a:extLst>
          </p:cNvPr>
          <p:cNvGrpSpPr/>
          <p:nvPr/>
        </p:nvGrpSpPr>
        <p:grpSpPr>
          <a:xfrm>
            <a:off x="314564" y="1842358"/>
            <a:ext cx="8784119" cy="3698506"/>
            <a:chOff x="314564" y="1842358"/>
            <a:chExt cx="8784119" cy="3698506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D4D01F0D-3CF0-B4CE-7D72-BB85A3D6AF89}"/>
                </a:ext>
              </a:extLst>
            </p:cNvPr>
            <p:cNvGrpSpPr/>
            <p:nvPr/>
          </p:nvGrpSpPr>
          <p:grpSpPr>
            <a:xfrm>
              <a:off x="314564" y="1842358"/>
              <a:ext cx="8784119" cy="3698506"/>
              <a:chOff x="314564" y="1842358"/>
              <a:chExt cx="8784119" cy="3698506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6D362CD8-25EC-2AD7-E3E8-8DD2A9C193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4564" y="1842358"/>
                <a:ext cx="5595221" cy="2777769"/>
              </a:xfrm>
              <a:prstGeom prst="rect">
                <a:avLst/>
              </a:prstGeom>
            </p:spPr>
          </p:pic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3D608F09-1E67-6A4A-51D6-F5EA8F3D67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90123" y="1842358"/>
                <a:ext cx="3108560" cy="3698506"/>
              </a:xfrm>
              <a:prstGeom prst="rect">
                <a:avLst/>
              </a:prstGeom>
            </p:spPr>
          </p:pic>
        </p:grp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B665E7E-8624-3BB3-C4EF-7C13FEF05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67170" y="1842358"/>
              <a:ext cx="1133633" cy="285790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0D00E44-07D5-71C4-D2B3-C24B3A253599}"/>
              </a:ext>
            </a:extLst>
          </p:cNvPr>
          <p:cNvGrpSpPr/>
          <p:nvPr/>
        </p:nvGrpSpPr>
        <p:grpSpPr>
          <a:xfrm>
            <a:off x="9179021" y="1799281"/>
            <a:ext cx="2954072" cy="4654695"/>
            <a:chOff x="9120545" y="1842358"/>
            <a:chExt cx="2954072" cy="4654695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A3E51378-821C-0FAC-0CAE-6E6E27F04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20545" y="1842358"/>
              <a:ext cx="2954072" cy="4654695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63E6849C-428B-3182-8543-72F675034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25632"/>
            <a:stretch>
              <a:fillRect/>
            </a:stretch>
          </p:blipFill>
          <p:spPr>
            <a:xfrm>
              <a:off x="10750133" y="1885435"/>
              <a:ext cx="1305107" cy="3046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4802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631FD-DBF3-AA3E-4DC6-AEC52087D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42</a:t>
            </a:r>
            <a:r>
              <a:rPr lang="ko-KR" altLang="en-US"/>
              <a:t>강 주요 코드 사진 </a:t>
            </a:r>
            <a:r>
              <a:rPr lang="en-US" altLang="ko-KR"/>
              <a:t>-2</a:t>
            </a:r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92652CD-171C-623B-5987-7961CF035524}"/>
              </a:ext>
            </a:extLst>
          </p:cNvPr>
          <p:cNvGrpSpPr/>
          <p:nvPr/>
        </p:nvGrpSpPr>
        <p:grpSpPr>
          <a:xfrm>
            <a:off x="1182315" y="1923702"/>
            <a:ext cx="5532005" cy="722188"/>
            <a:chOff x="1182315" y="1923702"/>
            <a:chExt cx="5532005" cy="72218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92DA751-B2ED-E591-7231-7413DFE27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2315" y="1979047"/>
              <a:ext cx="4944165" cy="66684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601C603-74A9-054B-9B83-D136C1D99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04423" y="1923702"/>
              <a:ext cx="1409897" cy="314369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C3657E7-A2EC-CA35-E447-0C893ECF887D}"/>
              </a:ext>
            </a:extLst>
          </p:cNvPr>
          <p:cNvGrpSpPr/>
          <p:nvPr/>
        </p:nvGrpSpPr>
        <p:grpSpPr>
          <a:xfrm>
            <a:off x="1182315" y="2887577"/>
            <a:ext cx="6632296" cy="2972215"/>
            <a:chOff x="1182315" y="2887577"/>
            <a:chExt cx="6632296" cy="2972215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B9FF325-E597-BBD1-A118-259A76102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2315" y="2887577"/>
              <a:ext cx="6630325" cy="2972215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6725427-8EE7-9044-FF78-5B26A8C707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14029" y="2887577"/>
              <a:ext cx="2200582" cy="3238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8786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6BDA2-CFF7-9800-25AB-E06AF62A7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>
                <a:latin typeface="+mn-lt"/>
              </a:rPr>
              <a:t>43</a:t>
            </a:r>
            <a:r>
              <a:rPr lang="ko-KR" altLang="en-US" sz="2800">
                <a:latin typeface="+mn-lt"/>
              </a:rPr>
              <a:t>강 </a:t>
            </a:r>
            <a:r>
              <a:rPr lang="en-US" altLang="ko-KR" sz="2800">
                <a:latin typeface="+mn-lt"/>
              </a:rPr>
              <a:t>MarketOrderPaymentCompletedEvent </a:t>
            </a:r>
            <a:r>
              <a:rPr lang="ko-KR" altLang="en-US" sz="2800">
                <a:latin typeface="+mn-lt"/>
              </a:rPr>
              <a:t>이벤트 수신 후 </a:t>
            </a:r>
            <a:br>
              <a:rPr lang="en-US" altLang="ko-KR" sz="2800">
                <a:latin typeface="+mn-lt"/>
              </a:rPr>
            </a:br>
            <a:r>
              <a:rPr lang="ko-KR" altLang="en-US" sz="2800">
                <a:latin typeface="+mn-lt"/>
              </a:rPr>
              <a:t>주문 품목 </a:t>
            </a:r>
            <a:r>
              <a:rPr lang="en-US" altLang="ko-KR" sz="2800">
                <a:latin typeface="+mn-lt"/>
              </a:rPr>
              <a:t>(OrderItem) </a:t>
            </a:r>
            <a:r>
              <a:rPr lang="ko-KR" altLang="en-US" sz="2800">
                <a:latin typeface="+mn-lt"/>
              </a:rPr>
              <a:t>불러오기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FF5D1-304B-CDA0-8A36-F3C35BB62398}"/>
              </a:ext>
            </a:extLst>
          </p:cNvPr>
          <p:cNvSpPr txBox="1"/>
          <p:nvPr/>
        </p:nvSpPr>
        <p:spPr>
          <a:xfrm>
            <a:off x="1194318" y="1810139"/>
            <a:ext cx="9961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</a:t>
            </a:r>
            <a:r>
              <a:rPr lang="ko-KR" altLang="en-US" sz="1200"/>
              <a:t>정산은 주문 단위가아니라 결제 품목 단위로 진행된다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 </a:t>
            </a:r>
            <a:r>
              <a:rPr lang="ko-KR" altLang="en-US" sz="1200"/>
              <a:t>구매자가 장바구니에 담고 결제하는 하나의 주문은 여러 품목 서로 다른 판매자를 여럿 가지고 있기에</a:t>
            </a:r>
            <a:r>
              <a:rPr lang="en-US" altLang="ko-KR" sz="1200"/>
              <a:t>, </a:t>
            </a:r>
            <a:br>
              <a:rPr lang="en-US" altLang="ko-KR" sz="1200"/>
            </a:br>
            <a:r>
              <a:rPr lang="en-US" altLang="ko-KR" sz="1200"/>
              <a:t>	</a:t>
            </a:r>
            <a:r>
              <a:rPr lang="ko-KR" altLang="en-US" sz="1200"/>
              <a:t>품목별 판매자에게 정산해줘야함으로 주문 단위가 아니라 품목단위로 이루어지는것이다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※ MarketOrderPaymentCompletedEvent(</a:t>
            </a:r>
            <a:r>
              <a:rPr lang="ko-KR" altLang="en-US" sz="1200"/>
              <a:t>결제완료</a:t>
            </a:r>
            <a:r>
              <a:rPr lang="en-US" altLang="ko-KR" sz="1200"/>
              <a:t>) </a:t>
            </a:r>
            <a:r>
              <a:rPr lang="ko-KR" altLang="en-US" sz="1200"/>
              <a:t>이벤트로 부터 받아오는 </a:t>
            </a:r>
            <a:r>
              <a:rPr lang="en-US" altLang="ko-KR" sz="1200"/>
              <a:t>OrderDto </a:t>
            </a:r>
            <a:r>
              <a:rPr lang="ko-KR" altLang="en-US" sz="1200"/>
              <a:t>정보는 품목 정보를 가지고 있지 않음으로 </a:t>
            </a:r>
            <a:br>
              <a:rPr lang="en-US" altLang="ko-KR" sz="1200"/>
            </a:br>
            <a:r>
              <a:rPr lang="en-US" altLang="ko-KR" sz="1200"/>
              <a:t>    </a:t>
            </a:r>
            <a:r>
              <a:rPr lang="ko-KR" altLang="en-US" sz="1200"/>
              <a:t>해당 정보를 이용하여 </a:t>
            </a:r>
            <a:r>
              <a:rPr lang="en-US" altLang="ko-KR" sz="1200"/>
              <a:t>API </a:t>
            </a:r>
            <a:r>
              <a:rPr lang="ko-KR" altLang="en-US" sz="1200"/>
              <a:t>요청을 통해 품목 정보를 받아와야한다</a:t>
            </a:r>
            <a:r>
              <a:rPr lang="en-US" altLang="ko-KR" sz="120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B140CB-5705-E024-BBFA-17E9081E8DB8}"/>
              </a:ext>
            </a:extLst>
          </p:cNvPr>
          <p:cNvSpPr txBox="1"/>
          <p:nvPr/>
        </p:nvSpPr>
        <p:spPr>
          <a:xfrm>
            <a:off x="5563611" y="3083247"/>
            <a:ext cx="43311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수정 파일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OrderItem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OrderItemDto toDto()  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ApiV1OrderController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@GetMapping("/{id}/items")    </a:t>
            </a:r>
            <a:br>
              <a:rPr lang="en-US" altLang="ko-KR" sz="1100"/>
            </a:br>
            <a:r>
              <a:rPr lang="en-US" altLang="ko-KR" sz="1100"/>
              <a:t>@Transactional(readOnly = true)    </a:t>
            </a:r>
            <a:br>
              <a:rPr lang="en-US" altLang="ko-KR" sz="1100"/>
            </a:br>
            <a:r>
              <a:rPr lang="en-US" altLang="ko-KR" sz="1100"/>
              <a:t>public List&lt;OrderItemDto&gt; getItems(@PathVariable int id)  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PayoutAddPayoutCandidateItemsUseCase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void addPayoutCandidateItems(OrderDto order)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7DC9F-8C5C-517B-C1CC-37B2C7C1B37A}"/>
              </a:ext>
            </a:extLst>
          </p:cNvPr>
          <p:cNvSpPr txBox="1"/>
          <p:nvPr/>
        </p:nvSpPr>
        <p:spPr>
          <a:xfrm>
            <a:off x="1281985" y="3186300"/>
            <a:ext cx="3819953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생성 파일</a:t>
            </a:r>
            <a:endParaRPr lang="en-US" altLang="ko-KR" sz="1200" b="1"/>
          </a:p>
          <a:p>
            <a:pPr marL="171450" indent="-171450">
              <a:buFontTx/>
              <a:buChar char="-"/>
            </a:pPr>
            <a:r>
              <a:rPr lang="en-US" altLang="ko-KR" sz="1100"/>
              <a:t>OrderItemDto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private final int id</a:t>
            </a:r>
            <a:br>
              <a:rPr lang="en-US" altLang="ko-KR" sz="1100"/>
            </a:br>
            <a:r>
              <a:rPr lang="en-US" altLang="ko-KR" sz="1100"/>
              <a:t>private final LocalDateTime createDate</a:t>
            </a:r>
            <a:br>
              <a:rPr lang="en-US" altLang="ko-KR" sz="1100"/>
            </a:br>
            <a:r>
              <a:rPr lang="en-US" altLang="ko-KR" sz="1100"/>
              <a:t>private final LocalDateTime modifyDate</a:t>
            </a:r>
            <a:br>
              <a:rPr lang="en-US" altLang="ko-KR" sz="1100"/>
            </a:br>
            <a:r>
              <a:rPr lang="en-US" altLang="ko-KR" sz="1100"/>
              <a:t>private final int orderId</a:t>
            </a:r>
            <a:br>
              <a:rPr lang="en-US" altLang="ko-KR" sz="1100"/>
            </a:br>
            <a:r>
              <a:rPr lang="en-US" altLang="ko-KR" sz="1100"/>
              <a:t>private final int buyerId</a:t>
            </a:r>
            <a:br>
              <a:rPr lang="en-US" altLang="ko-KR" sz="1100"/>
            </a:br>
            <a:r>
              <a:rPr lang="en-US" altLang="ko-KR" sz="1100"/>
              <a:t>private final String buyerName</a:t>
            </a:r>
            <a:br>
              <a:rPr lang="en-US" altLang="ko-KR" sz="1100"/>
            </a:br>
            <a:r>
              <a:rPr lang="en-US" altLang="ko-KR" sz="1100"/>
              <a:t>private final int sellerId</a:t>
            </a:r>
            <a:br>
              <a:rPr lang="en-US" altLang="ko-KR" sz="1100"/>
            </a:br>
            <a:r>
              <a:rPr lang="en-US" altLang="ko-KR" sz="1100"/>
              <a:t>private final String sellerName</a:t>
            </a:r>
            <a:br>
              <a:rPr lang="en-US" altLang="ko-KR" sz="1100"/>
            </a:br>
            <a:r>
              <a:rPr lang="en-US" altLang="ko-KR" sz="1100"/>
              <a:t>private final int productId</a:t>
            </a:r>
            <a:br>
              <a:rPr lang="en-US" altLang="ko-KR" sz="1100"/>
            </a:br>
            <a:r>
              <a:rPr lang="en-US" altLang="ko-KR" sz="1100"/>
              <a:t>private final String productName</a:t>
            </a:r>
            <a:br>
              <a:rPr lang="en-US" altLang="ko-KR" sz="1100"/>
            </a:br>
            <a:r>
              <a:rPr lang="en-US" altLang="ko-KR" sz="1100"/>
              <a:t>private final long price</a:t>
            </a:r>
            <a:br>
              <a:rPr lang="en-US" altLang="ko-KR" sz="1100"/>
            </a:br>
            <a:r>
              <a:rPr lang="en-US" altLang="ko-KR" sz="1100"/>
              <a:t>private final long salePrice</a:t>
            </a:r>
            <a:br>
              <a:rPr lang="en-US" altLang="ko-KR" sz="1100"/>
            </a:br>
            <a:r>
              <a:rPr lang="en-US" altLang="ko-KR" sz="1100"/>
              <a:t>private final double payoutRate;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MarketApiClient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List&lt;OrderItemDto&gt; getOrderItems(int id)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B324C8-0D84-7A4E-9B27-EF7334F3A48C}"/>
              </a:ext>
            </a:extLst>
          </p:cNvPr>
          <p:cNvSpPr txBox="1"/>
          <p:nvPr/>
        </p:nvSpPr>
        <p:spPr>
          <a:xfrm>
            <a:off x="5467149" y="5062888"/>
            <a:ext cx="5688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★ </a:t>
            </a:r>
            <a:r>
              <a:rPr lang="en-US" altLang="ko-KR" sz="1200"/>
              <a:t>OrderItem</a:t>
            </a:r>
            <a:r>
              <a:rPr lang="ko-KR" altLang="en-US" sz="1200"/>
              <a:t>은 </a:t>
            </a:r>
            <a:r>
              <a:rPr lang="en-US" altLang="ko-KR" sz="1200"/>
              <a:t>Order</a:t>
            </a:r>
            <a:r>
              <a:rPr lang="ko-KR" altLang="en-US" sz="1200"/>
              <a:t>로 부터 구매자를 </a:t>
            </a:r>
            <a:r>
              <a:rPr lang="en-US" altLang="ko-KR" sz="1200"/>
              <a:t>Product</a:t>
            </a:r>
            <a:r>
              <a:rPr lang="ko-KR" altLang="en-US" sz="1200"/>
              <a:t>로 부터 판매자정보와 판매가 할인판매가를 가져올 수 있다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481275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F401E-94EB-2E2D-E83A-0BD9A3F7F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43</a:t>
            </a:r>
            <a:r>
              <a:rPr lang="ko-KR" altLang="en-US"/>
              <a:t>강 주요코드 사진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EED7302-1E00-CB1E-7579-D7013575AF87}"/>
              </a:ext>
            </a:extLst>
          </p:cNvPr>
          <p:cNvGrpSpPr/>
          <p:nvPr/>
        </p:nvGrpSpPr>
        <p:grpSpPr>
          <a:xfrm>
            <a:off x="3741484" y="1925719"/>
            <a:ext cx="4024378" cy="3387426"/>
            <a:chOff x="3741484" y="1925719"/>
            <a:chExt cx="4024378" cy="338742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E791F31-1BFD-6AAA-5C71-AD7D5D84E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41484" y="1925719"/>
              <a:ext cx="4024378" cy="3387426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BDA61DB-A718-D43E-C28A-C9618A9AD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1649" y="1925719"/>
              <a:ext cx="1524213" cy="362001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E388165-006A-8AAB-8338-0B76C59524DF}"/>
              </a:ext>
            </a:extLst>
          </p:cNvPr>
          <p:cNvGrpSpPr/>
          <p:nvPr/>
        </p:nvGrpSpPr>
        <p:grpSpPr>
          <a:xfrm>
            <a:off x="7839101" y="1925719"/>
            <a:ext cx="4158048" cy="1924386"/>
            <a:chOff x="7839101" y="1925719"/>
            <a:chExt cx="4158048" cy="1924386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D673A50-4BFB-5CEC-C37F-C102831FD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39101" y="1925719"/>
              <a:ext cx="4158048" cy="1924386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CAEB52B8-E8EA-72C0-9D9A-46F2EB3AA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15725" y="1925719"/>
              <a:ext cx="1781424" cy="247685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33E7794-3B69-A717-9D57-762616C8AB7F}"/>
              </a:ext>
            </a:extLst>
          </p:cNvPr>
          <p:cNvGrpSpPr/>
          <p:nvPr/>
        </p:nvGrpSpPr>
        <p:grpSpPr>
          <a:xfrm>
            <a:off x="194851" y="1859034"/>
            <a:ext cx="3480444" cy="2693716"/>
            <a:chOff x="194851" y="1859034"/>
            <a:chExt cx="3480444" cy="269371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1B770DA-EDBF-4394-46F4-F98B62B51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4851" y="1925720"/>
              <a:ext cx="3480444" cy="2627030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6EBFDED3-9DC7-CA4C-8774-208B921FD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95261" y="1859034"/>
              <a:ext cx="2372984" cy="247685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5130DE0-0F73-792F-9F04-EAF023A087F5}"/>
              </a:ext>
            </a:extLst>
          </p:cNvPr>
          <p:cNvSpPr txBox="1"/>
          <p:nvPr/>
        </p:nvSpPr>
        <p:spPr>
          <a:xfrm>
            <a:off x="317634" y="5447899"/>
            <a:ext cx="11679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/>
              <a:t>Order</a:t>
            </a:r>
            <a:r>
              <a:rPr lang="ko-KR" altLang="en-US" sz="1200"/>
              <a:t>로 부터 결제 완료 후 발생하는 이벤트에서 </a:t>
            </a:r>
            <a:r>
              <a:rPr lang="en-US" altLang="ko-KR" sz="1200"/>
              <a:t>OrderDto</a:t>
            </a:r>
            <a:r>
              <a:rPr lang="ko-KR" altLang="en-US" sz="1200"/>
              <a:t>를 받아왔다</a:t>
            </a:r>
            <a:r>
              <a:rPr lang="en-US" altLang="ko-KR" sz="1200"/>
              <a:t>. (addPayoutCandidateItems</a:t>
            </a:r>
            <a:r>
              <a:rPr lang="ko-KR" altLang="en-US" sz="1200"/>
              <a:t>의 인자</a:t>
            </a:r>
            <a:r>
              <a:rPr lang="en-US" altLang="ko-KR" sz="1200"/>
              <a:t>) </a:t>
            </a:r>
          </a:p>
          <a:p>
            <a:pPr marL="228600" indent="-228600">
              <a:buAutoNum type="arabicPeriod"/>
            </a:pPr>
            <a:r>
              <a:rPr lang="ko-KR" altLang="en-US" sz="1200"/>
              <a:t>정산은 </a:t>
            </a:r>
            <a:r>
              <a:rPr lang="en-US" altLang="ko-KR" sz="1200"/>
              <a:t>OrderItem</a:t>
            </a:r>
            <a:r>
              <a:rPr lang="ko-KR" altLang="en-US" sz="1200"/>
              <a:t>이 기준이되나 </a:t>
            </a:r>
            <a:r>
              <a:rPr lang="en-US" altLang="ko-KR" sz="1200"/>
              <a:t>OrderDto</a:t>
            </a:r>
            <a:r>
              <a:rPr lang="ko-KR" altLang="en-US" sz="1200"/>
              <a:t>에는 </a:t>
            </a:r>
            <a:r>
              <a:rPr lang="en-US" altLang="ko-KR" sz="1200"/>
              <a:t>OrderItem</a:t>
            </a:r>
            <a:r>
              <a:rPr lang="ko-KR" altLang="en-US" sz="1200"/>
              <a:t>에 대한 정보가 없다</a:t>
            </a:r>
            <a:r>
              <a:rPr lang="en-US" altLang="ko-KR" sz="1200"/>
              <a:t>.  </a:t>
            </a:r>
            <a:r>
              <a:rPr lang="en-US" altLang="ko-KR" sz="1200">
                <a:sym typeface="Wingdings" panose="05000000000000000000" pitchFamily="2" charset="2"/>
              </a:rPr>
              <a:t> Payout</a:t>
            </a:r>
            <a:r>
              <a:rPr lang="ko-KR" altLang="en-US" sz="1200">
                <a:sym typeface="Wingdings" panose="05000000000000000000" pitchFamily="2" charset="2"/>
              </a:rPr>
              <a:t>모듈에서 </a:t>
            </a:r>
            <a:r>
              <a:rPr lang="en-US" altLang="ko-KR" sz="1200">
                <a:sym typeface="Wingdings" panose="05000000000000000000" pitchFamily="2" charset="2"/>
              </a:rPr>
              <a:t>Market</a:t>
            </a:r>
            <a:r>
              <a:rPr lang="ko-KR" altLang="en-US" sz="1200">
                <a:sym typeface="Wingdings" panose="05000000000000000000" pitchFamily="2" charset="2"/>
              </a:rPr>
              <a:t>모듈로 </a:t>
            </a:r>
            <a:r>
              <a:rPr lang="en-US" altLang="ko-KR" sz="1200">
                <a:sym typeface="Wingdings" panose="05000000000000000000" pitchFamily="2" charset="2"/>
              </a:rPr>
              <a:t>API </a:t>
            </a:r>
            <a:r>
              <a:rPr lang="ko-KR" altLang="en-US" sz="1200">
                <a:sym typeface="Wingdings" panose="05000000000000000000" pitchFamily="2" charset="2"/>
              </a:rPr>
              <a:t>요청 </a:t>
            </a:r>
            <a:r>
              <a:rPr lang="en-US" altLang="ko-KR" sz="1200">
                <a:sym typeface="Wingdings" panose="05000000000000000000" pitchFamily="2" charset="2"/>
              </a:rPr>
              <a:t>(MarketApiClient)</a:t>
            </a:r>
          </a:p>
          <a:p>
            <a:pPr marL="228600" indent="-228600">
              <a:buAutoNum type="arabicPeriod"/>
            </a:pPr>
            <a:r>
              <a:rPr lang="en-US" altLang="ko-KR" sz="1200">
                <a:sym typeface="Wingdings" panose="05000000000000000000" pitchFamily="2" charset="2"/>
              </a:rPr>
              <a:t>API</a:t>
            </a:r>
            <a:r>
              <a:rPr lang="ko-KR" altLang="en-US" sz="1200">
                <a:sym typeface="Wingdings" panose="05000000000000000000" pitchFamily="2" charset="2"/>
              </a:rPr>
              <a:t>요청에 대한 응답을 주기위해 </a:t>
            </a:r>
            <a:r>
              <a:rPr lang="en-US" altLang="ko-KR" sz="1200">
                <a:sym typeface="Wingdings" panose="05000000000000000000" pitchFamily="2" charset="2"/>
              </a:rPr>
              <a:t>Market</a:t>
            </a:r>
            <a:r>
              <a:rPr lang="ko-KR" altLang="en-US" sz="1200">
                <a:sym typeface="Wingdings" panose="05000000000000000000" pitchFamily="2" charset="2"/>
              </a:rPr>
              <a:t>모듈 내  </a:t>
            </a:r>
            <a:r>
              <a:rPr lang="en-US" altLang="ko-KR" sz="1200">
                <a:sym typeface="Wingdings" panose="05000000000000000000" pitchFamily="2" charset="2"/>
              </a:rPr>
              <a:t>List&lt;OrderItemDto&gt; </a:t>
            </a:r>
            <a:r>
              <a:rPr lang="ko-KR" altLang="en-US" sz="1200">
                <a:sym typeface="Wingdings" panose="05000000000000000000" pitchFamily="2" charset="2"/>
              </a:rPr>
              <a:t>를 반환하는</a:t>
            </a:r>
            <a:r>
              <a:rPr lang="en-US" altLang="ko-KR" sz="1200">
                <a:sym typeface="Wingdings" panose="05000000000000000000" pitchFamily="2" charset="2"/>
              </a:rPr>
              <a:t> Controller </a:t>
            </a:r>
            <a:r>
              <a:rPr lang="ko-KR" altLang="en-US" sz="1200">
                <a:sym typeface="Wingdings" panose="05000000000000000000" pitchFamily="2" charset="2"/>
              </a:rPr>
              <a:t>메소드를 정의한다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  <a:p>
            <a:pPr marL="228600" indent="-228600">
              <a:buAutoNum type="arabicPeriod"/>
            </a:pPr>
            <a:r>
              <a:rPr lang="en-US" altLang="ko-KR" sz="1200">
                <a:sym typeface="Wingdings" panose="05000000000000000000" pitchFamily="2" charset="2"/>
              </a:rPr>
              <a:t>OrderItem </a:t>
            </a:r>
            <a:r>
              <a:rPr lang="ko-KR" altLang="en-US" sz="1200">
                <a:sym typeface="Wingdings" panose="05000000000000000000" pitchFamily="2" charset="2"/>
              </a:rPr>
              <a:t>은 특성상 </a:t>
            </a:r>
            <a:r>
              <a:rPr lang="en-US" altLang="ko-KR" sz="1200">
                <a:sym typeface="Wingdings" panose="05000000000000000000" pitchFamily="2" charset="2"/>
              </a:rPr>
              <a:t>Order</a:t>
            </a:r>
            <a:r>
              <a:rPr lang="ko-KR" altLang="en-US" sz="1200">
                <a:sym typeface="Wingdings" panose="05000000000000000000" pitchFamily="2" charset="2"/>
              </a:rPr>
              <a:t>로부터 </a:t>
            </a:r>
            <a:r>
              <a:rPr lang="en-US" altLang="ko-KR" sz="1200">
                <a:sym typeface="Wingdings" panose="05000000000000000000" pitchFamily="2" charset="2"/>
              </a:rPr>
              <a:t>Buyer </a:t>
            </a:r>
            <a:r>
              <a:rPr lang="ko-KR" altLang="en-US" sz="1200">
                <a:sym typeface="Wingdings" panose="05000000000000000000" pitchFamily="2" charset="2"/>
              </a:rPr>
              <a:t>정보를 </a:t>
            </a:r>
            <a:r>
              <a:rPr lang="en-US" altLang="ko-KR" sz="1200">
                <a:sym typeface="Wingdings" panose="05000000000000000000" pitchFamily="2" charset="2"/>
              </a:rPr>
              <a:t>Product</a:t>
            </a:r>
            <a:r>
              <a:rPr lang="ko-KR" altLang="en-US" sz="1200">
                <a:sym typeface="Wingdings" panose="05000000000000000000" pitchFamily="2" charset="2"/>
              </a:rPr>
              <a:t>로 부터 </a:t>
            </a:r>
            <a:r>
              <a:rPr lang="en-US" altLang="ko-KR" sz="1200">
                <a:sym typeface="Wingdings" panose="05000000000000000000" pitchFamily="2" charset="2"/>
              </a:rPr>
              <a:t>Saller </a:t>
            </a:r>
            <a:r>
              <a:rPr lang="ko-KR" altLang="en-US" sz="1200">
                <a:sym typeface="Wingdings" panose="05000000000000000000" pitchFamily="2" charset="2"/>
              </a:rPr>
              <a:t>정보를 알 수 있으며</a:t>
            </a:r>
            <a:r>
              <a:rPr lang="en-US" altLang="ko-KR" sz="1200">
                <a:sym typeface="Wingdings" panose="05000000000000000000" pitchFamily="2" charset="2"/>
              </a:rPr>
              <a:t>, </a:t>
            </a:r>
            <a:r>
              <a:rPr lang="ko-KR" altLang="en-US" sz="1200">
                <a:sym typeface="Wingdings" panose="05000000000000000000" pitchFamily="2" charset="2"/>
              </a:rPr>
              <a:t>판매당시 할인 판매가와 판매당시 물품의 정가를 가지고 있다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OrderItem</a:t>
            </a:r>
            <a:r>
              <a:rPr lang="ko-KR" altLang="en-US" sz="1200">
                <a:sym typeface="Wingdings" panose="05000000000000000000" pitchFamily="2" charset="2"/>
              </a:rPr>
              <a:t>은 </a:t>
            </a:r>
            <a:r>
              <a:rPr lang="en-US" altLang="ko-KR" sz="1200">
                <a:sym typeface="Wingdings" panose="05000000000000000000" pitchFamily="2" charset="2"/>
              </a:rPr>
              <a:t>Dto</a:t>
            </a:r>
            <a:r>
              <a:rPr lang="ko-KR" altLang="en-US" sz="1200">
                <a:sym typeface="Wingdings" panose="05000000000000000000" pitchFamily="2" charset="2"/>
              </a:rPr>
              <a:t>로 변환되어 반환된다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</a:p>
          <a:p>
            <a:pPr marL="228600" indent="-228600">
              <a:buAutoNum type="arabicPeriod"/>
            </a:pP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92951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64D503-DFBA-5E48-BD61-592461BF8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44</a:t>
            </a:r>
            <a:r>
              <a:rPr lang="ko-KR" altLang="en-US" sz="3200"/>
              <a:t>강 </a:t>
            </a:r>
            <a:r>
              <a:rPr lang="en-US" altLang="ko-KR" sz="3200"/>
              <a:t>OrderItemDto</a:t>
            </a:r>
            <a:r>
              <a:rPr lang="ko-KR" altLang="en-US" sz="3200"/>
              <a:t>로 부터 </a:t>
            </a:r>
            <a:r>
              <a:rPr lang="en-US" altLang="ko-KR" sz="3200"/>
              <a:t>PayoutCandidateItem </a:t>
            </a:r>
            <a:r>
              <a:rPr lang="ko-KR" altLang="en-US" sz="3200"/>
              <a:t>생성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B0EEC8-CEB7-FD90-86FC-04F95F995023}"/>
              </a:ext>
            </a:extLst>
          </p:cNvPr>
          <p:cNvSpPr txBox="1"/>
          <p:nvPr/>
        </p:nvSpPr>
        <p:spPr>
          <a:xfrm>
            <a:off x="1194318" y="1810139"/>
            <a:ext cx="99613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</a:t>
            </a:r>
            <a:r>
              <a:rPr lang="ko-KR" altLang="en-US" sz="1200"/>
              <a:t>주문완료된 주문 품목별로 </a:t>
            </a:r>
            <a:r>
              <a:rPr lang="en-US" altLang="ko-KR" sz="1200"/>
              <a:t>PayoutCandidateItem(</a:t>
            </a:r>
            <a:r>
              <a:rPr lang="ko-KR" altLang="en-US" sz="1200"/>
              <a:t>정산 후보 아이템</a:t>
            </a:r>
            <a:r>
              <a:rPr lang="en-US" altLang="ko-KR" sz="1200"/>
              <a:t>)</a:t>
            </a:r>
            <a:r>
              <a:rPr lang="ko-KR" altLang="en-US" sz="1200"/>
              <a:t>을 생성한다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 </a:t>
            </a:r>
            <a:r>
              <a:rPr lang="ko-KR" altLang="en-US" sz="1200"/>
              <a:t>정산 후보 아이템을 생성하는 이유는 </a:t>
            </a:r>
            <a:r>
              <a:rPr lang="en-US" altLang="ko-KR" sz="1200"/>
              <a:t>market</a:t>
            </a:r>
            <a:r>
              <a:rPr lang="ko-KR" altLang="en-US" sz="1200"/>
              <a:t>의 정책상 결재완료일로 부터 </a:t>
            </a:r>
            <a:r>
              <a:rPr lang="en-US" altLang="ko-KR" sz="1200"/>
              <a:t>14</a:t>
            </a:r>
            <a:r>
              <a:rPr lang="ko-KR" altLang="en-US" sz="1200"/>
              <a:t>일 이상된 품목들만 정산이 이루어지기 때문에</a:t>
            </a:r>
            <a:r>
              <a:rPr lang="en-US" altLang="ko-KR" sz="1200"/>
              <a:t>,</a:t>
            </a:r>
            <a:br>
              <a:rPr lang="en-US" altLang="ko-KR" sz="1200"/>
            </a:br>
            <a:r>
              <a:rPr lang="en-US" altLang="ko-KR" sz="1200"/>
              <a:t>	</a:t>
            </a:r>
            <a:r>
              <a:rPr lang="ko-KR" altLang="en-US" sz="1200"/>
              <a:t>정산 예정인 아이템을 만드는것이다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	</a:t>
            </a:r>
            <a:r>
              <a:rPr lang="ko-KR" altLang="en-US" sz="1200"/>
              <a:t>또한 정산은 </a:t>
            </a:r>
            <a:r>
              <a:rPr lang="en-US" altLang="ko-KR" sz="1200"/>
              <a:t>market </a:t>
            </a:r>
            <a:r>
              <a:rPr lang="ko-KR" altLang="en-US" sz="1200"/>
              <a:t>정책에의해  판매 수수료</a:t>
            </a:r>
            <a:r>
              <a:rPr lang="en-US" altLang="ko-KR" sz="1200"/>
              <a:t>(system</a:t>
            </a:r>
            <a:r>
              <a:rPr lang="ko-KR" altLang="en-US" sz="1200"/>
              <a:t>계좌</a:t>
            </a:r>
            <a:r>
              <a:rPr lang="en-US" altLang="ko-KR" sz="1200"/>
              <a:t>)</a:t>
            </a:r>
            <a:r>
              <a:rPr lang="ko-KR" altLang="en-US" sz="1200"/>
              <a:t>와 판매 대금</a:t>
            </a:r>
            <a:r>
              <a:rPr lang="en-US" altLang="ko-KR" sz="1200"/>
              <a:t>(saller</a:t>
            </a:r>
            <a:r>
              <a:rPr lang="ko-KR" altLang="en-US" sz="1200"/>
              <a:t>계좌</a:t>
            </a:r>
            <a:r>
              <a:rPr lang="en-US" altLang="ko-KR" sz="1200"/>
              <a:t>)</a:t>
            </a:r>
            <a:r>
              <a:rPr lang="ko-KR" altLang="en-US" sz="1200"/>
              <a:t>으로 나뉘어져 </a:t>
            </a:r>
            <a:r>
              <a:rPr lang="en-US" altLang="ko-KR" sz="1200"/>
              <a:t>orderItem </a:t>
            </a:r>
            <a:r>
              <a:rPr lang="ko-KR" altLang="en-US" sz="1200"/>
              <a:t>하나당 </a:t>
            </a:r>
            <a:r>
              <a:rPr lang="en-US" altLang="ko-KR" sz="1200"/>
              <a:t>2</a:t>
            </a:r>
            <a:r>
              <a:rPr lang="ko-KR" altLang="en-US" sz="1200"/>
              <a:t>개의 정산 후보가 생성된다</a:t>
            </a:r>
            <a:r>
              <a:rPr lang="en-US" altLang="ko-KR" sz="120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4E2D5-34FF-28CC-973C-049538A88550}"/>
              </a:ext>
            </a:extLst>
          </p:cNvPr>
          <p:cNvSpPr txBox="1"/>
          <p:nvPr/>
        </p:nvSpPr>
        <p:spPr>
          <a:xfrm>
            <a:off x="5409398" y="2713915"/>
            <a:ext cx="4331160" cy="4331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수정 파일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MarketPolicy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static long calculatePayoutFee(long salePrice, double payoutRate)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static long calculateSalePriceWithoutFee(long salePrice, double payoutRate)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OrderItem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long getPayoutFee()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long getSalePriceWithoutFee()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PayoutAddPayoutCandidateItemsUseCase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 private void makePayoutCandidateItems(            </a:t>
            </a:r>
            <a:br>
              <a:rPr lang="en-US" altLang="ko-KR" sz="1100"/>
            </a:br>
            <a:r>
              <a:rPr lang="en-US" altLang="ko-KR" sz="1100"/>
              <a:t>	OrderDto order, OrderItemDto orderItem    </a:t>
            </a:r>
          </a:p>
          <a:p>
            <a:pPr lvl="1"/>
            <a:r>
              <a:rPr lang="en-US" altLang="ko-KR" sz="1100"/>
              <a:t>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private void makePayoutCandidateItem(            </a:t>
            </a:r>
            <a:br>
              <a:rPr lang="en-US" altLang="ko-KR" sz="1100"/>
            </a:br>
            <a:r>
              <a:rPr lang="en-US" altLang="ko-KR" sz="1100"/>
              <a:t>	PayoutEventType eventType,            </a:t>
            </a:r>
            <a:br>
              <a:rPr lang="en-US" altLang="ko-KR" sz="1100"/>
            </a:br>
            <a:r>
              <a:rPr lang="en-US" altLang="ko-KR" sz="1100"/>
              <a:t>	String relTypeCode,            </a:t>
            </a:r>
            <a:br>
              <a:rPr lang="en-US" altLang="ko-KR" sz="1100"/>
            </a:br>
            <a:r>
              <a:rPr lang="en-US" altLang="ko-KR" sz="1100"/>
              <a:t>	int relId,            </a:t>
            </a:r>
            <a:br>
              <a:rPr lang="en-US" altLang="ko-KR" sz="1100"/>
            </a:br>
            <a:r>
              <a:rPr lang="en-US" altLang="ko-KR" sz="1100"/>
              <a:t>	LocalDateTime paymentDate,            </a:t>
            </a:r>
            <a:br>
              <a:rPr lang="en-US" altLang="ko-KR" sz="1100"/>
            </a:br>
            <a:r>
              <a:rPr lang="en-US" altLang="ko-KR" sz="1100"/>
              <a:t>	PayoutMember payer,            </a:t>
            </a:r>
            <a:br>
              <a:rPr lang="en-US" altLang="ko-KR" sz="1100"/>
            </a:br>
            <a:r>
              <a:rPr lang="en-US" altLang="ko-KR" sz="1100"/>
              <a:t>	PayoutMember payee,            </a:t>
            </a:r>
            <a:br>
              <a:rPr lang="en-US" altLang="ko-KR" sz="1100"/>
            </a:br>
            <a:r>
              <a:rPr lang="en-US" altLang="ko-KR" sz="1100"/>
              <a:t>	long amount    </a:t>
            </a:r>
            <a:br>
              <a:rPr lang="en-US" altLang="ko-KR" sz="1100"/>
            </a:br>
            <a:r>
              <a:rPr lang="en-US" altLang="ko-KR" sz="1100"/>
              <a:t>)</a:t>
            </a:r>
          </a:p>
          <a:p>
            <a:pPr marL="628650" lvl="1" indent="-171450">
              <a:buFontTx/>
              <a:buChar char="-"/>
            </a:pPr>
            <a:endParaRPr lang="en-US" altLang="ko-KR" sz="1100"/>
          </a:p>
          <a:p>
            <a:pPr lvl="1"/>
            <a:endParaRPr lang="en-US" altLang="ko-KR" sz="1100"/>
          </a:p>
          <a:p>
            <a:pPr lvl="1"/>
            <a:endParaRPr lang="en-US" altLang="ko-KR" sz="10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EF26E-6F46-D369-0F0A-1E96269805F5}"/>
              </a:ext>
            </a:extLst>
          </p:cNvPr>
          <p:cNvSpPr txBox="1"/>
          <p:nvPr/>
        </p:nvSpPr>
        <p:spPr>
          <a:xfrm>
            <a:off x="1097280" y="2713915"/>
            <a:ext cx="470492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생성 파일</a:t>
            </a:r>
            <a:endParaRPr lang="en-US" altLang="ko-KR" sz="1200" b="1"/>
          </a:p>
          <a:p>
            <a:pPr marL="171450" indent="-171450">
              <a:buFontTx/>
              <a:buChar char="-"/>
            </a:pPr>
            <a:r>
              <a:rPr lang="en-US" altLang="ko-KR" sz="1100"/>
              <a:t>PayoutSupport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Optional&lt;PayoutMember&gt; findSystemMember()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Optional&lt;PayoutMember&gt; findMemberById(int id)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PayoutCandidateItem</a:t>
            </a:r>
          </a:p>
          <a:p>
            <a:pPr marL="628650" lvl="1" indent="-171450">
              <a:buFontTx/>
              <a:buChar char="-"/>
            </a:pP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/>
              <a:t>PayoutCandidateItemRepository</a:t>
            </a:r>
            <a:endParaRPr lang="en-US" altLang="ko-KR" sz="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1491E1-2541-ABE9-188A-8C07ED76F92B}"/>
              </a:ext>
            </a:extLst>
          </p:cNvPr>
          <p:cNvSpPr txBox="1"/>
          <p:nvPr/>
        </p:nvSpPr>
        <p:spPr>
          <a:xfrm>
            <a:off x="900875" y="4222020"/>
            <a:ext cx="4704928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/>
              <a:t>★ </a:t>
            </a:r>
            <a:r>
              <a:rPr lang="en-US" altLang="ko-KR" sz="1600" b="1"/>
              <a:t>PayoutCandidateItem </a:t>
            </a:r>
            <a:r>
              <a:rPr lang="ko-KR" altLang="en-US" sz="1600" b="1"/>
              <a:t>정보 </a:t>
            </a:r>
            <a:r>
              <a:rPr lang="en-US" altLang="ko-KR" sz="1600" b="1"/>
              <a:t>(BaseIdAndTime)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PayoutEventType eventType; 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String relTypeCode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LocalDateTime paymentDate;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PayoutMember payer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PayoutMember payee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long amount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PayoutItem payoutItem</a:t>
            </a:r>
          </a:p>
          <a:p>
            <a:pPr marL="171450" indent="-171450">
              <a:buFontTx/>
              <a:buChar char="-"/>
            </a:pPr>
            <a:endParaRPr lang="en-US" altLang="ko-KR" sz="1200"/>
          </a:p>
          <a:p>
            <a:r>
              <a:rPr lang="ko-KR" altLang="en-US" sz="1600" b="1"/>
              <a:t>★ </a:t>
            </a:r>
            <a:r>
              <a:rPr lang="en-US" altLang="ko-KR" sz="1600" b="1"/>
              <a:t>OrderItemDto </a:t>
            </a:r>
            <a:r>
              <a:rPr lang="ko-KR" altLang="en-US" sz="1600" b="1"/>
              <a:t>정보 변경</a:t>
            </a:r>
            <a:endParaRPr lang="en-US" altLang="ko-KR" sz="1600" b="1"/>
          </a:p>
          <a:p>
            <a:pPr marL="171450" indent="-171450">
              <a:buFontTx/>
              <a:buChar char="-"/>
            </a:pPr>
            <a:r>
              <a:rPr lang="en-US" altLang="ko-KR" sz="1200"/>
              <a:t>private final long payoutFee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private final long salePriceWithoutFee;</a:t>
            </a:r>
          </a:p>
          <a:p>
            <a:pPr marL="171450" indent="-171450">
              <a:buFontTx/>
              <a:buChar char="-"/>
            </a:pPr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959178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05E211A3-B2E3-7629-62CD-C7A6FE660C0D}"/>
              </a:ext>
            </a:extLst>
          </p:cNvPr>
          <p:cNvGrpSpPr/>
          <p:nvPr/>
        </p:nvGrpSpPr>
        <p:grpSpPr>
          <a:xfrm>
            <a:off x="6625135" y="1915428"/>
            <a:ext cx="4734586" cy="4620270"/>
            <a:chOff x="6625135" y="1915428"/>
            <a:chExt cx="4734586" cy="462027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B6913E3-A3B1-792A-42FA-DD1EF4040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5135" y="1915428"/>
              <a:ext cx="4734586" cy="4620270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08CDC4D-2C30-3C67-1E7F-FE8902EAF79D}"/>
                </a:ext>
              </a:extLst>
            </p:cNvPr>
            <p:cNvSpPr/>
            <p:nvPr/>
          </p:nvSpPr>
          <p:spPr>
            <a:xfrm>
              <a:off x="6920564" y="5293895"/>
              <a:ext cx="3166712" cy="50051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670858E6-F124-A307-A7D7-0FDEA5087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44</a:t>
            </a:r>
            <a:r>
              <a:rPr lang="ko-KR" altLang="en-US"/>
              <a:t>강 주요 코드 사진</a:t>
            </a:r>
            <a:r>
              <a:rPr lang="en-US" altLang="ko-KR"/>
              <a:t>-1</a:t>
            </a:r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1C64806-7F89-82E9-B9B0-B775C3C6071E}"/>
              </a:ext>
            </a:extLst>
          </p:cNvPr>
          <p:cNvGrpSpPr/>
          <p:nvPr/>
        </p:nvGrpSpPr>
        <p:grpSpPr>
          <a:xfrm>
            <a:off x="354224" y="1915428"/>
            <a:ext cx="6063314" cy="4803006"/>
            <a:chOff x="354224" y="1915428"/>
            <a:chExt cx="6063314" cy="480300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88D54B0-05DE-B5E7-CA34-9F8654225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4224" y="1915428"/>
              <a:ext cx="6063314" cy="4803006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8028769-2E22-206A-E638-AFDA706DD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87014" y="1915428"/>
              <a:ext cx="1247949" cy="400106"/>
            </a:xfrm>
            <a:prstGeom prst="rect">
              <a:avLst/>
            </a:prstGeom>
          </p:spPr>
        </p:pic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2F193582-E646-4F1C-431B-0F79EAE7D7A0}"/>
              </a:ext>
            </a:extLst>
          </p:cNvPr>
          <p:cNvSpPr/>
          <p:nvPr/>
        </p:nvSpPr>
        <p:spPr>
          <a:xfrm>
            <a:off x="4360244" y="2493602"/>
            <a:ext cx="3166712" cy="1771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</a:rPr>
              <a:t>OrderItem </a:t>
            </a:r>
            <a:r>
              <a:rPr lang="ko-KR" altLang="en-US" sz="1200">
                <a:solidFill>
                  <a:schemeClr val="tx1"/>
                </a:solidFill>
              </a:rPr>
              <a:t>은 </a:t>
            </a:r>
            <a:r>
              <a:rPr lang="en-US" altLang="ko-KR" sz="1200">
                <a:solidFill>
                  <a:schemeClr val="tx1"/>
                </a:solidFill>
              </a:rPr>
              <a:t>Market </a:t>
            </a:r>
            <a:r>
              <a:rPr lang="ko-KR" altLang="en-US" sz="1200">
                <a:solidFill>
                  <a:schemeClr val="tx1"/>
                </a:solidFill>
              </a:rPr>
              <a:t>모듈 내 있고</a:t>
            </a:r>
            <a:r>
              <a:rPr lang="en-US" altLang="ko-KR" sz="1200">
                <a:solidFill>
                  <a:schemeClr val="tx1"/>
                </a:solidFill>
              </a:rPr>
              <a:t>,</a:t>
            </a:r>
            <a:br>
              <a:rPr lang="en-US" altLang="ko-KR" sz="1200">
                <a:solidFill>
                  <a:schemeClr val="tx1"/>
                </a:solidFill>
              </a:rPr>
            </a:br>
            <a:r>
              <a:rPr lang="ko-KR" altLang="en-US" sz="1200">
                <a:solidFill>
                  <a:schemeClr val="tx1"/>
                </a:solidFill>
              </a:rPr>
              <a:t>품목의 판매가격정보를 가지고 있음으로 </a:t>
            </a:r>
            <a:br>
              <a:rPr lang="en-US" altLang="ko-KR" sz="1200">
                <a:solidFill>
                  <a:schemeClr val="tx1"/>
                </a:solidFill>
              </a:rPr>
            </a:br>
            <a:r>
              <a:rPr lang="en-US" altLang="ko-KR" sz="1200">
                <a:solidFill>
                  <a:schemeClr val="tx1"/>
                </a:solidFill>
              </a:rPr>
              <a:t>MarketPolicy </a:t>
            </a:r>
            <a:r>
              <a:rPr lang="ko-KR" altLang="en-US" sz="1200">
                <a:solidFill>
                  <a:schemeClr val="tx1"/>
                </a:solidFill>
              </a:rPr>
              <a:t>정책 </a:t>
            </a:r>
            <a:r>
              <a:rPr lang="en-US" altLang="ko-KR" sz="1200">
                <a:solidFill>
                  <a:schemeClr val="tx1"/>
                </a:solidFill>
              </a:rPr>
              <a:t>(10% </a:t>
            </a:r>
            <a:r>
              <a:rPr lang="ko-KR" altLang="en-US" sz="1200">
                <a:solidFill>
                  <a:schemeClr val="tx1"/>
                </a:solidFill>
              </a:rPr>
              <a:t>의 판매수수료</a:t>
            </a:r>
            <a:r>
              <a:rPr lang="en-US" altLang="ko-KR" sz="1200">
                <a:solidFill>
                  <a:schemeClr val="tx1"/>
                </a:solidFill>
              </a:rPr>
              <a:t>) </a:t>
            </a:r>
            <a:r>
              <a:rPr lang="ko-KR" altLang="en-US" sz="1200">
                <a:solidFill>
                  <a:schemeClr val="tx1"/>
                </a:solidFill>
              </a:rPr>
              <a:t>을 통한 판매수수료 제외 계산 메서드와 </a:t>
            </a:r>
            <a:br>
              <a:rPr lang="en-US" altLang="ko-KR" sz="1200">
                <a:solidFill>
                  <a:schemeClr val="tx1"/>
                </a:solidFill>
              </a:rPr>
            </a:br>
            <a:r>
              <a:rPr lang="ko-KR" altLang="en-US" sz="1200">
                <a:solidFill>
                  <a:schemeClr val="tx1"/>
                </a:solidFill>
              </a:rPr>
              <a:t>판매수수료에 해당하는 메소드를 정의하며</a:t>
            </a:r>
            <a:r>
              <a:rPr lang="en-US" altLang="ko-KR" sz="1200">
                <a:solidFill>
                  <a:schemeClr val="tx1"/>
                </a:solidFill>
              </a:rPr>
              <a:t>, </a:t>
            </a:r>
            <a:r>
              <a:rPr lang="ko-KR" altLang="en-US" sz="1200">
                <a:solidFill>
                  <a:schemeClr val="tx1"/>
                </a:solidFill>
              </a:rPr>
              <a:t>이를 </a:t>
            </a:r>
            <a:r>
              <a:rPr lang="en-US" altLang="ko-KR" sz="1200">
                <a:solidFill>
                  <a:schemeClr val="tx1"/>
                </a:solidFill>
              </a:rPr>
              <a:t>OrderItemDto </a:t>
            </a:r>
            <a:r>
              <a:rPr lang="ko-KR" altLang="en-US" sz="1200">
                <a:solidFill>
                  <a:schemeClr val="tx1"/>
                </a:solidFill>
              </a:rPr>
              <a:t>정보에 추가할 수 있다</a:t>
            </a:r>
            <a:r>
              <a:rPr lang="en-US" altLang="ko-KR" sz="1200">
                <a:solidFill>
                  <a:schemeClr val="tx1"/>
                </a:solidFill>
              </a:rPr>
              <a:t>.</a:t>
            </a:r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121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78E8C-7581-2D4B-AF56-8189F2994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44</a:t>
            </a:r>
            <a:r>
              <a:rPr lang="ko-KR" altLang="en-US"/>
              <a:t>강 주요 코드 사진</a:t>
            </a:r>
            <a:r>
              <a:rPr lang="en-US" altLang="ko-KR"/>
              <a:t>-2</a:t>
            </a:r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D1826B6-1ADE-FEEA-15AB-D15ED51767C6}"/>
              </a:ext>
            </a:extLst>
          </p:cNvPr>
          <p:cNvGrpSpPr/>
          <p:nvPr/>
        </p:nvGrpSpPr>
        <p:grpSpPr>
          <a:xfrm>
            <a:off x="808153" y="1737361"/>
            <a:ext cx="4639746" cy="5000324"/>
            <a:chOff x="808153" y="1895261"/>
            <a:chExt cx="4890004" cy="529110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8E5B43A-C9D9-E730-20AD-198638F2F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8153" y="1895261"/>
              <a:ext cx="4890004" cy="2230285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5633294-7130-F4A8-223E-2DF378DA3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8153" y="4125546"/>
              <a:ext cx="2578640" cy="3060824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FC15354D-5295-0A87-1294-308B7E106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155" y="1737360"/>
            <a:ext cx="4696218" cy="359503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6CE6584-1F96-0A69-58BC-5FAB24D01A42}"/>
              </a:ext>
            </a:extLst>
          </p:cNvPr>
          <p:cNvSpPr/>
          <p:nvPr/>
        </p:nvSpPr>
        <p:spPr>
          <a:xfrm>
            <a:off x="3705726" y="5457524"/>
            <a:ext cx="8239226" cy="12801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OrderItemDto</a:t>
            </a:r>
            <a:r>
              <a:rPr lang="ko-KR" altLang="en-US" sz="1100">
                <a:solidFill>
                  <a:schemeClr val="tx1"/>
                </a:solidFill>
              </a:rPr>
              <a:t>와 </a:t>
            </a:r>
            <a:r>
              <a:rPr lang="en-US" altLang="ko-KR" sz="1100">
                <a:solidFill>
                  <a:schemeClr val="tx1"/>
                </a:solidFill>
              </a:rPr>
              <a:t>OrderDto </a:t>
            </a:r>
            <a:r>
              <a:rPr lang="ko-KR" altLang="en-US" sz="1100">
                <a:solidFill>
                  <a:schemeClr val="tx1"/>
                </a:solidFill>
              </a:rPr>
              <a:t>정보를 이용하여</a:t>
            </a:r>
            <a:r>
              <a:rPr lang="en-US" altLang="ko-KR" sz="1100">
                <a:solidFill>
                  <a:schemeClr val="tx1"/>
                </a:solidFill>
              </a:rPr>
              <a:t>, PayoutCandidateItem </a:t>
            </a:r>
            <a:r>
              <a:rPr lang="ko-KR" altLang="en-US" sz="1100">
                <a:solidFill>
                  <a:schemeClr val="tx1"/>
                </a:solidFill>
              </a:rPr>
              <a:t>을 생성한다</a:t>
            </a:r>
            <a:r>
              <a:rPr lang="en-US" altLang="ko-KR" sz="1100">
                <a:solidFill>
                  <a:schemeClr val="tx1"/>
                </a:solidFill>
              </a:rPr>
              <a:t>.</a:t>
            </a:r>
            <a:br>
              <a:rPr lang="en-US" altLang="ko-KR" sz="1100">
                <a:solidFill>
                  <a:schemeClr val="tx1"/>
                </a:solidFill>
              </a:rPr>
            </a:br>
            <a:r>
              <a:rPr lang="ko-KR" altLang="en-US" sz="1100">
                <a:solidFill>
                  <a:schemeClr val="tx1"/>
                </a:solidFill>
              </a:rPr>
              <a:t>이때</a:t>
            </a:r>
            <a:r>
              <a:rPr lang="en-US" altLang="ko-KR" sz="1100">
                <a:solidFill>
                  <a:schemeClr val="tx1"/>
                </a:solidFill>
              </a:rPr>
              <a:t>, </a:t>
            </a:r>
            <a:r>
              <a:rPr lang="ko-KR" altLang="en-US" sz="1100">
                <a:solidFill>
                  <a:schemeClr val="tx1"/>
                </a:solidFill>
              </a:rPr>
              <a:t>정산후보아이템을 </a:t>
            </a:r>
            <a:r>
              <a:rPr lang="en-US" altLang="ko-KR" sz="1100">
                <a:solidFill>
                  <a:schemeClr val="tx1"/>
                </a:solidFill>
              </a:rPr>
              <a:t>[</a:t>
            </a:r>
            <a:r>
              <a:rPr lang="ko-KR" altLang="en-US" sz="1100">
                <a:solidFill>
                  <a:schemeClr val="tx1"/>
                </a:solidFill>
              </a:rPr>
              <a:t>구매자 </a:t>
            </a:r>
            <a:r>
              <a:rPr lang="en-US" altLang="ko-KR" sz="1100">
                <a:solidFill>
                  <a:schemeClr val="tx1"/>
                </a:solidFill>
              </a:rPr>
              <a:t>-&gt; </a:t>
            </a:r>
            <a:r>
              <a:rPr lang="ko-KR" altLang="en-US" sz="1100">
                <a:solidFill>
                  <a:schemeClr val="tx1"/>
                </a:solidFill>
              </a:rPr>
              <a:t>시스템</a:t>
            </a:r>
            <a:r>
              <a:rPr lang="en-US" altLang="ko-KR" sz="1100">
                <a:solidFill>
                  <a:schemeClr val="tx1"/>
                </a:solidFill>
              </a:rPr>
              <a:t>(10%)</a:t>
            </a:r>
            <a:r>
              <a:rPr lang="ko-KR" altLang="en-US" sz="1100">
                <a:solidFill>
                  <a:schemeClr val="tx1"/>
                </a:solidFill>
              </a:rPr>
              <a:t> </a:t>
            </a:r>
            <a:r>
              <a:rPr lang="en-US" altLang="ko-KR" sz="1100">
                <a:solidFill>
                  <a:schemeClr val="tx1"/>
                </a:solidFill>
              </a:rPr>
              <a:t>/ </a:t>
            </a:r>
            <a:r>
              <a:rPr lang="ko-KR" altLang="en-US" sz="1100">
                <a:solidFill>
                  <a:schemeClr val="tx1"/>
                </a:solidFill>
              </a:rPr>
              <a:t>구매자 </a:t>
            </a:r>
            <a:r>
              <a:rPr lang="en-US" altLang="ko-KR" sz="1100">
                <a:solidFill>
                  <a:schemeClr val="tx1"/>
                </a:solidFill>
              </a:rPr>
              <a:t>-&gt; </a:t>
            </a:r>
            <a:r>
              <a:rPr lang="ko-KR" altLang="en-US" sz="1100">
                <a:solidFill>
                  <a:schemeClr val="tx1"/>
                </a:solidFill>
              </a:rPr>
              <a:t>판매자</a:t>
            </a:r>
            <a:r>
              <a:rPr lang="en-US" altLang="ko-KR" sz="1100">
                <a:solidFill>
                  <a:schemeClr val="tx1"/>
                </a:solidFill>
              </a:rPr>
              <a:t>(90%)] </a:t>
            </a:r>
            <a:r>
              <a:rPr lang="ko-KR" altLang="en-US" sz="1100">
                <a:solidFill>
                  <a:schemeClr val="tx1"/>
                </a:solidFill>
              </a:rPr>
              <a:t>에 해당하는 정보를 생성해야함으로</a:t>
            </a:r>
            <a:r>
              <a:rPr lang="en-US" altLang="ko-KR" sz="1100">
                <a:solidFill>
                  <a:schemeClr val="tx1"/>
                </a:solidFill>
              </a:rPr>
              <a:t>,</a:t>
            </a:r>
            <a:br>
              <a:rPr lang="en-US" altLang="ko-KR" sz="1100">
                <a:solidFill>
                  <a:schemeClr val="tx1"/>
                </a:solidFill>
              </a:rPr>
            </a:br>
            <a:r>
              <a:rPr lang="ko-KR" altLang="en-US" sz="1100">
                <a:solidFill>
                  <a:schemeClr val="tx1"/>
                </a:solidFill>
              </a:rPr>
              <a:t>정산 후보 아이템이 </a:t>
            </a:r>
            <a:r>
              <a:rPr lang="en-US" altLang="ko-KR" sz="1100">
                <a:solidFill>
                  <a:schemeClr val="tx1"/>
                </a:solidFill>
              </a:rPr>
              <a:t>2</a:t>
            </a:r>
            <a:r>
              <a:rPr lang="ko-KR" altLang="en-US" sz="1100">
                <a:solidFill>
                  <a:schemeClr val="tx1"/>
                </a:solidFill>
              </a:rPr>
              <a:t>개가 만들어지도록 코드를 작성한다</a:t>
            </a:r>
            <a:r>
              <a:rPr lang="en-US" altLang="ko-KR" sz="1100">
                <a:solidFill>
                  <a:schemeClr val="tx1"/>
                </a:solidFill>
              </a:rPr>
              <a:t>.</a:t>
            </a:r>
            <a:endParaRPr lang="ko-KR" altLang="en-US" sz="1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387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5D484-28DA-A472-EB28-A314262CA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45</a:t>
            </a:r>
            <a:r>
              <a:rPr lang="ko-KR" altLang="en-US" sz="3600"/>
              <a:t>강 </a:t>
            </a:r>
            <a:r>
              <a:rPr lang="en-US" altLang="ko-KR" sz="3600">
                <a:solidFill>
                  <a:schemeClr val="tx1"/>
                </a:solidFill>
              </a:rPr>
              <a:t>PayoutCandidateItem </a:t>
            </a:r>
            <a:r>
              <a:rPr lang="ko-KR" altLang="en-US" sz="3600">
                <a:solidFill>
                  <a:schemeClr val="tx1"/>
                </a:solidFill>
              </a:rPr>
              <a:t>을 모으기</a:t>
            </a:r>
            <a:endParaRPr lang="ko-KR" altLang="en-US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0A9448-13A2-6FAA-EE73-ADB98F747DC4}"/>
              </a:ext>
            </a:extLst>
          </p:cNvPr>
          <p:cNvSpPr txBox="1"/>
          <p:nvPr/>
        </p:nvSpPr>
        <p:spPr>
          <a:xfrm>
            <a:off x="1194318" y="1810139"/>
            <a:ext cx="99613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</a:t>
            </a:r>
            <a:r>
              <a:rPr lang="ko-KR" altLang="en-US" sz="1200"/>
              <a:t>저장된 </a:t>
            </a:r>
            <a:r>
              <a:rPr lang="en-US" altLang="ko-KR" sz="1200"/>
              <a:t>PayoutCandidateItem</a:t>
            </a:r>
            <a:r>
              <a:rPr lang="ko-KR" altLang="en-US" sz="1200"/>
              <a:t>을 한번에 정상처리하진않는다</a:t>
            </a:r>
            <a:r>
              <a:rPr lang="en-US" altLang="ko-KR" sz="1200"/>
              <a:t>. </a:t>
            </a:r>
            <a:r>
              <a:rPr lang="ko-KR" altLang="en-US" sz="1200"/>
              <a:t>데이터 특성상 정산 처리할 쌓여있는 아이템이 많기 때문에</a:t>
            </a:r>
            <a:endParaRPr lang="en-US" altLang="ko-KR" sz="1200"/>
          </a:p>
          <a:p>
            <a:r>
              <a:rPr lang="en-US" altLang="ko-KR" sz="1200"/>
              <a:t>	Limit</a:t>
            </a:r>
            <a:r>
              <a:rPr lang="ko-KR" altLang="en-US" sz="1200"/>
              <a:t>를 주어 한번에 처리하고 다음 아이템들을 </a:t>
            </a:r>
            <a:r>
              <a:rPr lang="en-US" altLang="ko-KR" sz="1200"/>
              <a:t>Limit</a:t>
            </a:r>
            <a:r>
              <a:rPr lang="ko-KR" altLang="en-US" sz="1200"/>
              <a:t> 만큼 가져와 처리하는식으로 반복한다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	</a:t>
            </a:r>
            <a:r>
              <a:rPr lang="ko-KR" altLang="en-US" sz="1200"/>
              <a:t>때문에 </a:t>
            </a:r>
            <a:r>
              <a:rPr lang="en-US" altLang="ko-KR" sz="1200"/>
              <a:t>SpringBatch</a:t>
            </a:r>
            <a:r>
              <a:rPr lang="ko-KR" altLang="en-US" sz="1200"/>
              <a:t>로써 처리되는 것이다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	</a:t>
            </a:r>
            <a:r>
              <a:rPr lang="ko-KR" altLang="en-US" sz="1200"/>
              <a:t>이번 강의에선 </a:t>
            </a:r>
            <a:r>
              <a:rPr lang="en-US" altLang="ko-KR" sz="1200"/>
              <a:t>SpringBatch </a:t>
            </a:r>
            <a:r>
              <a:rPr lang="ko-KR" altLang="en-US" sz="1200"/>
              <a:t>로써 등록될  </a:t>
            </a:r>
            <a:r>
              <a:rPr lang="en-US" altLang="ko-KR" sz="1200"/>
              <a:t>PayoutCandidateItem</a:t>
            </a:r>
            <a:r>
              <a:rPr lang="ko-KR" altLang="en-US" sz="1200"/>
              <a:t>을 모으는 코드를 작성한다</a:t>
            </a:r>
            <a:r>
              <a:rPr lang="en-US" altLang="ko-KR" sz="12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0D9B3D-42D3-26B5-9426-25A68A0E65AD}"/>
              </a:ext>
            </a:extLst>
          </p:cNvPr>
          <p:cNvSpPr txBox="1"/>
          <p:nvPr/>
        </p:nvSpPr>
        <p:spPr>
          <a:xfrm>
            <a:off x="6323798" y="2721292"/>
            <a:ext cx="5572819" cy="314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수정 파일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PayoutFacade.java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RsData&lt;Integer&gt; collectPayoutItemsMore(int limit) 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 public List&lt;PayoutCandidateItem&gt; findPayoutCandidateItems()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PayoutSupport.java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List&lt;PayoutCandidateItem&gt; findPayoutCandidateItems()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PayoutCandidateItemRepository.java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List&lt;PayoutCandidateItem&gt; findByPayoutItemIsNullAndPaymentDateBeforeOrderByPayeeAscIdAsc(LocalDateTime paymentDate, Pageable pageable);</a:t>
            </a:r>
            <a:br>
              <a:rPr lang="en-US" altLang="ko-KR" sz="1100"/>
            </a:b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/>
              <a:t>PayoutRepository.java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Optional&lt;Payout&gt; findByPayeeAndPayoutDateIsNull(PayoutMember payee);</a:t>
            </a:r>
          </a:p>
          <a:p>
            <a:pPr marL="171450" indent="-171450">
              <a:buFontTx/>
              <a:buChar char="-"/>
            </a:pP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/>
              <a:t>application.yml</a:t>
            </a:r>
          </a:p>
          <a:p>
            <a:pPr lvl="1"/>
            <a:r>
              <a:rPr lang="en-US" altLang="ko-KR" sz="1100"/>
              <a:t> payout:    </a:t>
            </a:r>
          </a:p>
          <a:p>
            <a:pPr lvl="1"/>
            <a:r>
              <a:rPr lang="en-US" altLang="ko-KR" sz="1100"/>
              <a:t>	readyWaitingDays: 14</a:t>
            </a:r>
          </a:p>
          <a:p>
            <a:pPr lvl="1"/>
            <a:endParaRPr lang="en-US" altLang="ko-KR" sz="10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207245-1965-6128-91CA-A094F105BA5A}"/>
              </a:ext>
            </a:extLst>
          </p:cNvPr>
          <p:cNvSpPr txBox="1"/>
          <p:nvPr/>
        </p:nvSpPr>
        <p:spPr>
          <a:xfrm>
            <a:off x="1097280" y="2713915"/>
            <a:ext cx="5823284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생성 파일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PayoutCollectPayoutItemsMoreUseCase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RsData&lt;Integer&gt; collectPayoutItemsMore(int limit)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private List&lt;PayoutCandidateItem&gt; findPayoutReadyCandidateItems(int limit)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private Optional&lt;Payout&gt; findActiveByPayee(PayoutMember payee) {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PayoutPolicy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@Value("${custom.payout.readyWaitingDays:}")   </a:t>
            </a:r>
            <a:br>
              <a:rPr lang="en-US" altLang="ko-KR" sz="1100"/>
            </a:br>
            <a:r>
              <a:rPr lang="en-US" altLang="ko-KR" sz="1100"/>
              <a:t> public void setPayoutReadyWaitingDays(int payoutReadyWaitingDays)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PayoutDataInit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ApplicationRunner payoutDataInitApplicationRunner()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void forceMakePayoutReadyCandidatesItems()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void collectPayoutItemsMore()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Util (standard/ut/Util) [git</a:t>
            </a:r>
            <a:r>
              <a:rPr lang="ko-KR" altLang="en-US" sz="1100"/>
              <a:t> </a:t>
            </a:r>
            <a:r>
              <a:rPr lang="en-US" altLang="ko-KR" sz="1100"/>
              <a:t>log</a:t>
            </a:r>
            <a:r>
              <a:rPr lang="ko-KR" altLang="en-US" sz="1100"/>
              <a:t> 복제</a:t>
            </a:r>
            <a:r>
              <a:rPr lang="en-US" altLang="ko-KR" sz="1100"/>
              <a:t>]</a:t>
            </a:r>
          </a:p>
          <a:p>
            <a:pPr marL="171450" indent="-171450">
              <a:buFontTx/>
              <a:buChar char="-"/>
            </a:pPr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495820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B22003-C468-4CA1-BB00-D2C50594D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45</a:t>
            </a:r>
            <a:r>
              <a:rPr lang="ko-KR" altLang="en-US"/>
              <a:t>강 주요코드 사진</a:t>
            </a:r>
            <a:r>
              <a:rPr lang="en-US" altLang="ko-KR"/>
              <a:t>-1</a:t>
            </a:r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01C702A-3ACE-B2E5-57EB-FCC91BA744F6}"/>
              </a:ext>
            </a:extLst>
          </p:cNvPr>
          <p:cNvGrpSpPr/>
          <p:nvPr/>
        </p:nvGrpSpPr>
        <p:grpSpPr>
          <a:xfrm>
            <a:off x="6095999" y="1972083"/>
            <a:ext cx="5353251" cy="1791396"/>
            <a:chOff x="298856" y="1827703"/>
            <a:chExt cx="5827624" cy="1862907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9E47179-1A20-9E5B-537E-A0D877A2DBDB}"/>
                </a:ext>
              </a:extLst>
            </p:cNvPr>
            <p:cNvGrpSpPr/>
            <p:nvPr/>
          </p:nvGrpSpPr>
          <p:grpSpPr>
            <a:xfrm>
              <a:off x="298856" y="1827703"/>
              <a:ext cx="5827624" cy="1613329"/>
              <a:chOff x="390296" y="1737360"/>
              <a:chExt cx="5827624" cy="1613329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352EFD63-1B1E-858D-B842-B5B1DC2358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0296" y="2012673"/>
                <a:ext cx="5827624" cy="1338016"/>
              </a:xfrm>
              <a:prstGeom prst="rect">
                <a:avLst/>
              </a:prstGeom>
            </p:spPr>
          </p:pic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05A81D90-7FDF-6A2E-4D02-C37D128BBE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08023" y="1737360"/>
                <a:ext cx="1409897" cy="352474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79BD185-E6EA-D84E-FCF1-CC4C86266CF4}"/>
                </a:ext>
              </a:extLst>
            </p:cNvPr>
            <p:cNvSpPr txBox="1"/>
            <p:nvPr/>
          </p:nvSpPr>
          <p:spPr>
            <a:xfrm>
              <a:off x="298856" y="3429000"/>
              <a:ext cx="582762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/>
                <a:t>PayoutCandidateItem </a:t>
              </a:r>
              <a:r>
                <a:rPr lang="ko-KR" altLang="en-US" sz="1100"/>
                <a:t>을 이용하여 </a:t>
              </a:r>
              <a:r>
                <a:rPr lang="en-US" altLang="ko-KR" sz="1100"/>
                <a:t>PayoutItem</a:t>
              </a:r>
              <a:r>
                <a:rPr lang="ko-KR" altLang="en-US" sz="1100"/>
                <a:t>을 생성한다</a:t>
              </a:r>
              <a:r>
                <a:rPr lang="en-US" altLang="ko-KR" sz="1100"/>
                <a:t>.</a:t>
              </a:r>
              <a:endParaRPr lang="ko-KR" altLang="en-US" sz="1100"/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0C5B353F-252F-A74D-74B8-C40063048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54" y="1869325"/>
            <a:ext cx="5871411" cy="457017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7AE4085-8FAA-B725-FEAC-373EFD7497C6}"/>
              </a:ext>
            </a:extLst>
          </p:cNvPr>
          <p:cNvSpPr/>
          <p:nvPr/>
        </p:nvSpPr>
        <p:spPr>
          <a:xfrm>
            <a:off x="3099335" y="4985886"/>
            <a:ext cx="2906830" cy="14536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시작시 초기데이터에서 </a:t>
            </a:r>
            <a:r>
              <a:rPr lang="en-US" altLang="ko-KR" sz="1100">
                <a:solidFill>
                  <a:schemeClr val="tx1"/>
                </a:solidFill>
              </a:rPr>
              <a:t>payoutCandidateItems</a:t>
            </a:r>
            <a:r>
              <a:rPr lang="ko-KR" altLang="en-US" sz="1100">
                <a:solidFill>
                  <a:schemeClr val="tx1"/>
                </a:solidFill>
              </a:rPr>
              <a:t>가 </a:t>
            </a:r>
            <a:r>
              <a:rPr lang="en-US" altLang="ko-KR" sz="1100">
                <a:solidFill>
                  <a:schemeClr val="tx1"/>
                </a:solidFill>
              </a:rPr>
              <a:t>payout</a:t>
            </a:r>
            <a:r>
              <a:rPr lang="ko-KR" altLang="en-US" sz="1100">
                <a:solidFill>
                  <a:schemeClr val="tx1"/>
                </a:solidFill>
              </a:rPr>
              <a:t>정책대상으로 집계될 수 있도록 교안에서 제공한 </a:t>
            </a:r>
            <a:r>
              <a:rPr lang="en-US" altLang="ko-KR" sz="1100">
                <a:solidFill>
                  <a:schemeClr val="tx1"/>
                </a:solidFill>
              </a:rPr>
              <a:t>Util </a:t>
            </a:r>
            <a:r>
              <a:rPr lang="ko-KR" altLang="en-US" sz="1100">
                <a:solidFill>
                  <a:schemeClr val="tx1"/>
                </a:solidFill>
              </a:rPr>
              <a:t>클래스를 사용하여</a:t>
            </a:r>
            <a:r>
              <a:rPr lang="en-US" altLang="ko-KR" sz="1100">
                <a:solidFill>
                  <a:schemeClr val="tx1"/>
                </a:solidFill>
              </a:rPr>
              <a:t>,  </a:t>
            </a:r>
            <a:r>
              <a:rPr lang="ko-KR" altLang="en-US" sz="1100">
                <a:solidFill>
                  <a:schemeClr val="tx1"/>
                </a:solidFill>
              </a:rPr>
              <a:t>데이터를 조작한다</a:t>
            </a:r>
            <a:r>
              <a:rPr lang="en-US" altLang="ko-KR" sz="110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en-US" altLang="ko-KR" sz="1100">
                <a:solidFill>
                  <a:schemeClr val="tx1"/>
                </a:solidFill>
              </a:rPr>
              <a:t>collectPayoutItemMore</a:t>
            </a:r>
            <a:r>
              <a:rPr lang="ko-KR" altLang="en-US" sz="1100">
                <a:solidFill>
                  <a:schemeClr val="tx1"/>
                </a:solidFill>
              </a:rPr>
              <a:t>은 정산 후보 데이터를 이용하여</a:t>
            </a:r>
            <a:r>
              <a:rPr lang="en-US" altLang="ko-KR" sz="1100">
                <a:solidFill>
                  <a:schemeClr val="tx1"/>
                </a:solidFill>
              </a:rPr>
              <a:t>, </a:t>
            </a:r>
            <a:r>
              <a:rPr lang="ko-KR" altLang="en-US" sz="1100">
                <a:solidFill>
                  <a:schemeClr val="tx1"/>
                </a:solidFill>
              </a:rPr>
              <a:t>정산 아이템을 생성한다</a:t>
            </a:r>
            <a:r>
              <a:rPr lang="en-US" altLang="ko-KR" sz="1100">
                <a:solidFill>
                  <a:schemeClr val="tx1"/>
                </a:solidFill>
              </a:rPr>
              <a:t>.</a:t>
            </a:r>
            <a:br>
              <a:rPr lang="en-US" altLang="ko-KR" sz="1100">
                <a:solidFill>
                  <a:schemeClr val="tx1"/>
                </a:solidFill>
              </a:rPr>
            </a:br>
            <a:r>
              <a:rPr lang="en-US" altLang="ko-KR" sz="1100">
                <a:solidFill>
                  <a:schemeClr val="tx1"/>
                </a:solidFill>
              </a:rPr>
              <a:t>(</a:t>
            </a:r>
            <a:r>
              <a:rPr lang="ko-KR" altLang="en-US" sz="1100">
                <a:solidFill>
                  <a:schemeClr val="tx1"/>
                </a:solidFill>
              </a:rPr>
              <a:t>나중에는 </a:t>
            </a:r>
            <a:r>
              <a:rPr lang="en-US" altLang="ko-KR" sz="1100">
                <a:solidFill>
                  <a:schemeClr val="tx1"/>
                </a:solidFill>
              </a:rPr>
              <a:t>SpringBatch</a:t>
            </a:r>
            <a:r>
              <a:rPr lang="ko-KR" altLang="en-US" sz="1100">
                <a:solidFill>
                  <a:schemeClr val="tx1"/>
                </a:solidFill>
              </a:rPr>
              <a:t>로 처리될 </a:t>
            </a:r>
            <a:r>
              <a:rPr lang="en-US" altLang="ko-KR" sz="1100">
                <a:solidFill>
                  <a:schemeClr val="tx1"/>
                </a:solidFill>
              </a:rPr>
              <a:t>Task</a:t>
            </a:r>
            <a:r>
              <a:rPr lang="ko-KR" altLang="en-US" sz="1100">
                <a:solidFill>
                  <a:schemeClr val="tx1"/>
                </a:solidFill>
              </a:rPr>
              <a:t>이다</a:t>
            </a:r>
            <a:r>
              <a:rPr lang="en-US" altLang="ko-KR" sz="1100">
                <a:solidFill>
                  <a:schemeClr val="tx1"/>
                </a:solidFill>
              </a:rPr>
              <a:t>)</a:t>
            </a:r>
            <a:endParaRPr lang="ko-KR" altLang="en-US" sz="1100">
              <a:solidFill>
                <a:schemeClr val="tx1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2BC98C4-2944-8AC8-5AB9-4C6941A0BD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478"/>
          <a:stretch>
            <a:fillRect/>
          </a:stretch>
        </p:blipFill>
        <p:spPr>
          <a:xfrm>
            <a:off x="6095999" y="4390160"/>
            <a:ext cx="5613313" cy="243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214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651177-B5AF-3681-5925-484CEF55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45</a:t>
            </a:r>
            <a:r>
              <a:rPr lang="ko-KR" altLang="en-US"/>
              <a:t>강 주요코드 사진</a:t>
            </a:r>
            <a:r>
              <a:rPr lang="en-US" altLang="ko-KR"/>
              <a:t>-2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C22EA4-EAB9-8275-461F-A00C975CC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489" y="1810093"/>
            <a:ext cx="5816045" cy="316616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1C4121F-AEBF-4F9C-27A9-6E0B71A30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21" y="1810093"/>
            <a:ext cx="5920092" cy="46770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FFED65-40FF-3070-1638-F1DA1D6A8853}"/>
              </a:ext>
            </a:extLst>
          </p:cNvPr>
          <p:cNvSpPr txBox="1"/>
          <p:nvPr/>
        </p:nvSpPr>
        <p:spPr>
          <a:xfrm>
            <a:off x="6126480" y="5048994"/>
            <a:ext cx="5827624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findPayoutReadyCandidateItems </a:t>
            </a:r>
            <a:r>
              <a:rPr lang="ko-KR" altLang="en-US" sz="1100"/>
              <a:t>에서 </a:t>
            </a:r>
            <a:r>
              <a:rPr lang="en-US" altLang="ko-KR" sz="1100"/>
              <a:t>PayoutItem</a:t>
            </a:r>
            <a:r>
              <a:rPr lang="ko-KR" altLang="en-US" sz="1100"/>
              <a:t>이 생성되지 않은 그리고  </a:t>
            </a:r>
            <a:r>
              <a:rPr lang="en-US" altLang="ko-KR" sz="1100"/>
              <a:t>PaymentDate</a:t>
            </a:r>
            <a:r>
              <a:rPr lang="ko-KR" altLang="en-US" sz="1100"/>
              <a:t>가 </a:t>
            </a:r>
            <a:r>
              <a:rPr lang="en-US" altLang="ko-KR" sz="1100"/>
              <a:t>14</a:t>
            </a:r>
            <a:r>
              <a:rPr lang="ko-KR" altLang="en-US" sz="1100"/>
              <a:t>일 정책 이전인 </a:t>
            </a:r>
            <a:r>
              <a:rPr lang="en-US" altLang="ko-KR" sz="1100"/>
              <a:t>payoutCandidate Item </a:t>
            </a:r>
            <a:r>
              <a:rPr lang="ko-KR" altLang="en-US" sz="1100"/>
              <a:t>에 대해  조회하며</a:t>
            </a:r>
            <a:r>
              <a:rPr lang="en-US" altLang="ko-KR" sz="1100"/>
              <a:t>, </a:t>
            </a:r>
            <a:r>
              <a:rPr lang="ko-KR" altLang="en-US" sz="1100"/>
              <a:t>지정된 </a:t>
            </a:r>
            <a:r>
              <a:rPr lang="en-US" altLang="ko-KR" sz="1100"/>
              <a:t>limit </a:t>
            </a:r>
            <a:r>
              <a:rPr lang="ko-KR" altLang="en-US" sz="1100"/>
              <a:t>만큼 반환한다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en-US" altLang="ko-KR" sz="1100"/>
              <a:t>collectPayoutItemsMore</a:t>
            </a:r>
            <a:r>
              <a:rPr lang="ko-KR" altLang="en-US" sz="1100"/>
              <a:t>은 배치에의해 </a:t>
            </a:r>
            <a:r>
              <a:rPr lang="en-US" altLang="ko-KR" sz="1100"/>
              <a:t>payoutReadyCandidateItems</a:t>
            </a:r>
            <a:r>
              <a:rPr lang="ko-KR" altLang="en-US" sz="1100"/>
              <a:t>가 완전히 비우게 될 때 까지</a:t>
            </a:r>
            <a:br>
              <a:rPr lang="en-US" altLang="ko-KR" sz="1100"/>
            </a:br>
            <a:r>
              <a:rPr lang="ko-KR" altLang="en-US" sz="1100"/>
              <a:t>반복된다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en-US" altLang="ko-KR" sz="1100"/>
              <a:t>payoutReadyCandidateItems</a:t>
            </a:r>
            <a:r>
              <a:rPr lang="ko-KR" altLang="en-US" sz="1100"/>
              <a:t>는 정산받는 사람을 기준으로 그룹화되어 순회한다</a:t>
            </a:r>
            <a:r>
              <a:rPr lang="en-US" altLang="ko-KR" sz="1100"/>
              <a:t>. </a:t>
            </a:r>
            <a:br>
              <a:rPr lang="en-US" altLang="ko-KR" sz="1100"/>
            </a:br>
            <a:r>
              <a:rPr lang="ko-KR" altLang="en-US" sz="1100"/>
              <a:t>그룹화된 정산 후보를 순회하며</a:t>
            </a:r>
            <a:r>
              <a:rPr lang="en-US" altLang="ko-KR" sz="1100"/>
              <a:t>, PayoutItem</a:t>
            </a:r>
            <a:r>
              <a:rPr lang="ko-KR" altLang="en-US" sz="1100"/>
              <a:t>을 생성하며</a:t>
            </a:r>
            <a:r>
              <a:rPr lang="en-US" altLang="ko-KR" sz="1100"/>
              <a:t>,  PayoutItem</a:t>
            </a:r>
            <a:r>
              <a:rPr lang="ko-KR" altLang="en-US" sz="1100"/>
              <a:t>이 생성된 정산후보는</a:t>
            </a:r>
            <a:br>
              <a:rPr lang="en-US" altLang="ko-KR" sz="1100"/>
            </a:br>
            <a:r>
              <a:rPr lang="en-US" altLang="ko-KR" sz="1100"/>
              <a:t>payoutItem</a:t>
            </a:r>
            <a:r>
              <a:rPr lang="ko-KR" altLang="en-US" sz="1100"/>
              <a:t>을 결합하여</a:t>
            </a:r>
            <a:r>
              <a:rPr lang="en-US" altLang="ko-KR" sz="1100"/>
              <a:t>, </a:t>
            </a:r>
            <a:r>
              <a:rPr lang="ko-KR" altLang="en-US" sz="1100"/>
              <a:t>처리되고있는 정산 후보임을 나타낸다</a:t>
            </a:r>
            <a:r>
              <a:rPr lang="en-US" altLang="ko-KR" sz="1100"/>
              <a:t>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905452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787F25-F2E3-D3E2-27C0-756AD27C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46</a:t>
            </a:r>
            <a:r>
              <a:rPr lang="ko-KR" altLang="en-US" sz="4000"/>
              <a:t>강 </a:t>
            </a:r>
            <a:r>
              <a:rPr lang="en-US" altLang="ko-KR" sz="4000"/>
              <a:t>SpringBatch</a:t>
            </a:r>
            <a:r>
              <a:rPr lang="ko-KR" altLang="en-US" sz="4000"/>
              <a:t>를 사용하기 위한 설정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68D683-D68C-E16E-D0E8-2BD12D72510C}"/>
              </a:ext>
            </a:extLst>
          </p:cNvPr>
          <p:cNvSpPr txBox="1"/>
          <p:nvPr/>
        </p:nvSpPr>
        <p:spPr>
          <a:xfrm>
            <a:off x="6323798" y="2240029"/>
            <a:ext cx="5572819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수정 파일</a:t>
            </a: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/>
              <a:t>application.yml</a:t>
            </a:r>
          </a:p>
          <a:p>
            <a:pPr lvl="1"/>
            <a:r>
              <a:rPr lang="en-US" altLang="ko-KR" sz="1100"/>
              <a:t> batch:   </a:t>
            </a:r>
          </a:p>
          <a:p>
            <a:pPr lvl="1"/>
            <a:r>
              <a:rPr lang="en-US" altLang="ko-KR" sz="1100"/>
              <a:t>	 job:      </a:t>
            </a:r>
          </a:p>
          <a:p>
            <a:pPr lvl="1"/>
            <a:r>
              <a:rPr lang="en-US" altLang="ko-KR" sz="1100"/>
              <a:t>		enabled: false</a:t>
            </a:r>
          </a:p>
          <a:p>
            <a:pPr marL="171450" indent="-171450">
              <a:buFontTx/>
              <a:buChar char="-"/>
            </a:pP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/>
              <a:t>build.gradle.kts</a:t>
            </a:r>
          </a:p>
          <a:p>
            <a:pPr marL="171450" indent="-171450">
              <a:buFontTx/>
              <a:buChar char="-"/>
            </a:pPr>
            <a:endParaRPr lang="en-US" altLang="ko-KR" sz="1100"/>
          </a:p>
          <a:p>
            <a:pPr marL="171450" indent="-171450">
              <a:buFontTx/>
              <a:buChar char="-"/>
            </a:pPr>
            <a:endParaRPr lang="en-US" altLang="ko-KR" sz="1100"/>
          </a:p>
          <a:p>
            <a:pPr lvl="1"/>
            <a:endParaRPr lang="en-US" altLang="ko-KR" sz="1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69AC53-8B48-73F3-EC55-DE3C16B1F478}"/>
              </a:ext>
            </a:extLst>
          </p:cNvPr>
          <p:cNvSpPr txBox="1"/>
          <p:nvPr/>
        </p:nvSpPr>
        <p:spPr>
          <a:xfrm>
            <a:off x="1097280" y="2232652"/>
            <a:ext cx="582328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생성 파일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BatchConfig    {global/batch}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6409D-9AC4-2B1E-D426-ACA92B57BDA0}"/>
              </a:ext>
            </a:extLst>
          </p:cNvPr>
          <p:cNvSpPr txBox="1"/>
          <p:nvPr/>
        </p:nvSpPr>
        <p:spPr>
          <a:xfrm>
            <a:off x="1194318" y="1810139"/>
            <a:ext cx="99613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</a:t>
            </a:r>
            <a:r>
              <a:rPr lang="ko-KR" altLang="en-US" sz="1200"/>
              <a:t>작성했던 </a:t>
            </a:r>
            <a:r>
              <a:rPr lang="en-US" altLang="ko-KR" sz="1200"/>
              <a:t>collectPayoutItemMore</a:t>
            </a:r>
            <a:r>
              <a:rPr lang="ko-KR" altLang="en-US" sz="1200"/>
              <a:t>을 배치로 동작시키기 위한 사전 작업 준비</a:t>
            </a:r>
            <a:endParaRPr lang="en-US" altLang="ko-KR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57D81-8F4B-3CC5-F7A6-B5DB0C56B3F7}"/>
              </a:ext>
            </a:extLst>
          </p:cNvPr>
          <p:cNvSpPr txBox="1"/>
          <p:nvPr/>
        </p:nvSpPr>
        <p:spPr>
          <a:xfrm>
            <a:off x="1008247" y="4961164"/>
            <a:ext cx="8636267" cy="1003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</a:pPr>
            <a:r>
              <a:rPr lang="en-US" altLang="ko-KR" sz="1100"/>
              <a:t>※ build.gradle.kts</a:t>
            </a:r>
            <a:endParaRPr lang="en-US" altLang="ko-KR" sz="1100" b="0" i="0"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100" b="0" i="0">
                <a:effectLst/>
                <a:latin typeface="Consolas" panose="020B0609020204030204" pitchFamily="49" charset="0"/>
              </a:rPr>
              <a:t> implementation("org.springframework.boot:spring-boot-starter-batch")</a:t>
            </a:r>
          </a:p>
          <a:p>
            <a:pPr algn="l">
              <a:lnSpc>
                <a:spcPts val="192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altLang="ko-KR" sz="1100" b="0" i="0">
                <a:effectLst/>
                <a:latin typeface="Consolas" panose="020B0609020204030204" pitchFamily="49" charset="0"/>
              </a:rPr>
              <a:t> testImplementation("org.springframework.batch:spring-batch-test")</a:t>
            </a:r>
          </a:p>
        </p:txBody>
      </p:sp>
    </p:spTree>
    <p:extLst>
      <p:ext uri="{BB962C8B-B14F-4D97-AF65-F5344CB8AC3E}">
        <p14:creationId xmlns:p14="http://schemas.microsoft.com/office/powerpoint/2010/main" val="1534806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F03B8-D14D-A0E7-ABC1-E99972A8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46</a:t>
            </a:r>
            <a:r>
              <a:rPr lang="ko-KR" altLang="en-US"/>
              <a:t>강 </a:t>
            </a:r>
            <a:r>
              <a:rPr lang="en-US" altLang="ko-KR"/>
              <a:t>SpringBatch </a:t>
            </a:r>
            <a:r>
              <a:rPr lang="ko-KR" altLang="en-US"/>
              <a:t>주요코드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FB783C-A026-F1D0-D63B-3B5659DDB02D}"/>
              </a:ext>
            </a:extLst>
          </p:cNvPr>
          <p:cNvSpPr txBox="1"/>
          <p:nvPr/>
        </p:nvSpPr>
        <p:spPr>
          <a:xfrm>
            <a:off x="147260" y="4735008"/>
            <a:ext cx="534347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@Profile("!Prod") </a:t>
            </a:r>
            <a:r>
              <a:rPr lang="en-US" altLang="ko-KR" sz="1100">
                <a:sym typeface="Wingdings" panose="05000000000000000000" pitchFamily="2" charset="2"/>
              </a:rPr>
              <a:t> Prod = </a:t>
            </a:r>
            <a:r>
              <a:rPr lang="ko-KR" altLang="en-US" sz="1100">
                <a:sym typeface="Wingdings" panose="05000000000000000000" pitchFamily="2" charset="2"/>
              </a:rPr>
              <a:t>배포환경 </a:t>
            </a:r>
            <a:r>
              <a:rPr lang="en-US" altLang="ko-KR" sz="1100">
                <a:sym typeface="Wingdings" panose="05000000000000000000" pitchFamily="2" charset="2"/>
              </a:rPr>
              <a:t>(</a:t>
            </a:r>
            <a:r>
              <a:rPr lang="ko-KR" altLang="en-US" sz="1100">
                <a:sym typeface="Wingdings" panose="05000000000000000000" pitchFamily="2" charset="2"/>
              </a:rPr>
              <a:t>운영환경</a:t>
            </a:r>
            <a:r>
              <a:rPr lang="en-US" altLang="ko-KR" sz="1100">
                <a:sym typeface="Wingdings" panose="05000000000000000000" pitchFamily="2" charset="2"/>
              </a:rPr>
              <a:t>)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H2</a:t>
            </a:r>
            <a:r>
              <a:rPr lang="ko-KR" altLang="en-US" sz="1100">
                <a:sym typeface="Wingdings" panose="05000000000000000000" pitchFamily="2" charset="2"/>
              </a:rPr>
              <a:t>데이터베이스와 관련된 메타데이터 테이블을 생성해달라는 설정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ko-KR" altLang="en-US" sz="1100">
                <a:sym typeface="Wingdings" panose="05000000000000000000" pitchFamily="2" charset="2"/>
              </a:rPr>
              <a:t>이라고 간단하게 설명함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</a:p>
          <a:p>
            <a:endParaRPr lang="en-US" altLang="ko-KR" sz="1100">
              <a:sym typeface="Wingdings" panose="05000000000000000000" pitchFamily="2" charset="2"/>
            </a:endParaRPr>
          </a:p>
          <a:p>
            <a:endParaRPr lang="en-US" altLang="ko-KR" sz="1100">
              <a:sym typeface="Wingdings" panose="05000000000000000000" pitchFamily="2" charset="2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A0728F8-5BA5-061B-CAE6-C1ECD2AD3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60" y="1826979"/>
            <a:ext cx="6085205" cy="282202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56DC841C-9540-2950-DC86-CB00603CE6FB}"/>
              </a:ext>
            </a:extLst>
          </p:cNvPr>
          <p:cNvGrpSpPr/>
          <p:nvPr/>
        </p:nvGrpSpPr>
        <p:grpSpPr>
          <a:xfrm>
            <a:off x="6403272" y="1826979"/>
            <a:ext cx="4540652" cy="5000120"/>
            <a:chOff x="6403272" y="1826979"/>
            <a:chExt cx="4540652" cy="500012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1D1F2A6-A583-05F4-6AA9-0A6705D6C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3272" y="1826979"/>
              <a:ext cx="4540652" cy="2250019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5E74BCF8-F22B-D12B-8000-1D054DC80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3272" y="4076998"/>
              <a:ext cx="3788880" cy="2750101"/>
            </a:xfrm>
            <a:prstGeom prst="rect">
              <a:avLst/>
            </a:prstGeom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A316258A-61C3-054C-1C70-9AD956DEB6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2877" y="5287877"/>
            <a:ext cx="4039588" cy="153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85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FCF85-CBC7-A4C9-3789-482BED9D9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47</a:t>
            </a:r>
            <a:r>
              <a:rPr lang="ko-KR" altLang="en-US" sz="4000"/>
              <a:t>강 배치 잡을 통해 정산아이템 모으기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FBFBEB-4B19-2ECD-D05D-8877788DC89A}"/>
              </a:ext>
            </a:extLst>
          </p:cNvPr>
          <p:cNvSpPr txBox="1"/>
          <p:nvPr/>
        </p:nvSpPr>
        <p:spPr>
          <a:xfrm>
            <a:off x="6323798" y="2240029"/>
            <a:ext cx="5572819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수정 파일</a:t>
            </a: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/>
              <a:t>PayoutDataInit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private final JobOperator jobOperator;    </a:t>
            </a:r>
            <a:br>
              <a:rPr lang="en-US" altLang="ko-KR" sz="1100"/>
            </a:br>
            <a:r>
              <a:rPr lang="en-US" altLang="ko-KR" sz="1100"/>
              <a:t>private final Job payoutCollectItemsJob;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void runCollectPayoutItemsBatchJob() </a:t>
            </a:r>
          </a:p>
          <a:p>
            <a:pPr marL="171450" indent="-171450">
              <a:buFontTx/>
              <a:buChar char="-"/>
            </a:pPr>
            <a:endParaRPr lang="en-US" altLang="ko-KR" sz="1100"/>
          </a:p>
          <a:p>
            <a:pPr marL="171450" indent="-171450">
              <a:buFontTx/>
              <a:buChar char="-"/>
            </a:pPr>
            <a:endParaRPr lang="en-US" altLang="ko-KR" sz="1100"/>
          </a:p>
          <a:p>
            <a:pPr lvl="1"/>
            <a:endParaRPr lang="en-US" altLang="ko-KR" sz="1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D9D6D2-7281-3E0D-D741-5E60FA6C428E}"/>
              </a:ext>
            </a:extLst>
          </p:cNvPr>
          <p:cNvSpPr txBox="1"/>
          <p:nvPr/>
        </p:nvSpPr>
        <p:spPr>
          <a:xfrm>
            <a:off x="1097280" y="2240029"/>
            <a:ext cx="5823284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생성 파일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PayoutCollectItemsBatchJobConfig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@Bean    </a:t>
            </a:r>
            <a:br>
              <a:rPr lang="en-US" altLang="ko-KR" sz="1100"/>
            </a:br>
            <a:r>
              <a:rPr lang="en-US" altLang="ko-KR" sz="1100"/>
              <a:t>public Job payoutCollectItemsJob(</a:t>
            </a:r>
            <a:br>
              <a:rPr lang="en-US" altLang="ko-KR" sz="1100"/>
            </a:br>
            <a:r>
              <a:rPr lang="en-US" altLang="ko-KR" sz="1100"/>
              <a:t>	JobRepository jobRepository,            </a:t>
            </a:r>
            <a:br>
              <a:rPr lang="en-US" altLang="ko-KR" sz="1100"/>
            </a:br>
            <a:r>
              <a:rPr lang="en-US" altLang="ko-KR" sz="1100"/>
              <a:t>	Step payoutCollectItemsStep</a:t>
            </a:r>
            <a:br>
              <a:rPr lang="en-US" altLang="ko-KR" sz="1100"/>
            </a:br>
            <a:r>
              <a:rPr lang="en-US" altLang="ko-KR" sz="1100"/>
              <a:t>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@Bean    </a:t>
            </a:r>
            <a:br>
              <a:rPr lang="en-US" altLang="ko-KR" sz="1100"/>
            </a:br>
            <a:r>
              <a:rPr lang="en-US" altLang="ko-KR" sz="1100"/>
              <a:t>public Step payoutCollectItemsStep(JobRepository jobRepository)</a:t>
            </a:r>
          </a:p>
          <a:p>
            <a:pPr marL="628650" lvl="1" indent="-171450">
              <a:buFontTx/>
              <a:buChar char="-"/>
            </a:pPr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3762723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64E39B-B266-0C51-63C0-CE0A5CCDD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ko-KR"/>
            </a:br>
            <a:r>
              <a:rPr lang="en-US" altLang="ko-KR"/>
              <a:t>47</a:t>
            </a:r>
            <a:r>
              <a:rPr lang="ko-KR" altLang="en-US"/>
              <a:t>강 주요 코드 사진</a:t>
            </a:r>
            <a:r>
              <a:rPr lang="en-US" altLang="ko-KR"/>
              <a:t>-1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1012A9-4BCA-5416-C81C-1175A0494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18" y="1922780"/>
            <a:ext cx="2467319" cy="95263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D6D81CB-3F1B-06EC-F1FC-9FFC54E44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2775" y="1855535"/>
            <a:ext cx="5926450" cy="500246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7028DA9-DB92-D850-7F65-D11E35246413}"/>
              </a:ext>
            </a:extLst>
          </p:cNvPr>
          <p:cNvSpPr/>
          <p:nvPr/>
        </p:nvSpPr>
        <p:spPr>
          <a:xfrm>
            <a:off x="3306871" y="3212926"/>
            <a:ext cx="3444658" cy="1246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0E69C7-3952-799C-3C76-2073246DEDDE}"/>
              </a:ext>
            </a:extLst>
          </p:cNvPr>
          <p:cNvSpPr txBox="1"/>
          <p:nvPr/>
        </p:nvSpPr>
        <p:spPr>
          <a:xfrm>
            <a:off x="9131474" y="1855535"/>
            <a:ext cx="285593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빨간 박스 </a:t>
            </a:r>
            <a:r>
              <a:rPr lang="en-US" altLang="ko-KR" sz="1100"/>
              <a:t>: JobBuilder</a:t>
            </a:r>
            <a:r>
              <a:rPr lang="ko-KR" altLang="en-US" sz="1100"/>
              <a:t>를 사용하여</a:t>
            </a:r>
            <a:r>
              <a:rPr lang="en-US" altLang="ko-KR" sz="1100"/>
              <a:t> JOB</a:t>
            </a:r>
            <a:r>
              <a:rPr lang="ko-KR" altLang="en-US" sz="1100"/>
              <a:t>을 등록 </a:t>
            </a:r>
            <a:r>
              <a:rPr lang="en-US" altLang="ko-KR" sz="1100"/>
              <a:t>JOB </a:t>
            </a:r>
            <a:r>
              <a:rPr lang="ko-KR" altLang="en-US" sz="1100"/>
              <a:t>안의 </a:t>
            </a:r>
            <a:r>
              <a:rPr lang="en-US" altLang="ko-KR" sz="1100"/>
              <a:t>step</a:t>
            </a:r>
            <a:r>
              <a:rPr lang="ko-KR" altLang="en-US" sz="1100"/>
              <a:t>이 실제 동작 로직</a:t>
            </a:r>
            <a:br>
              <a:rPr lang="en-US" altLang="ko-KR" sz="1100"/>
            </a:br>
            <a:r>
              <a:rPr lang="en-US" altLang="ko-KR" sz="1100"/>
              <a:t>(Job</a:t>
            </a:r>
            <a:r>
              <a:rPr lang="ko-KR" altLang="en-US" sz="1100"/>
              <a:t>에 </a:t>
            </a:r>
            <a:r>
              <a:rPr lang="en-US" altLang="ko-KR" sz="1100"/>
              <a:t>Step</a:t>
            </a:r>
            <a:r>
              <a:rPr lang="ko-KR" altLang="en-US" sz="1100"/>
              <a:t>을 끼워넣는다</a:t>
            </a:r>
            <a:r>
              <a:rPr lang="en-US" altLang="ko-KR" sz="1100"/>
              <a:t>. </a:t>
            </a:r>
            <a:r>
              <a:rPr lang="en-US" altLang="ko-KR" sz="1100">
                <a:sym typeface="Wingdings" panose="05000000000000000000" pitchFamily="2" charset="2"/>
              </a:rPr>
              <a:t> .start()</a:t>
            </a:r>
            <a:r>
              <a:rPr lang="ko-KR" altLang="en-US" sz="1100">
                <a:sym typeface="Wingdings" panose="05000000000000000000" pitchFamily="2" charset="2"/>
              </a:rPr>
              <a:t>메소드로 </a:t>
            </a:r>
            <a:r>
              <a:rPr lang="en-US" altLang="ko-KR" sz="1100">
                <a:sym typeface="Wingdings" panose="05000000000000000000" pitchFamily="2" charset="2"/>
              </a:rPr>
              <a:t>Step</a:t>
            </a:r>
            <a:r>
              <a:rPr lang="ko-KR" altLang="en-US" sz="1100">
                <a:sym typeface="Wingdings" panose="05000000000000000000" pitchFamily="2" charset="2"/>
              </a:rPr>
              <a:t>실행 </a:t>
            </a:r>
            <a:r>
              <a:rPr lang="en-US" altLang="ko-KR" sz="1100">
                <a:sym typeface="Wingdings" panose="05000000000000000000" pitchFamily="2" charset="2"/>
              </a:rPr>
              <a:t>)</a:t>
            </a:r>
            <a:endParaRPr lang="en-US" altLang="ko-KR" sz="1100"/>
          </a:p>
          <a:p>
            <a:endParaRPr lang="en-US" altLang="ko-KR" sz="1100"/>
          </a:p>
          <a:p>
            <a:r>
              <a:rPr lang="ko-KR" altLang="en-US" sz="1100"/>
              <a:t>노란 박스 </a:t>
            </a:r>
            <a:r>
              <a:rPr lang="en-US" altLang="ko-KR" sz="1100"/>
              <a:t>: </a:t>
            </a:r>
            <a:r>
              <a:rPr lang="ko-KR" altLang="en-US" sz="1100"/>
              <a:t>실제 </a:t>
            </a:r>
            <a:r>
              <a:rPr lang="en-US" altLang="ko-KR" sz="1100"/>
              <a:t>PayoutItem</a:t>
            </a:r>
            <a:r>
              <a:rPr lang="ko-KR" altLang="en-US" sz="1100"/>
              <a:t>을 생성하는 </a:t>
            </a:r>
            <a:br>
              <a:rPr lang="en-US" altLang="ko-KR" sz="1100"/>
            </a:br>
            <a:r>
              <a:rPr lang="en-US" altLang="ko-KR" sz="1100"/>
              <a:t>PayoutCollectItemStep </a:t>
            </a:r>
            <a:r>
              <a:rPr lang="ko-KR" altLang="en-US" sz="1100"/>
              <a:t>로직을 </a:t>
            </a:r>
            <a:br>
              <a:rPr lang="en-US" altLang="ko-KR" sz="1100"/>
            </a:br>
            <a:r>
              <a:rPr lang="en-US" altLang="ko-KR" sz="1100"/>
              <a:t>StepBuilder </a:t>
            </a:r>
            <a:r>
              <a:rPr lang="ko-KR" altLang="en-US" sz="1100"/>
              <a:t>의 </a:t>
            </a:r>
            <a:r>
              <a:rPr lang="en-US" altLang="ko-KR" sz="1100"/>
              <a:t>tasklet </a:t>
            </a:r>
            <a:r>
              <a:rPr lang="ko-KR" altLang="en-US" sz="1100"/>
              <a:t>을 통해 반복실행</a:t>
            </a:r>
            <a:endParaRPr lang="en-US" altLang="ko-KR" sz="1100"/>
          </a:p>
          <a:p>
            <a:r>
              <a:rPr lang="en-US" altLang="ko-KR" sz="1100"/>
              <a:t>- CHUNK_SIZE </a:t>
            </a:r>
            <a:r>
              <a:rPr lang="ko-KR" altLang="en-US" sz="1100"/>
              <a:t>정산 후보를 한 번에 처리할 건 수</a:t>
            </a:r>
            <a:r>
              <a:rPr lang="en-US" altLang="ko-KR" sz="1100"/>
              <a:t>(=limit)</a:t>
            </a:r>
          </a:p>
          <a:p>
            <a:endParaRPr lang="en-US" altLang="ko-KR" sz="1100"/>
          </a:p>
          <a:p>
            <a:r>
              <a:rPr lang="en-US" altLang="ko-KR" sz="1100"/>
              <a:t>PayoutCollectItemStep </a:t>
            </a:r>
            <a:r>
              <a:rPr lang="ko-KR" altLang="en-US" sz="1100"/>
              <a:t>에서는 </a:t>
            </a:r>
            <a:r>
              <a:rPr lang="en-US" altLang="ko-KR" sz="1100"/>
              <a:t>RsData</a:t>
            </a:r>
            <a:r>
              <a:rPr lang="ko-KR" altLang="en-US" sz="1100"/>
              <a:t>로 </a:t>
            </a:r>
            <a:r>
              <a:rPr lang="en-US" altLang="ko-KR" sz="1100"/>
              <a:t>data</a:t>
            </a:r>
            <a:r>
              <a:rPr lang="ko-KR" altLang="en-US" sz="1100"/>
              <a:t>정보에 남아있는 정산 후보아이템에서 정산아이템으로 전환된 개수를 반환한다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en-US" altLang="ko-KR" sz="1100"/>
              <a:t>	</a:t>
            </a:r>
            <a:endParaRPr lang="ko-KR" altLang="en-US" sz="11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78E446B-E878-7B0B-DEBD-B88FE1393D4D}"/>
              </a:ext>
            </a:extLst>
          </p:cNvPr>
          <p:cNvSpPr/>
          <p:nvPr/>
        </p:nvSpPr>
        <p:spPr>
          <a:xfrm>
            <a:off x="3306871" y="4613754"/>
            <a:ext cx="5752354" cy="188725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017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198B31-62BA-F05D-55EB-A2B65C9F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ko-KR"/>
            </a:br>
            <a:r>
              <a:rPr lang="en-US" altLang="ko-KR"/>
              <a:t>47</a:t>
            </a:r>
            <a:r>
              <a:rPr lang="ko-KR" altLang="en-US"/>
              <a:t>강 주요 코드 사진</a:t>
            </a:r>
            <a:r>
              <a:rPr lang="en-US" altLang="ko-KR"/>
              <a:t>-2</a:t>
            </a:r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3CA06BE-EF3A-ACA6-3B8E-C5ACEB33E2CB}"/>
              </a:ext>
            </a:extLst>
          </p:cNvPr>
          <p:cNvGrpSpPr/>
          <p:nvPr/>
        </p:nvGrpSpPr>
        <p:grpSpPr>
          <a:xfrm>
            <a:off x="1171807" y="1911644"/>
            <a:ext cx="5798928" cy="4275837"/>
            <a:chOff x="1171807" y="1911644"/>
            <a:chExt cx="5798928" cy="427583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B00D805-5DDA-2E18-EFC2-5DBC1B058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1807" y="1911644"/>
              <a:ext cx="5798928" cy="4275837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99D15D4-488C-182B-83DE-2E0DB675D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88189" y="1952354"/>
              <a:ext cx="1476581" cy="428685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01F2643-E928-9B79-41C8-7853B1E8EA25}"/>
              </a:ext>
            </a:extLst>
          </p:cNvPr>
          <p:cNvSpPr txBox="1"/>
          <p:nvPr/>
        </p:nvSpPr>
        <p:spPr>
          <a:xfrm>
            <a:off x="7139836" y="1878904"/>
            <a:ext cx="460331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PayoutDataInit</a:t>
            </a:r>
            <a:r>
              <a:rPr lang="ko-KR" altLang="en-US" sz="1100"/>
              <a:t>에선 직접 정산아이템 전환을 통해 초기 데이터를 셋팅했던 </a:t>
            </a:r>
            <a:r>
              <a:rPr lang="en-US" altLang="ko-KR" sz="1100"/>
              <a:t>collectPayoutItemMore </a:t>
            </a:r>
            <a:r>
              <a:rPr lang="ko-KR" altLang="en-US" sz="1100"/>
              <a:t>메소드를 </a:t>
            </a:r>
            <a:r>
              <a:rPr lang="en-US" altLang="ko-KR" sz="1100"/>
              <a:t>4</a:t>
            </a:r>
            <a:r>
              <a:rPr lang="ko-KR" altLang="en-US" sz="1100"/>
              <a:t>건만 전환하도록 하였다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en-US" altLang="ko-KR" sz="1100"/>
              <a:t>runCollectPayoutItemsBatchJob </a:t>
            </a:r>
            <a:r>
              <a:rPr lang="ko-KR" altLang="en-US" sz="1100">
                <a:sym typeface="Wingdings" panose="05000000000000000000" pitchFamily="2" charset="2"/>
              </a:rPr>
              <a:t>의 </a:t>
            </a:r>
            <a:r>
              <a:rPr lang="en-US" altLang="ko-KR" sz="1100">
                <a:sym typeface="Wingdings" panose="05000000000000000000" pitchFamily="2" charset="2"/>
              </a:rPr>
              <a:t>77~82 Line</a:t>
            </a:r>
            <a:r>
              <a:rPr lang="ko-KR" altLang="en-US" sz="1100">
                <a:sym typeface="Wingdings" panose="05000000000000000000" pitchFamily="2" charset="2"/>
              </a:rPr>
              <a:t>은 </a:t>
            </a:r>
            <a:r>
              <a:rPr lang="en-US" altLang="ko-KR" sz="1100">
                <a:sym typeface="Wingdings" panose="05000000000000000000" pitchFamily="2" charset="2"/>
              </a:rPr>
              <a:t>jobParameters </a:t>
            </a:r>
            <a:r>
              <a:rPr lang="ko-KR" altLang="en-US" sz="1100">
                <a:sym typeface="Wingdings" panose="05000000000000000000" pitchFamily="2" charset="2"/>
              </a:rPr>
              <a:t>로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BatchJob</a:t>
            </a:r>
            <a:r>
              <a:rPr lang="ko-KR" altLang="en-US" sz="1100">
                <a:sym typeface="Wingdings" panose="05000000000000000000" pitchFamily="2" charset="2"/>
              </a:rPr>
              <a:t>이 실행되는 시간대를 기록하여 동일한 </a:t>
            </a:r>
            <a:r>
              <a:rPr lang="en-US" altLang="ko-KR" sz="1100">
                <a:sym typeface="Wingdings" panose="05000000000000000000" pitchFamily="2" charset="2"/>
              </a:rPr>
              <a:t>Job</a:t>
            </a:r>
            <a:r>
              <a:rPr lang="ko-KR" altLang="en-US" sz="1100">
                <a:sym typeface="Wingdings" panose="05000000000000000000" pitchFamily="2" charset="2"/>
              </a:rPr>
              <a:t>이 다시 처리되지 않도록 막는다</a:t>
            </a:r>
            <a:r>
              <a:rPr lang="en-US" altLang="ko-KR" sz="1100">
                <a:sym typeface="Wingdings" panose="05000000000000000000" pitchFamily="2" charset="2"/>
              </a:rPr>
              <a:t>.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(runDate</a:t>
            </a:r>
            <a:r>
              <a:rPr lang="ko-KR" altLang="en-US" sz="1100">
                <a:sym typeface="Wingdings" panose="05000000000000000000" pitchFamily="2" charset="2"/>
              </a:rPr>
              <a:t>로 설정하면</a:t>
            </a:r>
            <a:r>
              <a:rPr lang="en-US" altLang="ko-KR" sz="1100">
                <a:sym typeface="Wingdings" panose="05000000000000000000" pitchFamily="2" charset="2"/>
              </a:rPr>
              <a:t>, </a:t>
            </a:r>
            <a:r>
              <a:rPr lang="ko-KR" altLang="en-US" sz="1100">
                <a:sym typeface="Wingdings" panose="05000000000000000000" pitchFamily="2" charset="2"/>
              </a:rPr>
              <a:t>오늘 실행한 배치에 대해서 다시 실행하지 않으나 날짜가 변하면 다시 실행할수 있는 옵션이다</a:t>
            </a:r>
            <a:r>
              <a:rPr lang="en-US" altLang="ko-KR" sz="1100">
                <a:sym typeface="Wingdings" panose="05000000000000000000" pitchFamily="2" charset="2"/>
              </a:rPr>
              <a:t>.)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5C52EB6-F930-9F2C-D7E9-12B2E151F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687" y="4610307"/>
            <a:ext cx="7000306" cy="1617884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050897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FE58D8-2B66-A816-A808-33823AC13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48</a:t>
            </a:r>
            <a:r>
              <a:rPr lang="ko-KR" altLang="en-US" sz="4000"/>
              <a:t>강 </a:t>
            </a:r>
            <a:r>
              <a:rPr lang="en-US" altLang="ko-KR" sz="4000"/>
              <a:t>PayoutItem</a:t>
            </a:r>
            <a:r>
              <a:rPr lang="ko-KR" altLang="en-US" sz="4000"/>
              <a:t>이 쌓인 </a:t>
            </a:r>
            <a:r>
              <a:rPr lang="en-US" altLang="ko-KR" sz="4000"/>
              <a:t>Payout </a:t>
            </a:r>
            <a:r>
              <a:rPr lang="ko-KR" altLang="en-US" sz="4000"/>
              <a:t>집행하기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902E0-4F48-9F25-4685-E8C53953615E}"/>
              </a:ext>
            </a:extLst>
          </p:cNvPr>
          <p:cNvSpPr txBox="1"/>
          <p:nvPr/>
        </p:nvSpPr>
        <p:spPr>
          <a:xfrm>
            <a:off x="6294922" y="2507679"/>
            <a:ext cx="5572819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수정 파일</a:t>
            </a: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/>
              <a:t>CashFacade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void completePayout(PayoutDto payout)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CashEventListener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void handle(PayoutCompletedEvent event) {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PayoutCreatePayoutUseCase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Payout createPayout(int payeeId)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PayoutFacade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Payout createPayout(int payeeId)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RsData&lt;Integer&gt; completePayoutsMore(int limit)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void completePayout()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PayoutDto toDto()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PayoutDataInit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void completePayoutsMore()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PayoutEventListener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void handle(PayoutCompletedEvent event)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PayoutRepository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List&lt;Payout&gt; findByPayoutDateIsNullAndAmountGreaterThanOrderByIdAsc(long amount, Pageable pageable);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BaseMember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boolean isSystem() {</a:t>
            </a:r>
          </a:p>
          <a:p>
            <a:pPr lvl="1"/>
            <a:endParaRPr lang="en-US" altLang="ko-KR" sz="1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FCDD1F-BD60-E611-6D87-C103E86D4134}"/>
              </a:ext>
            </a:extLst>
          </p:cNvPr>
          <p:cNvSpPr txBox="1"/>
          <p:nvPr/>
        </p:nvSpPr>
        <p:spPr>
          <a:xfrm>
            <a:off x="1097280" y="2538457"/>
            <a:ext cx="5823284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※ </a:t>
            </a:r>
            <a:r>
              <a:rPr lang="ko-KR" altLang="en-US" sz="1200" b="1"/>
              <a:t>생성 파일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CashCompletePayoutUseCase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void completePayout(PayoutDto payout) </a:t>
            </a:r>
          </a:p>
          <a:p>
            <a:pPr marL="628650" lvl="1" indent="-171450">
              <a:buFontTx/>
              <a:buChar char="-"/>
            </a:pPr>
            <a:endParaRPr lang="en-US" altLang="ko-KR" sz="1100"/>
          </a:p>
          <a:p>
            <a:pPr marL="171450" indent="-171450">
              <a:buFontTx/>
              <a:buChar char="-"/>
            </a:pPr>
            <a:r>
              <a:rPr lang="en-US" altLang="ko-KR" sz="1100"/>
              <a:t>PayoutCompletePayoutsMoreUseCase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 public RsData&lt;Integer&gt; completePayoutsMore(int limit)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private List&lt;Payout&gt; findActivePayouts(int limit) 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PayoutDto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String getModelTypeCode()</a:t>
            </a:r>
          </a:p>
          <a:p>
            <a:pPr marL="171450" indent="-171450">
              <a:buFontTx/>
              <a:buChar char="-"/>
            </a:pPr>
            <a:r>
              <a:rPr lang="en-US" altLang="ko-KR" sz="1100"/>
              <a:t>PayoutCompletedEvent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public class PayoutCompletedEvent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F727D0-56C2-8564-D7C4-2E977F26ECB9}"/>
              </a:ext>
            </a:extLst>
          </p:cNvPr>
          <p:cNvSpPr txBox="1"/>
          <p:nvPr/>
        </p:nvSpPr>
        <p:spPr>
          <a:xfrm>
            <a:off x="1194318" y="1810139"/>
            <a:ext cx="9961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</a:t>
            </a:r>
            <a:r>
              <a:rPr lang="ko-KR" altLang="en-US" sz="1200"/>
              <a:t>이전 강의에선 </a:t>
            </a:r>
            <a:r>
              <a:rPr lang="en-US" altLang="ko-KR" sz="1200"/>
              <a:t>PayoutCandidateItem</a:t>
            </a:r>
            <a:r>
              <a:rPr lang="ko-KR" altLang="en-US" sz="1200"/>
              <a:t>으로 부터 </a:t>
            </a:r>
            <a:r>
              <a:rPr lang="en-US" altLang="ko-KR" sz="1200"/>
              <a:t>PayoutItem</a:t>
            </a:r>
            <a:r>
              <a:rPr lang="ko-KR" altLang="en-US" sz="1200"/>
              <a:t>을 </a:t>
            </a:r>
            <a:r>
              <a:rPr lang="en-US" altLang="ko-KR" sz="1200"/>
              <a:t>Payout</a:t>
            </a:r>
            <a:r>
              <a:rPr lang="ko-KR" altLang="en-US" sz="1200"/>
              <a:t>에 쌓았다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 </a:t>
            </a:r>
            <a:r>
              <a:rPr lang="ko-KR" altLang="en-US" sz="1200"/>
              <a:t>이번 강의에선 쌓인 </a:t>
            </a:r>
            <a:r>
              <a:rPr lang="en-US" altLang="ko-KR" sz="1200"/>
              <a:t>Payout</a:t>
            </a:r>
            <a:r>
              <a:rPr lang="ko-KR" altLang="en-US" sz="1200"/>
              <a:t>에 대한 집행을 진행한다</a:t>
            </a:r>
            <a:r>
              <a:rPr lang="en-US" altLang="ko-KR" sz="1200"/>
              <a:t>.</a:t>
            </a:r>
            <a:r>
              <a:rPr lang="ko-KR" altLang="en-US" sz="1200"/>
              <a:t> </a:t>
            </a:r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975500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851F4B-6084-DF84-85AC-CFA3DDF0E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48</a:t>
            </a:r>
            <a:r>
              <a:rPr lang="ko-KR" altLang="en-US"/>
              <a:t>강 주요 코드 사진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AB40F40-B803-792C-63D2-7CFF16C6B64A}"/>
              </a:ext>
            </a:extLst>
          </p:cNvPr>
          <p:cNvGrpSpPr/>
          <p:nvPr/>
        </p:nvGrpSpPr>
        <p:grpSpPr>
          <a:xfrm>
            <a:off x="741145" y="1864223"/>
            <a:ext cx="4522984" cy="2001265"/>
            <a:chOff x="741145" y="1864223"/>
            <a:chExt cx="4522984" cy="200126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311CBE4-C405-9EFC-09BD-86B4B6176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7702" y="1864223"/>
              <a:ext cx="4496427" cy="1724266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0B49360-C636-A2BA-003F-0E42C32747F8}"/>
                </a:ext>
              </a:extLst>
            </p:cNvPr>
            <p:cNvSpPr txBox="1"/>
            <p:nvPr/>
          </p:nvSpPr>
          <p:spPr>
            <a:xfrm>
              <a:off x="741145" y="3588489"/>
              <a:ext cx="44661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수동 정산 집행의 시작</a:t>
              </a: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1A1574E3-1117-5692-D0D4-3594B223A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686" y="1864223"/>
            <a:ext cx="6794566" cy="30350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C8F322-67B2-7B84-57DB-84E7409381F8}"/>
              </a:ext>
            </a:extLst>
          </p:cNvPr>
          <p:cNvSpPr txBox="1"/>
          <p:nvPr/>
        </p:nvSpPr>
        <p:spPr>
          <a:xfrm>
            <a:off x="5290686" y="4899259"/>
            <a:ext cx="679456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Payout</a:t>
            </a:r>
            <a:r>
              <a:rPr lang="ko-KR" altLang="en-US" sz="1100"/>
              <a:t> 객체 내 </a:t>
            </a:r>
            <a:r>
              <a:rPr lang="en-US" altLang="ko-KR" sz="1100"/>
              <a:t>PayoutDate</a:t>
            </a:r>
            <a:r>
              <a:rPr lang="ko-KR" altLang="en-US" sz="1100"/>
              <a:t>가 </a:t>
            </a:r>
            <a:r>
              <a:rPr lang="en-US" altLang="ko-KR" sz="1100"/>
              <a:t>Null</a:t>
            </a:r>
            <a:r>
              <a:rPr lang="ko-KR" altLang="en-US" sz="1100"/>
              <a:t>이면 정산집행이 되지 않았다는것을 뜻함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AndAmoutGreaterThen </a:t>
            </a:r>
            <a:r>
              <a:rPr lang="en-US" altLang="ko-KR" sz="1100">
                <a:sym typeface="Wingdings" panose="05000000000000000000" pitchFamily="2" charset="2"/>
              </a:rPr>
              <a:t> 0 </a:t>
            </a:r>
            <a:r>
              <a:rPr lang="ko-KR" altLang="en-US" sz="1100">
                <a:sym typeface="Wingdings" panose="05000000000000000000" pitchFamily="2" charset="2"/>
              </a:rPr>
              <a:t>이상</a:t>
            </a:r>
            <a:endParaRPr lang="en-US" altLang="ko-KR" sz="1100">
              <a:sym typeface="Wingdings" panose="05000000000000000000" pitchFamily="2" charset="2"/>
            </a:endParaRPr>
          </a:p>
          <a:p>
            <a:r>
              <a:rPr lang="en-US" altLang="ko-KR" sz="1100">
                <a:sym typeface="Wingdings" panose="05000000000000000000" pitchFamily="2" charset="2"/>
              </a:rPr>
              <a:t>OrderByIdAsc  Id </a:t>
            </a:r>
            <a:r>
              <a:rPr lang="ko-KR" altLang="en-US" sz="1100">
                <a:sym typeface="Wingdings" panose="05000000000000000000" pitchFamily="2" charset="2"/>
              </a:rPr>
              <a:t>기준 오름차순 정렬</a:t>
            </a:r>
            <a:endParaRPr lang="en-US" altLang="ko-KR" sz="1100">
              <a:sym typeface="Wingdings" panose="05000000000000000000" pitchFamily="2" charset="2"/>
            </a:endParaRPr>
          </a:p>
          <a:p>
            <a:endParaRPr lang="en-US" altLang="ko-KR" sz="1100">
              <a:sym typeface="Wingdings" panose="05000000000000000000" pitchFamily="2" charset="2"/>
            </a:endParaRPr>
          </a:p>
          <a:p>
            <a:r>
              <a:rPr lang="ko-KR" altLang="en-US" sz="1100">
                <a:sym typeface="Wingdings" panose="05000000000000000000" pitchFamily="2" charset="2"/>
              </a:rPr>
              <a:t>즉 정산 집행이 안된 </a:t>
            </a:r>
            <a:r>
              <a:rPr lang="en-US" altLang="ko-KR" sz="1100">
                <a:sym typeface="Wingdings" panose="05000000000000000000" pitchFamily="2" charset="2"/>
              </a:rPr>
              <a:t>List&lt;Payout&gt;</a:t>
            </a:r>
            <a:r>
              <a:rPr lang="ko-KR" altLang="en-US" sz="1100">
                <a:sym typeface="Wingdings" panose="05000000000000000000" pitchFamily="2" charset="2"/>
              </a:rPr>
              <a:t>을 찾아 순회하며</a:t>
            </a:r>
            <a:r>
              <a:rPr lang="en-US" altLang="ko-KR" sz="1100">
                <a:sym typeface="Wingdings" panose="05000000000000000000" pitchFamily="2" charset="2"/>
              </a:rPr>
              <a:t>, Payout </a:t>
            </a:r>
            <a:r>
              <a:rPr lang="ko-KR" altLang="en-US" sz="1100">
                <a:sym typeface="Wingdings" panose="05000000000000000000" pitchFamily="2" charset="2"/>
              </a:rPr>
              <a:t>내 </a:t>
            </a:r>
            <a:r>
              <a:rPr lang="en-US" altLang="ko-KR" sz="1100">
                <a:sym typeface="Wingdings" panose="05000000000000000000" pitchFamily="2" charset="2"/>
              </a:rPr>
              <a:t>completePayout </a:t>
            </a:r>
            <a:r>
              <a:rPr lang="ko-KR" altLang="en-US" sz="1100">
                <a:sym typeface="Wingdings" panose="05000000000000000000" pitchFamily="2" charset="2"/>
              </a:rPr>
              <a:t>메소드를 수행</a:t>
            </a:r>
            <a:r>
              <a:rPr lang="en-US" altLang="ko-KR" sz="1100">
                <a:sym typeface="Wingdings" panose="05000000000000000000" pitchFamily="2" charset="2"/>
              </a:rPr>
              <a:t>. payoutDate</a:t>
            </a:r>
            <a:r>
              <a:rPr lang="ko-KR" altLang="en-US" sz="1100">
                <a:sym typeface="Wingdings" panose="05000000000000000000" pitchFamily="2" charset="2"/>
              </a:rPr>
              <a:t>를 기록하고</a:t>
            </a:r>
            <a:r>
              <a:rPr lang="en-US" altLang="ko-KR" sz="1100">
                <a:sym typeface="Wingdings" panose="05000000000000000000" pitchFamily="2" charset="2"/>
              </a:rPr>
              <a:t>, </a:t>
            </a:r>
            <a:r>
              <a:rPr lang="ko-KR" altLang="en-US" sz="1100">
                <a:sym typeface="Wingdings" panose="05000000000000000000" pitchFamily="2" charset="2"/>
              </a:rPr>
              <a:t>정산 집행 이벤트를 발행한다</a:t>
            </a:r>
            <a:r>
              <a:rPr lang="en-US" altLang="ko-KR" sz="1100">
                <a:sym typeface="Wingdings" panose="05000000000000000000" pitchFamily="2" charset="2"/>
              </a:rPr>
              <a:t>.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( Cash</a:t>
            </a:r>
            <a:r>
              <a:rPr lang="ko-KR" altLang="en-US" sz="1100">
                <a:sym typeface="Wingdings" panose="05000000000000000000" pitchFamily="2" charset="2"/>
              </a:rPr>
              <a:t>모듈과 </a:t>
            </a:r>
            <a:r>
              <a:rPr lang="en-US" altLang="ko-KR" sz="1100">
                <a:sym typeface="Wingdings" panose="05000000000000000000" pitchFamily="2" charset="2"/>
              </a:rPr>
              <a:t>Payout</a:t>
            </a:r>
            <a:r>
              <a:rPr lang="ko-KR" altLang="en-US" sz="1100">
                <a:sym typeface="Wingdings" panose="05000000000000000000" pitchFamily="2" charset="2"/>
              </a:rPr>
              <a:t>모듈의 </a:t>
            </a:r>
            <a:r>
              <a:rPr lang="en-US" altLang="ko-KR" sz="1100">
                <a:sym typeface="Wingdings" panose="05000000000000000000" pitchFamily="2" charset="2"/>
              </a:rPr>
              <a:t>Listener</a:t>
            </a:r>
            <a:r>
              <a:rPr lang="ko-KR" altLang="en-US" sz="1100">
                <a:sym typeface="Wingdings" panose="05000000000000000000" pitchFamily="2" charset="2"/>
              </a:rPr>
              <a:t>에서 처리한다</a:t>
            </a:r>
            <a:r>
              <a:rPr lang="en-US" altLang="ko-KR" sz="1100">
                <a:sym typeface="Wingdings" panose="05000000000000000000" pitchFamily="2" charset="2"/>
              </a:rPr>
              <a:t>.)</a:t>
            </a:r>
          </a:p>
          <a:p>
            <a:r>
              <a:rPr lang="en-US" altLang="ko-KR" sz="1100">
                <a:sym typeface="Wingdings" panose="05000000000000000000" pitchFamily="2" charset="2"/>
              </a:rPr>
              <a:t>(※ Payout</a:t>
            </a:r>
            <a:r>
              <a:rPr lang="ko-KR" altLang="en-US" sz="1100">
                <a:sym typeface="Wingdings" panose="05000000000000000000" pitchFamily="2" charset="2"/>
              </a:rPr>
              <a:t>모듈 </a:t>
            </a:r>
            <a:r>
              <a:rPr lang="en-US" altLang="ko-KR" sz="1100">
                <a:sym typeface="Wingdings" panose="05000000000000000000" pitchFamily="2" charset="2"/>
              </a:rPr>
              <a:t>Listener</a:t>
            </a:r>
            <a:r>
              <a:rPr lang="ko-KR" altLang="en-US" sz="1100">
                <a:sym typeface="Wingdings" panose="05000000000000000000" pitchFamily="2" charset="2"/>
              </a:rPr>
              <a:t>가 왜 해당 이벤트를 받느냐</a:t>
            </a:r>
            <a:r>
              <a:rPr lang="en-US" altLang="ko-KR" sz="1100">
                <a:sym typeface="Wingdings" panose="05000000000000000000" pitchFamily="2" charset="2"/>
              </a:rPr>
              <a:t>? </a:t>
            </a:r>
            <a:r>
              <a:rPr lang="ko-KR" altLang="en-US" sz="1100">
                <a:sym typeface="Wingdings" panose="05000000000000000000" pitchFamily="2" charset="2"/>
              </a:rPr>
              <a:t>정산 처리이후 </a:t>
            </a:r>
            <a:r>
              <a:rPr lang="en-US" altLang="ko-KR" sz="1100">
                <a:sym typeface="Wingdings" panose="05000000000000000000" pitchFamily="2" charset="2"/>
              </a:rPr>
              <a:t>Payout</a:t>
            </a:r>
            <a:r>
              <a:rPr lang="ko-KR" altLang="en-US" sz="1100">
                <a:sym typeface="Wingdings" panose="05000000000000000000" pitchFamily="2" charset="2"/>
              </a:rPr>
              <a:t>을 새로 만든다</a:t>
            </a:r>
            <a:r>
              <a:rPr lang="en-US" altLang="ko-KR" sz="1100">
                <a:sym typeface="Wingdings" panose="05000000000000000000" pitchFamily="2" charset="2"/>
              </a:rPr>
              <a:t>.  PayoutMember </a:t>
            </a:r>
            <a:r>
              <a:rPr lang="ko-KR" altLang="en-US" sz="1100">
                <a:sym typeface="Wingdings" panose="05000000000000000000" pitchFamily="2" charset="2"/>
              </a:rPr>
              <a:t>생성시에 </a:t>
            </a:r>
            <a:r>
              <a:rPr lang="en-US" altLang="ko-KR" sz="1100">
                <a:sym typeface="Wingdings" panose="05000000000000000000" pitchFamily="2" charset="2"/>
              </a:rPr>
              <a:t>Default</a:t>
            </a:r>
            <a:r>
              <a:rPr lang="ko-KR" altLang="en-US" sz="1100">
                <a:sym typeface="Wingdings" panose="05000000000000000000" pitchFamily="2" charset="2"/>
              </a:rPr>
              <a:t>로 정산서 </a:t>
            </a:r>
            <a:r>
              <a:rPr lang="en-US" altLang="ko-KR" sz="1100">
                <a:sym typeface="Wingdings" panose="05000000000000000000" pitchFamily="2" charset="2"/>
              </a:rPr>
              <a:t>1</a:t>
            </a:r>
            <a:r>
              <a:rPr lang="ko-KR" altLang="en-US" sz="1100">
                <a:sym typeface="Wingdings" panose="05000000000000000000" pitchFamily="2" charset="2"/>
              </a:rPr>
              <a:t>개를 만들었음</a:t>
            </a:r>
            <a:r>
              <a:rPr lang="en-US" altLang="ko-KR" sz="1100">
                <a:sym typeface="Wingdings" panose="05000000000000000000" pitchFamily="2" charset="2"/>
              </a:rPr>
              <a:t>.)</a:t>
            </a:r>
            <a:endParaRPr lang="ko-KR" altLang="en-US" sz="110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2425E62-AE99-955D-341B-79AF4817183A}"/>
              </a:ext>
            </a:extLst>
          </p:cNvPr>
          <p:cNvGrpSpPr/>
          <p:nvPr/>
        </p:nvGrpSpPr>
        <p:grpSpPr>
          <a:xfrm>
            <a:off x="625103" y="4993777"/>
            <a:ext cx="4582164" cy="914528"/>
            <a:chOff x="625103" y="4993777"/>
            <a:chExt cx="4582164" cy="914528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B32E918-6A4B-6451-3CC3-D234340F3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103" y="4993777"/>
              <a:ext cx="4582164" cy="914528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569C8D7-534B-0B5C-D011-D4B3511CE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02213" y="4993777"/>
              <a:ext cx="1105054" cy="3429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7905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747A7-3032-98F9-8A8C-DD9E59B6C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48</a:t>
            </a:r>
            <a:r>
              <a:rPr lang="ko-KR" altLang="en-US"/>
              <a:t>강 주요 코드 사진</a:t>
            </a:r>
            <a:r>
              <a:rPr lang="en-US" altLang="ko-KR"/>
              <a:t>-2</a:t>
            </a:r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4774CBE-52E3-3EB5-79FC-E5869A147E12}"/>
              </a:ext>
            </a:extLst>
          </p:cNvPr>
          <p:cNvGrpSpPr/>
          <p:nvPr/>
        </p:nvGrpSpPr>
        <p:grpSpPr>
          <a:xfrm>
            <a:off x="323937" y="1759017"/>
            <a:ext cx="5229954" cy="1441829"/>
            <a:chOff x="323937" y="1759017"/>
            <a:chExt cx="5229954" cy="144182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1C05601-BC5A-0135-4D27-9FCD65BF4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937" y="1915530"/>
              <a:ext cx="4767828" cy="1285316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EE23BBA-D0FE-48F2-50C6-DC33BE012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2994" y="1759017"/>
              <a:ext cx="1590897" cy="266737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C37973D-71FC-E190-7253-7A1E031AB86B}"/>
              </a:ext>
            </a:extLst>
          </p:cNvPr>
          <p:cNvGrpSpPr/>
          <p:nvPr/>
        </p:nvGrpSpPr>
        <p:grpSpPr>
          <a:xfrm>
            <a:off x="323937" y="3200846"/>
            <a:ext cx="6226648" cy="3698871"/>
            <a:chOff x="323937" y="3200846"/>
            <a:chExt cx="6226648" cy="369887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D75A6B7-D73E-D022-06D0-1CDABBD05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3937" y="3200846"/>
              <a:ext cx="6226648" cy="369887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1FD01BC-C8DA-E21B-36DD-03D9FD724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69108" y="3252569"/>
              <a:ext cx="1981477" cy="209579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E9B56DB-C7A5-C27F-FD5B-18822111BBB1}"/>
              </a:ext>
            </a:extLst>
          </p:cNvPr>
          <p:cNvSpPr txBox="1"/>
          <p:nvPr/>
        </p:nvSpPr>
        <p:spPr>
          <a:xfrm>
            <a:off x="6638111" y="1891913"/>
            <a:ext cx="52746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cashEventListener</a:t>
            </a:r>
            <a:r>
              <a:rPr lang="ko-KR" altLang="en-US" sz="1200"/>
              <a:t>에서 정산 집행 이벤트를 받으면</a:t>
            </a:r>
            <a:r>
              <a:rPr lang="en-US" altLang="ko-KR" sz="1200"/>
              <a:t>,</a:t>
            </a:r>
          </a:p>
          <a:p>
            <a:r>
              <a:rPr lang="en-US" altLang="ko-KR" sz="1200"/>
              <a:t>holding </a:t>
            </a:r>
            <a:r>
              <a:rPr lang="ko-KR" altLang="en-US" sz="1200"/>
              <a:t>계정 지갑과 지급인</a:t>
            </a:r>
            <a:r>
              <a:rPr lang="en-US" altLang="ko-KR" sz="1200"/>
              <a:t>(Payee) </a:t>
            </a:r>
            <a:r>
              <a:rPr lang="ko-KR" altLang="en-US" sz="1200"/>
              <a:t>지갑을 찾아</a:t>
            </a:r>
            <a:endParaRPr lang="en-US" altLang="ko-KR" sz="1200"/>
          </a:p>
          <a:p>
            <a:r>
              <a:rPr lang="en-US" altLang="ko-KR" sz="1200"/>
              <a:t>holding </a:t>
            </a:r>
            <a:r>
              <a:rPr lang="ko-KR" altLang="en-US" sz="1200"/>
              <a:t>계정 지갑에서 대금과 수수료 차감을</a:t>
            </a:r>
            <a:endParaRPr lang="en-US" altLang="ko-KR" sz="1200"/>
          </a:p>
          <a:p>
            <a:r>
              <a:rPr lang="en-US" altLang="ko-KR" sz="1200"/>
              <a:t>Payee </a:t>
            </a:r>
            <a:r>
              <a:rPr lang="ko-KR" altLang="en-US" sz="1200"/>
              <a:t>지갑에 대금과 수수료 증가를 시켜준다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※ holding </a:t>
            </a:r>
            <a:r>
              <a:rPr lang="ko-KR" altLang="en-US" sz="1200"/>
              <a:t>계정의 지갑은 </a:t>
            </a:r>
            <a:r>
              <a:rPr lang="en-US" altLang="ko-KR" sz="1200"/>
              <a:t>completeOrderPayment </a:t>
            </a:r>
            <a:r>
              <a:rPr lang="ko-KR" altLang="en-US" sz="1200"/>
              <a:t>에서 </a:t>
            </a:r>
            <a:r>
              <a:rPr lang="en-US" altLang="ko-KR" sz="1200"/>
              <a:t>credit</a:t>
            </a:r>
            <a:r>
              <a:rPr lang="ko-KR" altLang="en-US" sz="1200"/>
              <a:t>되었고</a:t>
            </a:r>
            <a:br>
              <a:rPr lang="en-US" altLang="ko-KR" sz="1200"/>
            </a:br>
            <a:r>
              <a:rPr lang="en-US" altLang="ko-KR" sz="1200"/>
              <a:t>    buyer</a:t>
            </a:r>
            <a:r>
              <a:rPr lang="ko-KR" altLang="en-US" sz="1200"/>
              <a:t> 계정의 지갑에선 </a:t>
            </a:r>
            <a:r>
              <a:rPr lang="en-US" altLang="ko-KR" sz="1200"/>
              <a:t>debit </a:t>
            </a:r>
            <a:r>
              <a:rPr lang="ko-KR" altLang="en-US" sz="1200"/>
              <a:t>되었다</a:t>
            </a:r>
            <a:r>
              <a:rPr lang="en-US" altLang="ko-KR" sz="1200"/>
              <a:t>.</a:t>
            </a:r>
            <a:br>
              <a:rPr lang="en-US" altLang="ko-KR" sz="1200"/>
            </a:br>
            <a:endParaRPr lang="en-US" altLang="ko-KR" sz="1200"/>
          </a:p>
          <a:p>
            <a:r>
              <a:rPr lang="en-US" altLang="ko-KR" sz="1200"/>
              <a:t>※ </a:t>
            </a:r>
            <a:r>
              <a:rPr lang="ko-KR" altLang="en-US" sz="1200"/>
              <a:t>대금과 수수료 지금은 </a:t>
            </a:r>
            <a:r>
              <a:rPr lang="en-US" altLang="ko-KR" sz="1200"/>
              <a:t>holding </a:t>
            </a:r>
            <a:r>
              <a:rPr lang="ko-KR" altLang="en-US" sz="1200"/>
              <a:t>계정에서 진행됨으로</a:t>
            </a:r>
            <a:br>
              <a:rPr lang="en-US" altLang="ko-KR" sz="1200"/>
            </a:br>
            <a:r>
              <a:rPr lang="en-US" altLang="ko-KR" sz="1200"/>
              <a:t>    Holding</a:t>
            </a:r>
            <a:r>
              <a:rPr lang="ko-KR" altLang="en-US" sz="1200"/>
              <a:t>계좌에서 금액이 차감</a:t>
            </a:r>
            <a:r>
              <a:rPr lang="en-US" altLang="ko-KR" sz="1200"/>
              <a:t>(debit)</a:t>
            </a:r>
            <a:r>
              <a:rPr lang="ko-KR" altLang="en-US" sz="1200"/>
              <a:t>되며</a:t>
            </a:r>
            <a:r>
              <a:rPr lang="en-US" altLang="ko-KR" sz="1200"/>
              <a:t>, </a:t>
            </a:r>
            <a:r>
              <a:rPr lang="ko-KR" altLang="en-US" sz="1200"/>
              <a:t>차감된 금액은</a:t>
            </a:r>
            <a:br>
              <a:rPr lang="en-US" altLang="ko-KR" sz="1200"/>
            </a:br>
            <a:r>
              <a:rPr lang="en-US" altLang="ko-KR" sz="1200"/>
              <a:t>    System, Payee(saller)</a:t>
            </a:r>
            <a:r>
              <a:rPr lang="ko-KR" altLang="en-US" sz="1200"/>
              <a:t>에 각각 </a:t>
            </a:r>
            <a:r>
              <a:rPr lang="en-US" altLang="ko-KR" sz="1200"/>
              <a:t>credit</a:t>
            </a:r>
            <a:r>
              <a:rPr lang="ko-KR" altLang="en-US" sz="1200"/>
              <a:t>된다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</a:t>
            </a:r>
            <a:r>
              <a:rPr lang="ko-KR" altLang="en-US" sz="1200"/>
              <a:t> </a:t>
            </a:r>
            <a:br>
              <a:rPr lang="en-US" altLang="ko-KR" sz="1200"/>
            </a:br>
            <a:r>
              <a:rPr lang="ko-KR" altLang="en-US" sz="12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65233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A40BEB-345F-2C9C-E9C5-BC006142D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48</a:t>
            </a:r>
            <a:r>
              <a:rPr lang="ko-KR" altLang="en-US"/>
              <a:t>강 주요 코드 사진</a:t>
            </a:r>
            <a:r>
              <a:rPr lang="en-US" altLang="ko-KR"/>
              <a:t>-3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8C79A4-2117-3E90-B848-6A7F2CF3B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89" y="1893875"/>
            <a:ext cx="3038899" cy="28007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3D381D-ADB2-6CAA-9CF5-EBBC2E710A0D}"/>
              </a:ext>
            </a:extLst>
          </p:cNvPr>
          <p:cNvSpPr txBox="1"/>
          <p:nvPr/>
        </p:nvSpPr>
        <p:spPr>
          <a:xfrm>
            <a:off x="510139" y="4812632"/>
            <a:ext cx="30608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정산대상자가 </a:t>
            </a:r>
            <a:r>
              <a:rPr lang="en-US" altLang="ko-KR" sz="1200"/>
              <a:t>system</a:t>
            </a:r>
            <a:r>
              <a:rPr lang="ko-KR" altLang="en-US" sz="1200"/>
              <a:t>임을 알기위해</a:t>
            </a:r>
            <a:endParaRPr lang="en-US" altLang="ko-KR" sz="1200"/>
          </a:p>
          <a:p>
            <a:r>
              <a:rPr lang="en-US" altLang="ko-KR" sz="1200"/>
              <a:t>BaseMember</a:t>
            </a:r>
            <a:r>
              <a:rPr lang="ko-KR" altLang="en-US" sz="1200"/>
              <a:t>에 </a:t>
            </a:r>
            <a:r>
              <a:rPr lang="en-US" altLang="ko-KR" sz="1200"/>
              <a:t>system</a:t>
            </a:r>
            <a:r>
              <a:rPr lang="ko-KR" altLang="en-US" sz="1200"/>
              <a:t>계정인지 확인할 수 있는 로직을 추가하였고</a:t>
            </a:r>
            <a:r>
              <a:rPr lang="en-US" altLang="ko-KR" sz="1200"/>
              <a:t>, </a:t>
            </a:r>
            <a:r>
              <a:rPr lang="ko-KR" altLang="en-US" sz="1200"/>
              <a:t>복제 멤버들이 이를 상속받으면서 </a:t>
            </a:r>
            <a:br>
              <a:rPr lang="en-US" altLang="ko-KR" sz="1200"/>
            </a:br>
            <a:r>
              <a:rPr lang="en-US" altLang="ko-KR" sz="1200"/>
              <a:t>isSystem() </a:t>
            </a:r>
            <a:r>
              <a:rPr lang="ko-KR" altLang="en-US" sz="1200"/>
              <a:t>메소드를 사용할수 있게 된다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9C7E37E-7F72-78F6-0A31-3E6072D38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160" y="1893875"/>
            <a:ext cx="3704174" cy="49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270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FBA015-C31B-5492-6F40-E19344EFA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49</a:t>
            </a:r>
            <a:r>
              <a:rPr lang="ko-KR" altLang="en-US" sz="3600"/>
              <a:t>강 </a:t>
            </a:r>
            <a:r>
              <a:rPr lang="en-US" altLang="ko-KR" sz="3600"/>
              <a:t>47</a:t>
            </a:r>
            <a:r>
              <a:rPr lang="ko-KR" altLang="en-US" sz="3600"/>
              <a:t>강 처럼 </a:t>
            </a:r>
            <a:r>
              <a:rPr lang="en-US" altLang="ko-KR" sz="3600"/>
              <a:t>Payout </a:t>
            </a:r>
            <a:r>
              <a:rPr lang="ko-KR" altLang="en-US" sz="3600"/>
              <a:t>집행 로직을 </a:t>
            </a:r>
            <a:r>
              <a:rPr lang="en-US" altLang="ko-KR" sz="3600"/>
              <a:t>Batch</a:t>
            </a:r>
            <a:r>
              <a:rPr lang="ko-KR" altLang="en-US" sz="3600"/>
              <a:t>로 묶기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BA3FFD-5995-78C2-D6CE-863BDBC52F36}"/>
              </a:ext>
            </a:extLst>
          </p:cNvPr>
          <p:cNvSpPr txBox="1"/>
          <p:nvPr/>
        </p:nvSpPr>
        <p:spPr>
          <a:xfrm>
            <a:off x="1097280" y="2326391"/>
            <a:ext cx="6097604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/>
              <a:t>※ </a:t>
            </a:r>
            <a:r>
              <a:rPr lang="ko-KR" altLang="en-US" sz="2000" b="1"/>
              <a:t>수정 파일</a:t>
            </a:r>
            <a:endParaRPr lang="en-US" altLang="ko-KR" sz="1800"/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PayoutCollectPayoutItemsMoreUseCase</a:t>
            </a:r>
          </a:p>
          <a:p>
            <a:pPr marL="628650" lvl="1" indent="-171450">
              <a:buFontTx/>
              <a:buChar char="-"/>
            </a:pPr>
            <a:r>
              <a:rPr lang="en-US" altLang="ko-KR" sz="1100"/>
              <a:t>private Optional&lt;Payout&gt; findActiveByPayee(PayoutMember payee)</a:t>
            </a:r>
          </a:p>
          <a:p>
            <a:pPr marL="628650" lvl="1" indent="-171450">
              <a:buFontTx/>
              <a:buChar char="-"/>
            </a:pPr>
            <a:endParaRPr lang="en-US" altLang="ko-KR" sz="1100">
              <a:ea typeface="+mj-ea"/>
            </a:endParaRP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PayoutCollectItemsBatchJobConfig </a:t>
            </a:r>
            <a:r>
              <a:rPr lang="en-US" altLang="ko-KR" sz="1100">
                <a:ea typeface="+mj-ea"/>
                <a:sym typeface="Wingdings" panose="05000000000000000000" pitchFamily="2" charset="2"/>
              </a:rPr>
              <a:t> </a:t>
            </a:r>
            <a:r>
              <a:rPr lang="en-US" altLang="ko-KR" sz="1100">
                <a:ea typeface="+mj-ea"/>
              </a:rPr>
              <a:t>PayoutCollectItemsAndCompletePayoutsBatchJobConfig</a:t>
            </a:r>
          </a:p>
          <a:p>
            <a:pPr marL="171450" indent="-171450">
              <a:buFontTx/>
              <a:buChar char="-"/>
            </a:pPr>
            <a:r>
              <a:rPr lang="en-US" altLang="ko-KR" sz="1100">
                <a:ea typeface="+mj-ea"/>
              </a:rPr>
              <a:t>PayoutDataInit</a:t>
            </a:r>
          </a:p>
          <a:p>
            <a:pPr marL="171450" indent="-171450">
              <a:buFontTx/>
              <a:buChar char="-"/>
            </a:pPr>
            <a:endParaRPr lang="en-US" altLang="ko-KR" sz="1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C6C679-9643-E2C4-A137-D873420475C3}"/>
              </a:ext>
            </a:extLst>
          </p:cNvPr>
          <p:cNvSpPr txBox="1"/>
          <p:nvPr/>
        </p:nvSpPr>
        <p:spPr>
          <a:xfrm>
            <a:off x="1194318" y="1810139"/>
            <a:ext cx="99613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 </a:t>
            </a:r>
            <a:r>
              <a:rPr lang="en-US" altLang="ko-KR" sz="1200"/>
              <a:t>: </a:t>
            </a:r>
            <a:r>
              <a:rPr lang="ko-KR" altLang="en-US" sz="1200"/>
              <a:t>정산서 정산 로직을 만들었으니</a:t>
            </a:r>
            <a:r>
              <a:rPr lang="en-US" altLang="ko-KR" sz="1200"/>
              <a:t>, </a:t>
            </a:r>
            <a:r>
              <a:rPr lang="ko-KR" altLang="en-US" sz="1200"/>
              <a:t>정산을 배치로 처리하도록 구성한다</a:t>
            </a:r>
            <a:r>
              <a:rPr lang="en-US" altLang="ko-KR" sz="1200"/>
              <a:t>.</a:t>
            </a:r>
            <a:r>
              <a:rPr lang="ko-KR" altLang="en-US" sz="1200"/>
              <a:t> </a:t>
            </a:r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1669989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EC49-7669-B252-3F9E-FA86C8FD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49</a:t>
            </a:r>
            <a:r>
              <a:rPr lang="ko-KR" altLang="en-US"/>
              <a:t>강 주요 코드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358F06B-56FA-87DB-D437-478D56AA8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1" y="1896731"/>
            <a:ext cx="5030804" cy="30360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68437A-9B3C-D8F3-578C-948F8E55BDAD}"/>
              </a:ext>
            </a:extLst>
          </p:cNvPr>
          <p:cNvSpPr txBox="1"/>
          <p:nvPr/>
        </p:nvSpPr>
        <p:spPr>
          <a:xfrm>
            <a:off x="6189045" y="1896731"/>
            <a:ext cx="57366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1.PayItem </a:t>
            </a:r>
            <a:r>
              <a:rPr lang="ko-KR" altLang="en-US" sz="1400"/>
              <a:t>모으기 부터 </a:t>
            </a:r>
            <a:r>
              <a:rPr lang="en-US" altLang="ko-KR" sz="1400"/>
              <a:t>Payout </a:t>
            </a:r>
            <a:r>
              <a:rPr lang="ko-KR" altLang="en-US" sz="1400"/>
              <a:t>집행까지 진행함으로 클래스와 메소드 명 변경</a:t>
            </a:r>
            <a:endParaRPr lang="en-US" altLang="ko-KR" sz="1400"/>
          </a:p>
          <a:p>
            <a:r>
              <a:rPr lang="en-US" altLang="ko-KR" sz="1400"/>
              <a:t>2. PayoutItem </a:t>
            </a:r>
            <a:r>
              <a:rPr lang="ko-KR" altLang="en-US" sz="1400"/>
              <a:t>모으기 이후 진행되는 </a:t>
            </a:r>
            <a:r>
              <a:rPr lang="en-US" altLang="ko-KR" sz="1400"/>
              <a:t>batch</a:t>
            </a:r>
            <a:r>
              <a:rPr lang="ko-KR" altLang="en-US" sz="1400"/>
              <a:t>를 등록 </a:t>
            </a:r>
            <a:r>
              <a:rPr lang="en-US" altLang="ko-KR" sz="1400">
                <a:sym typeface="Wingdings" panose="05000000000000000000" pitchFamily="2" charset="2"/>
              </a:rPr>
              <a:t>{.next() </a:t>
            </a:r>
            <a:r>
              <a:rPr lang="ko-KR" altLang="en-US" sz="1400">
                <a:sym typeface="Wingdings" panose="05000000000000000000" pitchFamily="2" charset="2"/>
              </a:rPr>
              <a:t>메소드</a:t>
            </a:r>
            <a:r>
              <a:rPr lang="en-US" altLang="ko-KR" sz="1400">
                <a:sym typeface="Wingdings" panose="05000000000000000000" pitchFamily="2" charset="2"/>
              </a:rPr>
              <a:t>}</a:t>
            </a:r>
          </a:p>
          <a:p>
            <a:r>
              <a:rPr lang="en-US" altLang="ko-KR" sz="1400">
                <a:sym typeface="Wingdings" panose="05000000000000000000" pitchFamily="2" charset="2"/>
              </a:rPr>
              <a:t>3. </a:t>
            </a:r>
            <a:r>
              <a:rPr lang="ko-KR" altLang="en-US" sz="1400">
                <a:sym typeface="Wingdings" panose="05000000000000000000" pitchFamily="2" charset="2"/>
              </a:rPr>
              <a:t>정산 집행에 관한 로직을 </a:t>
            </a:r>
            <a:r>
              <a:rPr lang="en-US" altLang="ko-KR" sz="1400">
                <a:sym typeface="Wingdings" panose="05000000000000000000" pitchFamily="2" charset="2"/>
              </a:rPr>
              <a:t>@Bean</a:t>
            </a:r>
            <a:r>
              <a:rPr lang="ko-KR" altLang="en-US" sz="1400">
                <a:sym typeface="Wingdings" panose="05000000000000000000" pitchFamily="2" charset="2"/>
              </a:rPr>
              <a:t>으로 추가 </a:t>
            </a:r>
            <a:br>
              <a:rPr lang="en-US" altLang="ko-KR" sz="1400">
                <a:sym typeface="Wingdings" panose="05000000000000000000" pitchFamily="2" charset="2"/>
              </a:rPr>
            </a:br>
            <a:r>
              <a:rPr lang="en-US" altLang="ko-KR" sz="1400">
                <a:sym typeface="Wingdings" panose="05000000000000000000" pitchFamily="2" charset="2"/>
              </a:rPr>
              <a:t>    PayoutItem </a:t>
            </a:r>
            <a:r>
              <a:rPr lang="ko-KR" altLang="en-US" sz="1400">
                <a:sym typeface="Wingdings" panose="05000000000000000000" pitchFamily="2" charset="2"/>
              </a:rPr>
              <a:t>모으기와 동일한 구조로 작성됨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  <a:endParaRPr lang="en-US" altLang="ko-KR" sz="1400"/>
          </a:p>
          <a:p>
            <a:endParaRPr lang="ko-KR" altLang="en-US" sz="14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C6CABA-36D5-BF5D-54F2-FF2D42C64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966" y="4431865"/>
            <a:ext cx="6409735" cy="2287204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769232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C9BF68-D08F-60FD-1A47-513C565F0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/>
              <a:t>50</a:t>
            </a:r>
            <a:r>
              <a:rPr lang="ko-KR" altLang="en-US" sz="2800"/>
              <a:t>강 배치를 특정일 특정시간에 동작하도록 스케줄러 등록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1931234-2CE5-5C5D-5B8D-62968A05B6AD}"/>
              </a:ext>
            </a:extLst>
          </p:cNvPr>
          <p:cNvGrpSpPr/>
          <p:nvPr/>
        </p:nvGrpSpPr>
        <p:grpSpPr>
          <a:xfrm>
            <a:off x="248967" y="1897862"/>
            <a:ext cx="6825601" cy="1374727"/>
            <a:chOff x="874610" y="2494628"/>
            <a:chExt cx="8402223" cy="171473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AB98CE6-A6D2-51AE-0A8E-72927F6ED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4610" y="2494628"/>
              <a:ext cx="8402223" cy="1714739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EE10663-D89F-1A86-F698-E1D0F0178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03654" y="2515563"/>
              <a:ext cx="1905266" cy="35247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931EC48-D9CC-848C-D684-63FD05914D8E}"/>
              </a:ext>
            </a:extLst>
          </p:cNvPr>
          <p:cNvSpPr txBox="1"/>
          <p:nvPr/>
        </p:nvSpPr>
        <p:spPr>
          <a:xfrm>
            <a:off x="248967" y="3325412"/>
            <a:ext cx="4312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실행 파일에 </a:t>
            </a:r>
            <a:r>
              <a:rPr lang="en-US" altLang="ko-KR" sz="1400"/>
              <a:t>@EnableScheduling </a:t>
            </a:r>
            <a:r>
              <a:rPr lang="ko-KR" altLang="en-US" sz="1400"/>
              <a:t>추가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EA32F87-C07D-2F71-EDEA-41B91D7B81F0}"/>
              </a:ext>
            </a:extLst>
          </p:cNvPr>
          <p:cNvGrpSpPr/>
          <p:nvPr/>
        </p:nvGrpSpPr>
        <p:grpSpPr>
          <a:xfrm>
            <a:off x="163840" y="3727776"/>
            <a:ext cx="6910728" cy="2998209"/>
            <a:chOff x="163840" y="3727776"/>
            <a:chExt cx="6910728" cy="2998209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47CA42D-1F83-CD70-84F3-E237850C6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3840" y="3727776"/>
              <a:ext cx="4234905" cy="2998209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4BC93B2-5E58-5E05-8160-E0A26F407906}"/>
                </a:ext>
              </a:extLst>
            </p:cNvPr>
            <p:cNvSpPr/>
            <p:nvPr/>
          </p:nvSpPr>
          <p:spPr>
            <a:xfrm>
              <a:off x="3465095" y="3727776"/>
              <a:ext cx="3609473" cy="99822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>
                  <a:solidFill>
                    <a:schemeClr val="tx1"/>
                  </a:solidFill>
                </a:rPr>
                <a:t>PayoutDataInit</a:t>
              </a:r>
              <a:r>
                <a:rPr lang="ko-KR" altLang="en-US" sz="1100">
                  <a:solidFill>
                    <a:schemeClr val="tx1"/>
                  </a:solidFill>
                </a:rPr>
                <a:t> 에서 </a:t>
              </a:r>
              <a:r>
                <a:rPr lang="en-US" altLang="ko-KR" sz="1100">
                  <a:solidFill>
                    <a:schemeClr val="tx1"/>
                  </a:solidFill>
                </a:rPr>
                <a:t>jobParameters</a:t>
              </a:r>
              <a:r>
                <a:rPr lang="ko-KR" altLang="en-US" sz="1100">
                  <a:solidFill>
                    <a:schemeClr val="tx1"/>
                  </a:solidFill>
                </a:rPr>
                <a:t>를 셋팅하고 </a:t>
              </a:r>
              <a:br>
                <a:rPr lang="en-US" altLang="ko-KR" sz="1100">
                  <a:solidFill>
                    <a:schemeClr val="tx1"/>
                  </a:solidFill>
                </a:rPr>
              </a:br>
              <a:r>
                <a:rPr lang="en-US" altLang="ko-KR" sz="1100">
                  <a:solidFill>
                    <a:schemeClr val="tx1"/>
                  </a:solidFill>
                </a:rPr>
                <a:t>JobExecution</a:t>
              </a:r>
              <a:r>
                <a:rPr lang="ko-KR" altLang="en-US" sz="1100">
                  <a:solidFill>
                    <a:schemeClr val="tx1"/>
                  </a:solidFill>
                </a:rPr>
                <a:t>을 </a:t>
              </a:r>
              <a:r>
                <a:rPr lang="en-US" altLang="ko-KR" sz="1100">
                  <a:solidFill>
                    <a:schemeClr val="tx1"/>
                  </a:solidFill>
                </a:rPr>
                <a:t>start</a:t>
              </a:r>
              <a:r>
                <a:rPr lang="ko-KR" altLang="en-US" sz="1100">
                  <a:solidFill>
                    <a:schemeClr val="tx1"/>
                  </a:solidFill>
                </a:rPr>
                <a:t>로 실행시켰다</a:t>
              </a:r>
              <a:r>
                <a:rPr lang="en-US" altLang="ko-KR" sz="1100">
                  <a:solidFill>
                    <a:schemeClr val="tx1"/>
                  </a:solidFill>
                </a:rPr>
                <a:t>. </a:t>
              </a:r>
              <a:br>
                <a:rPr lang="en-US" altLang="ko-KR" sz="1100">
                  <a:solidFill>
                    <a:schemeClr val="tx1"/>
                  </a:solidFill>
                </a:rPr>
              </a:br>
              <a:r>
                <a:rPr lang="en-US" altLang="ko-KR" sz="1100">
                  <a:solidFill>
                    <a:schemeClr val="tx1"/>
                  </a:solidFill>
                </a:rPr>
                <a:t>Scheduler </a:t>
              </a:r>
              <a:r>
                <a:rPr lang="ko-KR" altLang="en-US" sz="1100">
                  <a:solidFill>
                    <a:schemeClr val="tx1"/>
                  </a:solidFill>
                </a:rPr>
                <a:t>내용도 동일하게 가져가면 된다</a:t>
              </a:r>
              <a:r>
                <a:rPr lang="en-US" altLang="ko-KR" sz="1100">
                  <a:solidFill>
                    <a:schemeClr val="tx1"/>
                  </a:solidFill>
                </a:rPr>
                <a:t>.</a:t>
              </a:r>
              <a:endParaRPr lang="ko-KR" altLang="en-US" sz="1100">
                <a:solidFill>
                  <a:schemeClr val="tx1"/>
                </a:solidFill>
              </a:endParaRPr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9FA9718B-062A-D171-D155-0A10138AE0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2374" y="3040229"/>
            <a:ext cx="5243914" cy="3817771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5B0C5B-CF59-01E0-D6C9-55F4AB2399EB}"/>
              </a:ext>
            </a:extLst>
          </p:cNvPr>
          <p:cNvSpPr/>
          <p:nvPr/>
        </p:nvSpPr>
        <p:spPr>
          <a:xfrm>
            <a:off x="8582527" y="2580360"/>
            <a:ext cx="3609473" cy="9982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스케줄을 돌리고 싶은 시간 대를 지정하여 메소드 정의</a:t>
            </a:r>
          </a:p>
        </p:txBody>
      </p:sp>
    </p:spTree>
    <p:extLst>
      <p:ext uri="{BB962C8B-B14F-4D97-AF65-F5344CB8AC3E}">
        <p14:creationId xmlns:p14="http://schemas.microsoft.com/office/powerpoint/2010/main" val="25007515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8F739-A19D-D47F-1BC6-C087EBC36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/>
              <a:t>50</a:t>
            </a:r>
            <a:r>
              <a:rPr lang="ko-KR" altLang="en-US" sz="2800"/>
              <a:t>강 배치를 특정일 특정시간에 동작하도록 스케줄러 등록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D9020B-A5E2-2DAB-6625-A4E053BE1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228" y="1917988"/>
            <a:ext cx="7832393" cy="24068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E05653-B120-44E7-78FC-9AF92A64370A}"/>
              </a:ext>
            </a:extLst>
          </p:cNvPr>
          <p:cNvSpPr txBox="1"/>
          <p:nvPr/>
        </p:nvSpPr>
        <p:spPr>
          <a:xfrm>
            <a:off x="1164657" y="4398745"/>
            <a:ext cx="8431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jobParameters</a:t>
            </a:r>
            <a:r>
              <a:rPr lang="ko-KR" altLang="en-US" sz="1200"/>
              <a:t>를 설정하고 정의한 </a:t>
            </a:r>
            <a:r>
              <a:rPr lang="en-US" altLang="ko-KR" sz="1200"/>
              <a:t>Job </a:t>
            </a:r>
            <a:r>
              <a:rPr lang="ko-KR" altLang="en-US" sz="1200"/>
              <a:t>메소드를 </a:t>
            </a:r>
            <a:r>
              <a:rPr lang="en-US" altLang="ko-KR" sz="1200"/>
              <a:t>start </a:t>
            </a:r>
            <a:r>
              <a:rPr lang="ko-KR" altLang="en-US" sz="1200"/>
              <a:t>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738645107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630</TotalTime>
  <Words>2254</Words>
  <Application>Microsoft Office PowerPoint</Application>
  <PresentationFormat>와이드스크린</PresentationFormat>
  <Paragraphs>279</Paragraphs>
  <Slides>28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4" baseType="lpstr">
      <vt:lpstr>맑은 고딕</vt:lpstr>
      <vt:lpstr>Calibri</vt:lpstr>
      <vt:lpstr>Calibri Light</vt:lpstr>
      <vt:lpstr>Consolas</vt:lpstr>
      <vt:lpstr>Wingdings</vt:lpstr>
      <vt:lpstr>추억</vt:lpstr>
      <vt:lpstr>K-Trainning 3부 분석</vt:lpstr>
      <vt:lpstr>정산, 스프링 배치 연동, 스프링 스케줄러 연동, 41강 ~ 50강</vt:lpstr>
      <vt:lpstr>41강 PayoutMember 생성 후 PayoutMemberCreatedEvent 발생 주문 결제 완료 후 MarketOrderPaymentCompletedEvent 발생</vt:lpstr>
      <vt:lpstr>41강 주요 코드</vt:lpstr>
      <vt:lpstr>42강 : PayoutMemberCreatedEvent 이벤트 수신 후 Payout 생성</vt:lpstr>
      <vt:lpstr>42강 주요 코드 사진 -1</vt:lpstr>
      <vt:lpstr>42강 주요 코드 사진 -2</vt:lpstr>
      <vt:lpstr>43강 MarketOrderPaymentCompletedEvent 이벤트 수신 후  주문 품목 (OrderItem) 불러오기</vt:lpstr>
      <vt:lpstr>43강 주요코드 사진</vt:lpstr>
      <vt:lpstr>44강 OrderItemDto로 부터 PayoutCandidateItem 생성</vt:lpstr>
      <vt:lpstr>44강 주요 코드 사진-1</vt:lpstr>
      <vt:lpstr>44강 주요 코드 사진-2</vt:lpstr>
      <vt:lpstr>45강 PayoutCandidateItem 을 모으기</vt:lpstr>
      <vt:lpstr>45강 주요코드 사진-1</vt:lpstr>
      <vt:lpstr>45강 주요코드 사진-2</vt:lpstr>
      <vt:lpstr>46강 SpringBatch를 사용하기 위한 설정</vt:lpstr>
      <vt:lpstr>46강 SpringBatch 주요코드</vt:lpstr>
      <vt:lpstr>47강 배치 잡을 통해 정산아이템 모으기</vt:lpstr>
      <vt:lpstr> 47강 주요 코드 사진-1</vt:lpstr>
      <vt:lpstr> 47강 주요 코드 사진-2</vt:lpstr>
      <vt:lpstr>48강 PayoutItem이 쌓인 Payout 집행하기</vt:lpstr>
      <vt:lpstr>48강 주요 코드 사진</vt:lpstr>
      <vt:lpstr>48강 주요 코드 사진-2</vt:lpstr>
      <vt:lpstr>48강 주요 코드 사진-3</vt:lpstr>
      <vt:lpstr>49강 47강 처럼 Payout 집행 로직을 Batch로 묶기</vt:lpstr>
      <vt:lpstr>49강 주요 코드</vt:lpstr>
      <vt:lpstr>50강 배치를 특정일 특정시간에 동작하도록 스케줄러 등록</vt:lpstr>
      <vt:lpstr>50강 배치를 특정일 특정시간에 동작하도록 스케줄러 등록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100</cp:revision>
  <dcterms:created xsi:type="dcterms:W3CDTF">2026-09-26T11:28:19Z</dcterms:created>
  <dcterms:modified xsi:type="dcterms:W3CDTF">2026-09-27T05:20:16Z</dcterms:modified>
</cp:coreProperties>
</file>